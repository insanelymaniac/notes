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900" r:id="rId1"/>
  </p:sldMasterIdLst>
  <p:notesMasterIdLst>
    <p:notesMasterId r:id="rId15"/>
  </p:notesMasterIdLst>
  <p:handoutMasterIdLst>
    <p:handoutMasterId r:id="rId16"/>
  </p:handoutMasterIdLst>
  <p:sldIdLst>
    <p:sldId id="448" r:id="rId2"/>
    <p:sldId id="460" r:id="rId3"/>
    <p:sldId id="476" r:id="rId4"/>
    <p:sldId id="473" r:id="rId5"/>
    <p:sldId id="466" r:id="rId6"/>
    <p:sldId id="475" r:id="rId7"/>
    <p:sldId id="467" r:id="rId8"/>
    <p:sldId id="474" r:id="rId9"/>
    <p:sldId id="469" r:id="rId10"/>
    <p:sldId id="470" r:id="rId11"/>
    <p:sldId id="471" r:id="rId12"/>
    <p:sldId id="477" r:id="rId13"/>
    <p:sldId id="4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61" userDrawn="1">
          <p15:clr>
            <a:srgbClr val="A4A3A4"/>
          </p15:clr>
        </p15:guide>
        <p15:guide id="2" pos="744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aranjit Kaur" initials="CK" lastIdx="1" clrIdx="0">
    <p:extLst>
      <p:ext uri="{19B8F6BF-5375-455C-9EA6-DF929625EA0E}">
        <p15:presenceInfo xmlns:p15="http://schemas.microsoft.com/office/powerpoint/2012/main" userId="S-1-5-21-790525478-436374069-1343024091-5550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DAE"/>
    <a:srgbClr val="D2D2D2"/>
    <a:srgbClr val="5A5A5A"/>
    <a:srgbClr val="969696"/>
    <a:srgbClr val="006CAB"/>
    <a:srgbClr val="E6E6E6"/>
    <a:srgbClr val="C800D9"/>
    <a:srgbClr val="CD48D9"/>
    <a:srgbClr val="00AC3E"/>
    <a:srgbClr val="F163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38" autoAdjust="0"/>
    <p:restoredTop sz="95962"/>
  </p:normalViewPr>
  <p:slideViewPr>
    <p:cSldViewPr snapToGrid="0" snapToObjects="1" showGuides="1">
      <p:cViewPr>
        <p:scale>
          <a:sx n="66" d="100"/>
          <a:sy n="66" d="100"/>
        </p:scale>
        <p:origin x="144" y="1200"/>
      </p:cViewPr>
      <p:guideLst>
        <p:guide orient="horz" pos="3861"/>
        <p:guide pos="7446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68" d="100"/>
          <a:sy n="68" d="100"/>
        </p:scale>
        <p:origin x="2246" y="4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9DACBD-CDD8-4565-B9F3-1C3CBF9F63D7}" type="datetimeFigureOut">
              <a:rPr lang="en-AU" smtClean="0"/>
              <a:t>22/9/2026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2ECBC-BEF5-4DD8-8CB9-946FE619C7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57651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11CB84-D0B3-C44D-BDDA-E6DD29AD441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7E0804-BAAB-D942-A332-52AA6138B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89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7E0804-BAAB-D942-A332-52AA6138B38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047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E0804-BAAB-D942-A332-52AA6138B38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56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jp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imag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79112" y="2765699"/>
            <a:ext cx="6012163" cy="67812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SUB HEADLINE / PRESENTER (28PT ARIAL NARROW, UPPER CASE)</a:t>
            </a:r>
            <a:endParaRPr lang="en-US" dirty="0"/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370485" y="4463086"/>
            <a:ext cx="5649316" cy="409725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DATE (20PT ARIAL NARROW, UPPER CASE)</a:t>
            </a:r>
            <a:br>
              <a:rPr lang="en-AU" dirty="0"/>
            </a:br>
            <a:endParaRPr lang="en-US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378808" y="1959605"/>
            <a:ext cx="6012467" cy="1180231"/>
          </a:xfrm>
          <a:prstGeom prst="rect">
            <a:avLst/>
          </a:prstGeom>
        </p:spPr>
        <p:txBody>
          <a:bodyPr/>
          <a:lstStyle>
            <a:lvl1pPr>
              <a:defRPr sz="4500" b="1" baseline="0">
                <a:solidFill>
                  <a:srgbClr val="006CAB"/>
                </a:solidFill>
              </a:defRPr>
            </a:lvl1pPr>
          </a:lstStyle>
          <a:p>
            <a:pPr lvl="0"/>
            <a:r>
              <a:rPr lang="en-US" dirty="0"/>
              <a:t>TITLE (UPPER CASE)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370183" y="4872811"/>
            <a:ext cx="5649617" cy="409725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LOCATION/ EXTRA LINE (20PT ARIAL NARROW, UPPER CASE)</a:t>
            </a:r>
            <a:br>
              <a:rPr lang="en-AU" dirty="0"/>
            </a:b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668" y="440724"/>
            <a:ext cx="2270107" cy="660521"/>
          </a:xfrm>
          <a:prstGeom prst="rect">
            <a:avLst/>
          </a:prstGeom>
        </p:spPr>
      </p:pic>
      <p:pic>
        <p:nvPicPr>
          <p:cNvPr id="11" name="Picture 10" descr="PPT templates-1-standard-FINAL.jp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55" r="3241"/>
          <a:stretch/>
        </p:blipFill>
        <p:spPr>
          <a:xfrm>
            <a:off x="8542871" y="0"/>
            <a:ext cx="30818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124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imag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79112" y="2765699"/>
            <a:ext cx="6012163" cy="67812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SUB HEADLINE / PRESENTER (28PT ARIAL NARROW, UPPER CASE)</a:t>
            </a:r>
            <a:endParaRPr lang="en-US" dirty="0"/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370485" y="4463086"/>
            <a:ext cx="5649316" cy="409725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DATE (20PT ARIAL NARROW, UPPER CASE)</a:t>
            </a:r>
            <a:br>
              <a:rPr lang="en-AU" dirty="0"/>
            </a:br>
            <a:endParaRPr lang="en-US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378808" y="1959605"/>
            <a:ext cx="6012467" cy="1180231"/>
          </a:xfrm>
          <a:prstGeom prst="rect">
            <a:avLst/>
          </a:prstGeom>
        </p:spPr>
        <p:txBody>
          <a:bodyPr/>
          <a:lstStyle>
            <a:lvl1pPr>
              <a:defRPr sz="4500" b="1" baseline="0">
                <a:solidFill>
                  <a:srgbClr val="006CAB"/>
                </a:solidFill>
              </a:defRPr>
            </a:lvl1pPr>
          </a:lstStyle>
          <a:p>
            <a:pPr lvl="0"/>
            <a:r>
              <a:rPr lang="en-US" dirty="0"/>
              <a:t>TITLE (UPPER CASE)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370183" y="4872811"/>
            <a:ext cx="5649617" cy="409725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LOCATION/ EXTRA LINE (20PT ARIAL NARROW, UPPER CASE)</a:t>
            </a:r>
            <a:br>
              <a:rPr lang="en-AU" dirty="0"/>
            </a:b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668" y="440724"/>
            <a:ext cx="2270107" cy="66052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120" b="6369"/>
          <a:stretch/>
        </p:blipFill>
        <p:spPr>
          <a:xfrm>
            <a:off x="8610064" y="0"/>
            <a:ext cx="3014138" cy="686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257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image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79112" y="2765699"/>
            <a:ext cx="6012163" cy="67812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SUB HEADLINE / PRESENTER (28PT ARIAL NARROW, UPPER CASE)</a:t>
            </a:r>
            <a:endParaRPr lang="en-US" dirty="0"/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370485" y="4463086"/>
            <a:ext cx="5649316" cy="409725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DATE (20PT ARIAL NARROW, UPPER CASE)</a:t>
            </a:r>
            <a:br>
              <a:rPr lang="en-AU" dirty="0"/>
            </a:br>
            <a:endParaRPr lang="en-US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378808" y="1959605"/>
            <a:ext cx="6012467" cy="1180231"/>
          </a:xfrm>
          <a:prstGeom prst="rect">
            <a:avLst/>
          </a:prstGeom>
        </p:spPr>
        <p:txBody>
          <a:bodyPr/>
          <a:lstStyle>
            <a:lvl1pPr>
              <a:defRPr sz="4500" b="1" baseline="0">
                <a:solidFill>
                  <a:srgbClr val="006CAB"/>
                </a:solidFill>
              </a:defRPr>
            </a:lvl1pPr>
          </a:lstStyle>
          <a:p>
            <a:pPr lvl="0"/>
            <a:r>
              <a:rPr lang="en-US" dirty="0"/>
              <a:t>TITLE (UPPER CASE)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370183" y="4872811"/>
            <a:ext cx="5649617" cy="409725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LOCATION/ EXTRA LINE (20PT ARIAL NARROW, UPPER CASE)</a:t>
            </a:r>
            <a:br>
              <a:rPr lang="en-AU" dirty="0"/>
            </a:b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668" y="440724"/>
            <a:ext cx="2270107" cy="66052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112" b="6466"/>
          <a:stretch/>
        </p:blipFill>
        <p:spPr>
          <a:xfrm>
            <a:off x="8618530" y="0"/>
            <a:ext cx="30141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578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image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79112" y="2765699"/>
            <a:ext cx="6012163" cy="67812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SUB HEADLINE / PRESENTER (28PT ARIAL NARROW, UPPER CASE)</a:t>
            </a:r>
            <a:endParaRPr lang="en-US" dirty="0"/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370485" y="4463086"/>
            <a:ext cx="5649316" cy="409725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DATE (20PT ARIAL NARROW, UPPER CASE)</a:t>
            </a:r>
            <a:br>
              <a:rPr lang="en-AU" dirty="0"/>
            </a:br>
            <a:endParaRPr lang="en-US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378808" y="1959605"/>
            <a:ext cx="6012467" cy="1180231"/>
          </a:xfrm>
          <a:prstGeom prst="rect">
            <a:avLst/>
          </a:prstGeom>
        </p:spPr>
        <p:txBody>
          <a:bodyPr/>
          <a:lstStyle>
            <a:lvl1pPr>
              <a:defRPr sz="4500" b="1" baseline="0">
                <a:solidFill>
                  <a:srgbClr val="006CAB"/>
                </a:solidFill>
              </a:defRPr>
            </a:lvl1pPr>
          </a:lstStyle>
          <a:p>
            <a:pPr lvl="0"/>
            <a:r>
              <a:rPr lang="en-US" dirty="0"/>
              <a:t>TITLE (UPPER CASE)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370183" y="4872811"/>
            <a:ext cx="5649617" cy="409725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LOCATION/ EXTRA LINE (20PT ARIAL NARROW, UPPER CASE)</a:t>
            </a:r>
            <a:br>
              <a:rPr lang="en-AU" dirty="0"/>
            </a:b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668" y="440724"/>
            <a:ext cx="2270107" cy="660521"/>
          </a:xfrm>
          <a:prstGeom prst="rect">
            <a:avLst/>
          </a:prstGeom>
        </p:spPr>
      </p:pic>
      <p:sp>
        <p:nvSpPr>
          <p:cNvPr id="9" name="Freeform 8"/>
          <p:cNvSpPr/>
          <p:nvPr userDrawn="1"/>
        </p:nvSpPr>
        <p:spPr>
          <a:xfrm>
            <a:off x="8652398" y="2502"/>
            <a:ext cx="2926807" cy="6882646"/>
          </a:xfrm>
          <a:custGeom>
            <a:avLst/>
            <a:gdLst>
              <a:gd name="connsiteX0" fmla="*/ 0 w 2971800"/>
              <a:gd name="connsiteY0" fmla="*/ 6531 h 6982097"/>
              <a:gd name="connsiteX1" fmla="*/ 0 w 2971800"/>
              <a:gd name="connsiteY1" fmla="*/ 6982097 h 6982097"/>
              <a:gd name="connsiteX2" fmla="*/ 796834 w 2971800"/>
              <a:gd name="connsiteY2" fmla="*/ 6982097 h 6982097"/>
              <a:gd name="connsiteX3" fmla="*/ 796834 w 2971800"/>
              <a:gd name="connsiteY3" fmla="*/ 3997234 h 6982097"/>
              <a:gd name="connsiteX4" fmla="*/ 1051560 w 2971800"/>
              <a:gd name="connsiteY4" fmla="*/ 6969034 h 6982097"/>
              <a:gd name="connsiteX5" fmla="*/ 1939834 w 2971800"/>
              <a:gd name="connsiteY5" fmla="*/ 6969034 h 6982097"/>
              <a:gd name="connsiteX6" fmla="*/ 2168434 w 2971800"/>
              <a:gd name="connsiteY6" fmla="*/ 4023360 h 6982097"/>
              <a:gd name="connsiteX7" fmla="*/ 2168434 w 2971800"/>
              <a:gd name="connsiteY7" fmla="*/ 6949440 h 6982097"/>
              <a:gd name="connsiteX8" fmla="*/ 2971800 w 2971800"/>
              <a:gd name="connsiteY8" fmla="*/ 6916782 h 6982097"/>
              <a:gd name="connsiteX9" fmla="*/ 2971800 w 2971800"/>
              <a:gd name="connsiteY9" fmla="*/ 0 h 6982097"/>
              <a:gd name="connsiteX10" fmla="*/ 1691640 w 2971800"/>
              <a:gd name="connsiteY10" fmla="*/ 0 h 6982097"/>
              <a:gd name="connsiteX11" fmla="*/ 1489166 w 2971800"/>
              <a:gd name="connsiteY11" fmla="*/ 2331720 h 6982097"/>
              <a:gd name="connsiteX12" fmla="*/ 1293223 w 2971800"/>
              <a:gd name="connsiteY12" fmla="*/ 6531 h 6982097"/>
              <a:gd name="connsiteX13" fmla="*/ 0 w 2971800"/>
              <a:gd name="connsiteY13" fmla="*/ 6531 h 6982097"/>
              <a:gd name="connsiteX0" fmla="*/ 0 w 2971800"/>
              <a:gd name="connsiteY0" fmla="*/ 6531 h 6982097"/>
              <a:gd name="connsiteX1" fmla="*/ 0 w 2971800"/>
              <a:gd name="connsiteY1" fmla="*/ 6982097 h 6982097"/>
              <a:gd name="connsiteX2" fmla="*/ 796834 w 2971800"/>
              <a:gd name="connsiteY2" fmla="*/ 6982097 h 6982097"/>
              <a:gd name="connsiteX3" fmla="*/ 796834 w 2971800"/>
              <a:gd name="connsiteY3" fmla="*/ 3997234 h 6982097"/>
              <a:gd name="connsiteX4" fmla="*/ 1051560 w 2971800"/>
              <a:gd name="connsiteY4" fmla="*/ 6969034 h 6982097"/>
              <a:gd name="connsiteX5" fmla="*/ 1939834 w 2971800"/>
              <a:gd name="connsiteY5" fmla="*/ 6969034 h 6982097"/>
              <a:gd name="connsiteX6" fmla="*/ 2168434 w 2971800"/>
              <a:gd name="connsiteY6" fmla="*/ 4023360 h 6982097"/>
              <a:gd name="connsiteX7" fmla="*/ 2168434 w 2971800"/>
              <a:gd name="connsiteY7" fmla="*/ 6949440 h 6982097"/>
              <a:gd name="connsiteX8" fmla="*/ 2961790 w 2971800"/>
              <a:gd name="connsiteY8" fmla="*/ 6976844 h 6982097"/>
              <a:gd name="connsiteX9" fmla="*/ 2971800 w 2971800"/>
              <a:gd name="connsiteY9" fmla="*/ 0 h 6982097"/>
              <a:gd name="connsiteX10" fmla="*/ 1691640 w 2971800"/>
              <a:gd name="connsiteY10" fmla="*/ 0 h 6982097"/>
              <a:gd name="connsiteX11" fmla="*/ 1489166 w 2971800"/>
              <a:gd name="connsiteY11" fmla="*/ 2331720 h 6982097"/>
              <a:gd name="connsiteX12" fmla="*/ 1293223 w 2971800"/>
              <a:gd name="connsiteY12" fmla="*/ 6531 h 6982097"/>
              <a:gd name="connsiteX13" fmla="*/ 0 w 2971800"/>
              <a:gd name="connsiteY13" fmla="*/ 6531 h 6982097"/>
              <a:gd name="connsiteX0" fmla="*/ 0 w 2971800"/>
              <a:gd name="connsiteY0" fmla="*/ 6531 h 6986383"/>
              <a:gd name="connsiteX1" fmla="*/ 0 w 2971800"/>
              <a:gd name="connsiteY1" fmla="*/ 6982097 h 6986383"/>
              <a:gd name="connsiteX2" fmla="*/ 796834 w 2971800"/>
              <a:gd name="connsiteY2" fmla="*/ 6982097 h 6986383"/>
              <a:gd name="connsiteX3" fmla="*/ 796834 w 2971800"/>
              <a:gd name="connsiteY3" fmla="*/ 3997234 h 6986383"/>
              <a:gd name="connsiteX4" fmla="*/ 1051560 w 2971800"/>
              <a:gd name="connsiteY4" fmla="*/ 6969034 h 6986383"/>
              <a:gd name="connsiteX5" fmla="*/ 1939834 w 2971800"/>
              <a:gd name="connsiteY5" fmla="*/ 6969034 h 6986383"/>
              <a:gd name="connsiteX6" fmla="*/ 2168434 w 2971800"/>
              <a:gd name="connsiteY6" fmla="*/ 4023360 h 6986383"/>
              <a:gd name="connsiteX7" fmla="*/ 2175823 w 2971800"/>
              <a:gd name="connsiteY7" fmla="*/ 6986383 h 6986383"/>
              <a:gd name="connsiteX8" fmla="*/ 2961790 w 2971800"/>
              <a:gd name="connsiteY8" fmla="*/ 6976844 h 6986383"/>
              <a:gd name="connsiteX9" fmla="*/ 2971800 w 2971800"/>
              <a:gd name="connsiteY9" fmla="*/ 0 h 6986383"/>
              <a:gd name="connsiteX10" fmla="*/ 1691640 w 2971800"/>
              <a:gd name="connsiteY10" fmla="*/ 0 h 6986383"/>
              <a:gd name="connsiteX11" fmla="*/ 1489166 w 2971800"/>
              <a:gd name="connsiteY11" fmla="*/ 2331720 h 6986383"/>
              <a:gd name="connsiteX12" fmla="*/ 1293223 w 2971800"/>
              <a:gd name="connsiteY12" fmla="*/ 6531 h 6986383"/>
              <a:gd name="connsiteX13" fmla="*/ 0 w 2971800"/>
              <a:gd name="connsiteY13" fmla="*/ 6531 h 6986383"/>
              <a:gd name="connsiteX0" fmla="*/ 0 w 2971800"/>
              <a:gd name="connsiteY0" fmla="*/ 6531 h 6999737"/>
              <a:gd name="connsiteX1" fmla="*/ 0 w 2971800"/>
              <a:gd name="connsiteY1" fmla="*/ 6982097 h 6999737"/>
              <a:gd name="connsiteX2" fmla="*/ 796834 w 2971800"/>
              <a:gd name="connsiteY2" fmla="*/ 6982097 h 6999737"/>
              <a:gd name="connsiteX3" fmla="*/ 796834 w 2971800"/>
              <a:gd name="connsiteY3" fmla="*/ 3997234 h 6999737"/>
              <a:gd name="connsiteX4" fmla="*/ 1051560 w 2971800"/>
              <a:gd name="connsiteY4" fmla="*/ 6969034 h 6999737"/>
              <a:gd name="connsiteX5" fmla="*/ 1939834 w 2971800"/>
              <a:gd name="connsiteY5" fmla="*/ 6969034 h 6999737"/>
              <a:gd name="connsiteX6" fmla="*/ 2168434 w 2971800"/>
              <a:gd name="connsiteY6" fmla="*/ 4023360 h 6999737"/>
              <a:gd name="connsiteX7" fmla="*/ 2175823 w 2971800"/>
              <a:gd name="connsiteY7" fmla="*/ 6986383 h 6999737"/>
              <a:gd name="connsiteX8" fmla="*/ 2961790 w 2971800"/>
              <a:gd name="connsiteY8" fmla="*/ 6999737 h 6999737"/>
              <a:gd name="connsiteX9" fmla="*/ 2971800 w 2971800"/>
              <a:gd name="connsiteY9" fmla="*/ 0 h 6999737"/>
              <a:gd name="connsiteX10" fmla="*/ 1691640 w 2971800"/>
              <a:gd name="connsiteY10" fmla="*/ 0 h 6999737"/>
              <a:gd name="connsiteX11" fmla="*/ 1489166 w 2971800"/>
              <a:gd name="connsiteY11" fmla="*/ 2331720 h 6999737"/>
              <a:gd name="connsiteX12" fmla="*/ 1293223 w 2971800"/>
              <a:gd name="connsiteY12" fmla="*/ 6531 h 6999737"/>
              <a:gd name="connsiteX13" fmla="*/ 0 w 2971800"/>
              <a:gd name="connsiteY13" fmla="*/ 6531 h 6999737"/>
              <a:gd name="connsiteX0" fmla="*/ 0 w 2971800"/>
              <a:gd name="connsiteY0" fmla="*/ 6531 h 6999737"/>
              <a:gd name="connsiteX1" fmla="*/ 0 w 2971800"/>
              <a:gd name="connsiteY1" fmla="*/ 6982097 h 6999737"/>
              <a:gd name="connsiteX2" fmla="*/ 796834 w 2971800"/>
              <a:gd name="connsiteY2" fmla="*/ 6982097 h 6999737"/>
              <a:gd name="connsiteX3" fmla="*/ 796834 w 2971800"/>
              <a:gd name="connsiteY3" fmla="*/ 3997234 h 6999737"/>
              <a:gd name="connsiteX4" fmla="*/ 1051560 w 2971800"/>
              <a:gd name="connsiteY4" fmla="*/ 6969034 h 6999737"/>
              <a:gd name="connsiteX5" fmla="*/ 1939834 w 2971800"/>
              <a:gd name="connsiteY5" fmla="*/ 6969034 h 6999737"/>
              <a:gd name="connsiteX6" fmla="*/ 2168434 w 2971800"/>
              <a:gd name="connsiteY6" fmla="*/ 4023360 h 6999737"/>
              <a:gd name="connsiteX7" fmla="*/ 2175823 w 2971800"/>
              <a:gd name="connsiteY7" fmla="*/ 6986383 h 6999737"/>
              <a:gd name="connsiteX8" fmla="*/ 2961790 w 2971800"/>
              <a:gd name="connsiteY8" fmla="*/ 6999737 h 6999737"/>
              <a:gd name="connsiteX9" fmla="*/ 2971800 w 2971800"/>
              <a:gd name="connsiteY9" fmla="*/ 0 h 6999737"/>
              <a:gd name="connsiteX10" fmla="*/ 1691640 w 2971800"/>
              <a:gd name="connsiteY10" fmla="*/ 0 h 6999737"/>
              <a:gd name="connsiteX11" fmla="*/ 1489166 w 2971800"/>
              <a:gd name="connsiteY11" fmla="*/ 2331720 h 6999737"/>
              <a:gd name="connsiteX12" fmla="*/ 1293223 w 2971800"/>
              <a:gd name="connsiteY12" fmla="*/ 6531 h 6999737"/>
              <a:gd name="connsiteX13" fmla="*/ 0 w 2971800"/>
              <a:gd name="connsiteY13" fmla="*/ 6531 h 6999737"/>
              <a:gd name="connsiteX0" fmla="*/ 0 w 2971800"/>
              <a:gd name="connsiteY0" fmla="*/ 6531 h 7001646"/>
              <a:gd name="connsiteX1" fmla="*/ 0 w 2971800"/>
              <a:gd name="connsiteY1" fmla="*/ 6982097 h 7001646"/>
              <a:gd name="connsiteX2" fmla="*/ 796834 w 2971800"/>
              <a:gd name="connsiteY2" fmla="*/ 6982097 h 7001646"/>
              <a:gd name="connsiteX3" fmla="*/ 796834 w 2971800"/>
              <a:gd name="connsiteY3" fmla="*/ 3997234 h 7001646"/>
              <a:gd name="connsiteX4" fmla="*/ 1051560 w 2971800"/>
              <a:gd name="connsiteY4" fmla="*/ 6969034 h 7001646"/>
              <a:gd name="connsiteX5" fmla="*/ 1939834 w 2971800"/>
              <a:gd name="connsiteY5" fmla="*/ 6969034 h 7001646"/>
              <a:gd name="connsiteX6" fmla="*/ 2168434 w 2971800"/>
              <a:gd name="connsiteY6" fmla="*/ 4023360 h 7001646"/>
              <a:gd name="connsiteX7" fmla="*/ 2175824 w 2971800"/>
              <a:gd name="connsiteY7" fmla="*/ 7001646 h 7001646"/>
              <a:gd name="connsiteX8" fmla="*/ 2961790 w 2971800"/>
              <a:gd name="connsiteY8" fmla="*/ 6999737 h 7001646"/>
              <a:gd name="connsiteX9" fmla="*/ 2971800 w 2971800"/>
              <a:gd name="connsiteY9" fmla="*/ 0 h 7001646"/>
              <a:gd name="connsiteX10" fmla="*/ 1691640 w 2971800"/>
              <a:gd name="connsiteY10" fmla="*/ 0 h 7001646"/>
              <a:gd name="connsiteX11" fmla="*/ 1489166 w 2971800"/>
              <a:gd name="connsiteY11" fmla="*/ 2331720 h 7001646"/>
              <a:gd name="connsiteX12" fmla="*/ 1293223 w 2971800"/>
              <a:gd name="connsiteY12" fmla="*/ 6531 h 7001646"/>
              <a:gd name="connsiteX13" fmla="*/ 0 w 2971800"/>
              <a:gd name="connsiteY13" fmla="*/ 6531 h 7001646"/>
              <a:gd name="connsiteX0" fmla="*/ 0 w 2971800"/>
              <a:gd name="connsiteY0" fmla="*/ 6531 h 7007189"/>
              <a:gd name="connsiteX1" fmla="*/ 0 w 2971800"/>
              <a:gd name="connsiteY1" fmla="*/ 6982097 h 7007189"/>
              <a:gd name="connsiteX2" fmla="*/ 796834 w 2971800"/>
              <a:gd name="connsiteY2" fmla="*/ 6982097 h 7007189"/>
              <a:gd name="connsiteX3" fmla="*/ 796834 w 2971800"/>
              <a:gd name="connsiteY3" fmla="*/ 3997234 h 7007189"/>
              <a:gd name="connsiteX4" fmla="*/ 1051560 w 2971800"/>
              <a:gd name="connsiteY4" fmla="*/ 6969034 h 7007189"/>
              <a:gd name="connsiteX5" fmla="*/ 1939834 w 2971800"/>
              <a:gd name="connsiteY5" fmla="*/ 7007189 h 7007189"/>
              <a:gd name="connsiteX6" fmla="*/ 2168434 w 2971800"/>
              <a:gd name="connsiteY6" fmla="*/ 4023360 h 7007189"/>
              <a:gd name="connsiteX7" fmla="*/ 2175824 w 2971800"/>
              <a:gd name="connsiteY7" fmla="*/ 7001646 h 7007189"/>
              <a:gd name="connsiteX8" fmla="*/ 2961790 w 2971800"/>
              <a:gd name="connsiteY8" fmla="*/ 6999737 h 7007189"/>
              <a:gd name="connsiteX9" fmla="*/ 2971800 w 2971800"/>
              <a:gd name="connsiteY9" fmla="*/ 0 h 7007189"/>
              <a:gd name="connsiteX10" fmla="*/ 1691640 w 2971800"/>
              <a:gd name="connsiteY10" fmla="*/ 0 h 7007189"/>
              <a:gd name="connsiteX11" fmla="*/ 1489166 w 2971800"/>
              <a:gd name="connsiteY11" fmla="*/ 2331720 h 7007189"/>
              <a:gd name="connsiteX12" fmla="*/ 1293223 w 2971800"/>
              <a:gd name="connsiteY12" fmla="*/ 6531 h 7007189"/>
              <a:gd name="connsiteX13" fmla="*/ 0 w 2971800"/>
              <a:gd name="connsiteY13" fmla="*/ 6531 h 7007189"/>
              <a:gd name="connsiteX0" fmla="*/ 0 w 2971800"/>
              <a:gd name="connsiteY0" fmla="*/ 6531 h 7007189"/>
              <a:gd name="connsiteX1" fmla="*/ 0 w 2971800"/>
              <a:gd name="connsiteY1" fmla="*/ 6982097 h 7007189"/>
              <a:gd name="connsiteX2" fmla="*/ 796834 w 2971800"/>
              <a:gd name="connsiteY2" fmla="*/ 6982097 h 7007189"/>
              <a:gd name="connsiteX3" fmla="*/ 796834 w 2971800"/>
              <a:gd name="connsiteY3" fmla="*/ 3997234 h 7007189"/>
              <a:gd name="connsiteX4" fmla="*/ 1059191 w 2971800"/>
              <a:gd name="connsiteY4" fmla="*/ 6991927 h 7007189"/>
              <a:gd name="connsiteX5" fmla="*/ 1939834 w 2971800"/>
              <a:gd name="connsiteY5" fmla="*/ 7007189 h 7007189"/>
              <a:gd name="connsiteX6" fmla="*/ 2168434 w 2971800"/>
              <a:gd name="connsiteY6" fmla="*/ 4023360 h 7007189"/>
              <a:gd name="connsiteX7" fmla="*/ 2175824 w 2971800"/>
              <a:gd name="connsiteY7" fmla="*/ 7001646 h 7007189"/>
              <a:gd name="connsiteX8" fmla="*/ 2961790 w 2971800"/>
              <a:gd name="connsiteY8" fmla="*/ 6999737 h 7007189"/>
              <a:gd name="connsiteX9" fmla="*/ 2971800 w 2971800"/>
              <a:gd name="connsiteY9" fmla="*/ 0 h 7007189"/>
              <a:gd name="connsiteX10" fmla="*/ 1691640 w 2971800"/>
              <a:gd name="connsiteY10" fmla="*/ 0 h 7007189"/>
              <a:gd name="connsiteX11" fmla="*/ 1489166 w 2971800"/>
              <a:gd name="connsiteY11" fmla="*/ 2331720 h 7007189"/>
              <a:gd name="connsiteX12" fmla="*/ 1293223 w 2971800"/>
              <a:gd name="connsiteY12" fmla="*/ 6531 h 7007189"/>
              <a:gd name="connsiteX13" fmla="*/ 0 w 2971800"/>
              <a:gd name="connsiteY13" fmla="*/ 6531 h 7007189"/>
              <a:gd name="connsiteX0" fmla="*/ 0 w 2971800"/>
              <a:gd name="connsiteY0" fmla="*/ 6531 h 7007189"/>
              <a:gd name="connsiteX1" fmla="*/ 0 w 2971800"/>
              <a:gd name="connsiteY1" fmla="*/ 6982097 h 7007189"/>
              <a:gd name="connsiteX2" fmla="*/ 796834 w 2971800"/>
              <a:gd name="connsiteY2" fmla="*/ 7004990 h 7007189"/>
              <a:gd name="connsiteX3" fmla="*/ 796834 w 2971800"/>
              <a:gd name="connsiteY3" fmla="*/ 3997234 h 7007189"/>
              <a:gd name="connsiteX4" fmla="*/ 1059191 w 2971800"/>
              <a:gd name="connsiteY4" fmla="*/ 6991927 h 7007189"/>
              <a:gd name="connsiteX5" fmla="*/ 1939834 w 2971800"/>
              <a:gd name="connsiteY5" fmla="*/ 7007189 h 7007189"/>
              <a:gd name="connsiteX6" fmla="*/ 2168434 w 2971800"/>
              <a:gd name="connsiteY6" fmla="*/ 4023360 h 7007189"/>
              <a:gd name="connsiteX7" fmla="*/ 2175824 w 2971800"/>
              <a:gd name="connsiteY7" fmla="*/ 7001646 h 7007189"/>
              <a:gd name="connsiteX8" fmla="*/ 2961790 w 2971800"/>
              <a:gd name="connsiteY8" fmla="*/ 6999737 h 7007189"/>
              <a:gd name="connsiteX9" fmla="*/ 2971800 w 2971800"/>
              <a:gd name="connsiteY9" fmla="*/ 0 h 7007189"/>
              <a:gd name="connsiteX10" fmla="*/ 1691640 w 2971800"/>
              <a:gd name="connsiteY10" fmla="*/ 0 h 7007189"/>
              <a:gd name="connsiteX11" fmla="*/ 1489166 w 2971800"/>
              <a:gd name="connsiteY11" fmla="*/ 2331720 h 7007189"/>
              <a:gd name="connsiteX12" fmla="*/ 1293223 w 2971800"/>
              <a:gd name="connsiteY12" fmla="*/ 6531 h 7007189"/>
              <a:gd name="connsiteX13" fmla="*/ 0 w 2971800"/>
              <a:gd name="connsiteY13" fmla="*/ 6531 h 7007189"/>
              <a:gd name="connsiteX0" fmla="*/ 0 w 2971800"/>
              <a:gd name="connsiteY0" fmla="*/ 6531 h 7007189"/>
              <a:gd name="connsiteX1" fmla="*/ 7631 w 2971800"/>
              <a:gd name="connsiteY1" fmla="*/ 6989729 h 7007189"/>
              <a:gd name="connsiteX2" fmla="*/ 796834 w 2971800"/>
              <a:gd name="connsiteY2" fmla="*/ 7004990 h 7007189"/>
              <a:gd name="connsiteX3" fmla="*/ 796834 w 2971800"/>
              <a:gd name="connsiteY3" fmla="*/ 3997234 h 7007189"/>
              <a:gd name="connsiteX4" fmla="*/ 1059191 w 2971800"/>
              <a:gd name="connsiteY4" fmla="*/ 6991927 h 7007189"/>
              <a:gd name="connsiteX5" fmla="*/ 1939834 w 2971800"/>
              <a:gd name="connsiteY5" fmla="*/ 7007189 h 7007189"/>
              <a:gd name="connsiteX6" fmla="*/ 2168434 w 2971800"/>
              <a:gd name="connsiteY6" fmla="*/ 4023360 h 7007189"/>
              <a:gd name="connsiteX7" fmla="*/ 2175824 w 2971800"/>
              <a:gd name="connsiteY7" fmla="*/ 7001646 h 7007189"/>
              <a:gd name="connsiteX8" fmla="*/ 2961790 w 2971800"/>
              <a:gd name="connsiteY8" fmla="*/ 6999737 h 7007189"/>
              <a:gd name="connsiteX9" fmla="*/ 2971800 w 2971800"/>
              <a:gd name="connsiteY9" fmla="*/ 0 h 7007189"/>
              <a:gd name="connsiteX10" fmla="*/ 1691640 w 2971800"/>
              <a:gd name="connsiteY10" fmla="*/ 0 h 7007189"/>
              <a:gd name="connsiteX11" fmla="*/ 1489166 w 2971800"/>
              <a:gd name="connsiteY11" fmla="*/ 2331720 h 7007189"/>
              <a:gd name="connsiteX12" fmla="*/ 1293223 w 2971800"/>
              <a:gd name="connsiteY12" fmla="*/ 6531 h 7007189"/>
              <a:gd name="connsiteX13" fmla="*/ 0 w 2971800"/>
              <a:gd name="connsiteY13" fmla="*/ 6531 h 7007189"/>
              <a:gd name="connsiteX0" fmla="*/ 7969 w 2979769"/>
              <a:gd name="connsiteY0" fmla="*/ 6531 h 7007189"/>
              <a:gd name="connsiteX1" fmla="*/ 338 w 2979769"/>
              <a:gd name="connsiteY1" fmla="*/ 6997361 h 7007189"/>
              <a:gd name="connsiteX2" fmla="*/ 804803 w 2979769"/>
              <a:gd name="connsiteY2" fmla="*/ 7004990 h 7007189"/>
              <a:gd name="connsiteX3" fmla="*/ 804803 w 2979769"/>
              <a:gd name="connsiteY3" fmla="*/ 3997234 h 7007189"/>
              <a:gd name="connsiteX4" fmla="*/ 1067160 w 2979769"/>
              <a:gd name="connsiteY4" fmla="*/ 6991927 h 7007189"/>
              <a:gd name="connsiteX5" fmla="*/ 1947803 w 2979769"/>
              <a:gd name="connsiteY5" fmla="*/ 7007189 h 7007189"/>
              <a:gd name="connsiteX6" fmla="*/ 2176403 w 2979769"/>
              <a:gd name="connsiteY6" fmla="*/ 4023360 h 7007189"/>
              <a:gd name="connsiteX7" fmla="*/ 2183793 w 2979769"/>
              <a:gd name="connsiteY7" fmla="*/ 7001646 h 7007189"/>
              <a:gd name="connsiteX8" fmla="*/ 2969759 w 2979769"/>
              <a:gd name="connsiteY8" fmla="*/ 6999737 h 7007189"/>
              <a:gd name="connsiteX9" fmla="*/ 2979769 w 2979769"/>
              <a:gd name="connsiteY9" fmla="*/ 0 h 7007189"/>
              <a:gd name="connsiteX10" fmla="*/ 1699609 w 2979769"/>
              <a:gd name="connsiteY10" fmla="*/ 0 h 7007189"/>
              <a:gd name="connsiteX11" fmla="*/ 1497135 w 2979769"/>
              <a:gd name="connsiteY11" fmla="*/ 2331720 h 7007189"/>
              <a:gd name="connsiteX12" fmla="*/ 1301192 w 2979769"/>
              <a:gd name="connsiteY12" fmla="*/ 6531 h 7007189"/>
              <a:gd name="connsiteX13" fmla="*/ 7969 w 2979769"/>
              <a:gd name="connsiteY13" fmla="*/ 6531 h 7007189"/>
              <a:gd name="connsiteX0" fmla="*/ 7969 w 2979769"/>
              <a:gd name="connsiteY0" fmla="*/ 6531 h 7007189"/>
              <a:gd name="connsiteX1" fmla="*/ 338 w 2979769"/>
              <a:gd name="connsiteY1" fmla="*/ 6997361 h 7007189"/>
              <a:gd name="connsiteX2" fmla="*/ 804803 w 2979769"/>
              <a:gd name="connsiteY2" fmla="*/ 7004990 h 7007189"/>
              <a:gd name="connsiteX3" fmla="*/ 804803 w 2979769"/>
              <a:gd name="connsiteY3" fmla="*/ 3997234 h 7007189"/>
              <a:gd name="connsiteX4" fmla="*/ 1074790 w 2979769"/>
              <a:gd name="connsiteY4" fmla="*/ 6999558 h 7007189"/>
              <a:gd name="connsiteX5" fmla="*/ 1947803 w 2979769"/>
              <a:gd name="connsiteY5" fmla="*/ 7007189 h 7007189"/>
              <a:gd name="connsiteX6" fmla="*/ 2176403 w 2979769"/>
              <a:gd name="connsiteY6" fmla="*/ 4023360 h 7007189"/>
              <a:gd name="connsiteX7" fmla="*/ 2183793 w 2979769"/>
              <a:gd name="connsiteY7" fmla="*/ 7001646 h 7007189"/>
              <a:gd name="connsiteX8" fmla="*/ 2969759 w 2979769"/>
              <a:gd name="connsiteY8" fmla="*/ 6999737 h 7007189"/>
              <a:gd name="connsiteX9" fmla="*/ 2979769 w 2979769"/>
              <a:gd name="connsiteY9" fmla="*/ 0 h 7007189"/>
              <a:gd name="connsiteX10" fmla="*/ 1699609 w 2979769"/>
              <a:gd name="connsiteY10" fmla="*/ 0 h 7007189"/>
              <a:gd name="connsiteX11" fmla="*/ 1497135 w 2979769"/>
              <a:gd name="connsiteY11" fmla="*/ 2331720 h 7007189"/>
              <a:gd name="connsiteX12" fmla="*/ 1301192 w 2979769"/>
              <a:gd name="connsiteY12" fmla="*/ 6531 h 7007189"/>
              <a:gd name="connsiteX13" fmla="*/ 7969 w 2979769"/>
              <a:gd name="connsiteY13" fmla="*/ 6531 h 7007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979769" h="7007189">
                <a:moveTo>
                  <a:pt x="7969" y="6531"/>
                </a:moveTo>
                <a:cubicBezTo>
                  <a:pt x="10513" y="2334264"/>
                  <a:pt x="-2206" y="4669628"/>
                  <a:pt x="338" y="6997361"/>
                </a:cubicBezTo>
                <a:lnTo>
                  <a:pt x="804803" y="7004990"/>
                </a:lnTo>
                <a:lnTo>
                  <a:pt x="804803" y="3997234"/>
                </a:lnTo>
                <a:lnTo>
                  <a:pt x="1074790" y="6999558"/>
                </a:lnTo>
                <a:lnTo>
                  <a:pt x="1947803" y="7007189"/>
                </a:lnTo>
                <a:lnTo>
                  <a:pt x="2176403" y="4023360"/>
                </a:lnTo>
                <a:cubicBezTo>
                  <a:pt x="2178866" y="5016122"/>
                  <a:pt x="2181330" y="6008884"/>
                  <a:pt x="2183793" y="7001646"/>
                </a:cubicBezTo>
                <a:lnTo>
                  <a:pt x="2969759" y="6999737"/>
                </a:lnTo>
                <a:cubicBezTo>
                  <a:pt x="2973096" y="4674122"/>
                  <a:pt x="2976432" y="2325615"/>
                  <a:pt x="2979769" y="0"/>
                </a:cubicBezTo>
                <a:lnTo>
                  <a:pt x="1699609" y="0"/>
                </a:lnTo>
                <a:lnTo>
                  <a:pt x="1497135" y="2331720"/>
                </a:lnTo>
                <a:lnTo>
                  <a:pt x="1301192" y="6531"/>
                </a:lnTo>
                <a:lnTo>
                  <a:pt x="7969" y="6531"/>
                </a:lnTo>
                <a:close/>
              </a:path>
            </a:pathLst>
          </a:custGeom>
          <a:blipFill>
            <a:blip r:embed="rId3"/>
            <a:srcRect/>
            <a:stretch>
              <a:fillRect l="-2460" t="179" r="-31878" b="-557"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455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subheadings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6"/>
          <p:cNvSpPr/>
          <p:nvPr userDrawn="1"/>
        </p:nvSpPr>
        <p:spPr>
          <a:xfrm>
            <a:off x="9253537" y="0"/>
            <a:ext cx="2947172" cy="6853646"/>
          </a:xfrm>
          <a:custGeom>
            <a:avLst/>
            <a:gdLst>
              <a:gd name="connsiteX0" fmla="*/ 0 w 3753395"/>
              <a:gd name="connsiteY0" fmla="*/ 0 h 6853646"/>
              <a:gd name="connsiteX1" fmla="*/ 0 w 3753395"/>
              <a:gd name="connsiteY1" fmla="*/ 69669 h 6853646"/>
              <a:gd name="connsiteX2" fmla="*/ 1463040 w 3753395"/>
              <a:gd name="connsiteY2" fmla="*/ 6853646 h 6853646"/>
              <a:gd name="connsiteX3" fmla="*/ 3744686 w 3753395"/>
              <a:gd name="connsiteY3" fmla="*/ 6844937 h 6853646"/>
              <a:gd name="connsiteX4" fmla="*/ 3753395 w 3753395"/>
              <a:gd name="connsiteY4" fmla="*/ 0 h 6853646"/>
              <a:gd name="connsiteX5" fmla="*/ 0 w 3753395"/>
              <a:gd name="connsiteY5" fmla="*/ 0 h 6853646"/>
              <a:gd name="connsiteX0" fmla="*/ 0 w 3772445"/>
              <a:gd name="connsiteY0" fmla="*/ 0 h 6853646"/>
              <a:gd name="connsiteX1" fmla="*/ 19050 w 3772445"/>
              <a:gd name="connsiteY1" fmla="*/ 69669 h 6853646"/>
              <a:gd name="connsiteX2" fmla="*/ 1482090 w 3772445"/>
              <a:gd name="connsiteY2" fmla="*/ 6853646 h 6853646"/>
              <a:gd name="connsiteX3" fmla="*/ 3763736 w 3772445"/>
              <a:gd name="connsiteY3" fmla="*/ 6844937 h 6853646"/>
              <a:gd name="connsiteX4" fmla="*/ 3772445 w 3772445"/>
              <a:gd name="connsiteY4" fmla="*/ 0 h 6853646"/>
              <a:gd name="connsiteX5" fmla="*/ 0 w 3772445"/>
              <a:gd name="connsiteY5" fmla="*/ 0 h 6853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2445" h="6853646">
                <a:moveTo>
                  <a:pt x="0" y="0"/>
                </a:moveTo>
                <a:lnTo>
                  <a:pt x="19050" y="69669"/>
                </a:lnTo>
                <a:lnTo>
                  <a:pt x="1482090" y="6853646"/>
                </a:lnTo>
                <a:lnTo>
                  <a:pt x="3763736" y="6844937"/>
                </a:lnTo>
                <a:lnTo>
                  <a:pt x="3772445" y="0"/>
                </a:lnTo>
                <a:lnTo>
                  <a:pt x="0" y="0"/>
                </a:lnTo>
                <a:close/>
              </a:path>
            </a:pathLst>
          </a:custGeom>
          <a:solidFill>
            <a:srgbClr val="D2D2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06060" y="978761"/>
            <a:ext cx="7451725" cy="4664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AU" dirty="0"/>
              <a:t>SUB HEADING (24PT, UPPER CASE)</a:t>
            </a:r>
            <a:endParaRPr lang="en-US" dirty="0"/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306060" y="326309"/>
            <a:ext cx="7452026" cy="7369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00" b="1" baseline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dirty="0"/>
              <a:t>HEADING (42PT, UPPER CASE)</a:t>
            </a:r>
          </a:p>
        </p:txBody>
      </p:sp>
      <p:sp>
        <p:nvSpPr>
          <p:cNvPr id="40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306060" y="1729723"/>
            <a:ext cx="7451725" cy="401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baseline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AU" dirty="0"/>
              <a:t>INTRO HEADING 1 (20PT, ARIAL NARROW, UPPER CASE)</a:t>
            </a:r>
          </a:p>
        </p:txBody>
      </p:sp>
      <p:sp>
        <p:nvSpPr>
          <p:cNvPr id="41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300211" y="2097682"/>
            <a:ext cx="7451725" cy="17294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AU" dirty="0"/>
              <a:t>Body copy (20pt, Arial) 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42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300211" y="4111606"/>
            <a:ext cx="7451725" cy="401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baseline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AU" dirty="0"/>
              <a:t>INTRO HEADING 2 (20PT, ARIAL NARROW, UPPER CASE)</a:t>
            </a:r>
          </a:p>
        </p:txBody>
      </p:sp>
      <p:sp>
        <p:nvSpPr>
          <p:cNvPr id="43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294362" y="4513254"/>
            <a:ext cx="7451725" cy="17294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AU" dirty="0"/>
              <a:t>Body copy (20pt, Arial) </a:t>
            </a:r>
          </a:p>
          <a:p>
            <a:endParaRPr lang="en-AU" dirty="0"/>
          </a:p>
          <a:p>
            <a:endParaRPr lang="en-AU" dirty="0"/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6246" y="6319350"/>
            <a:ext cx="1262009" cy="3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594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subheadings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6"/>
          <p:cNvSpPr/>
          <p:nvPr userDrawn="1"/>
        </p:nvSpPr>
        <p:spPr>
          <a:xfrm>
            <a:off x="9253537" y="0"/>
            <a:ext cx="2947172" cy="6853646"/>
          </a:xfrm>
          <a:custGeom>
            <a:avLst/>
            <a:gdLst>
              <a:gd name="connsiteX0" fmla="*/ 0 w 3753395"/>
              <a:gd name="connsiteY0" fmla="*/ 0 h 6853646"/>
              <a:gd name="connsiteX1" fmla="*/ 0 w 3753395"/>
              <a:gd name="connsiteY1" fmla="*/ 69669 h 6853646"/>
              <a:gd name="connsiteX2" fmla="*/ 1463040 w 3753395"/>
              <a:gd name="connsiteY2" fmla="*/ 6853646 h 6853646"/>
              <a:gd name="connsiteX3" fmla="*/ 3744686 w 3753395"/>
              <a:gd name="connsiteY3" fmla="*/ 6844937 h 6853646"/>
              <a:gd name="connsiteX4" fmla="*/ 3753395 w 3753395"/>
              <a:gd name="connsiteY4" fmla="*/ 0 h 6853646"/>
              <a:gd name="connsiteX5" fmla="*/ 0 w 3753395"/>
              <a:gd name="connsiteY5" fmla="*/ 0 h 6853646"/>
              <a:gd name="connsiteX0" fmla="*/ 0 w 3772445"/>
              <a:gd name="connsiteY0" fmla="*/ 0 h 6853646"/>
              <a:gd name="connsiteX1" fmla="*/ 19050 w 3772445"/>
              <a:gd name="connsiteY1" fmla="*/ 69669 h 6853646"/>
              <a:gd name="connsiteX2" fmla="*/ 1482090 w 3772445"/>
              <a:gd name="connsiteY2" fmla="*/ 6853646 h 6853646"/>
              <a:gd name="connsiteX3" fmla="*/ 3763736 w 3772445"/>
              <a:gd name="connsiteY3" fmla="*/ 6844937 h 6853646"/>
              <a:gd name="connsiteX4" fmla="*/ 3772445 w 3772445"/>
              <a:gd name="connsiteY4" fmla="*/ 0 h 6853646"/>
              <a:gd name="connsiteX5" fmla="*/ 0 w 3772445"/>
              <a:gd name="connsiteY5" fmla="*/ 0 h 6853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2445" h="6853646">
                <a:moveTo>
                  <a:pt x="0" y="0"/>
                </a:moveTo>
                <a:lnTo>
                  <a:pt x="19050" y="69669"/>
                </a:lnTo>
                <a:lnTo>
                  <a:pt x="1482090" y="6853646"/>
                </a:lnTo>
                <a:lnTo>
                  <a:pt x="3763736" y="6844937"/>
                </a:lnTo>
                <a:lnTo>
                  <a:pt x="377244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6D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06060" y="978761"/>
            <a:ext cx="7451725" cy="4664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AU" dirty="0"/>
              <a:t>SUB HEADING (24PT, UPPER CASE)</a:t>
            </a:r>
            <a:endParaRPr lang="en-US" dirty="0"/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306060" y="326309"/>
            <a:ext cx="7452026" cy="7369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00" b="1" baseline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dirty="0"/>
              <a:t>HEADING (42PT, UPPER CASE)</a:t>
            </a:r>
          </a:p>
        </p:txBody>
      </p:sp>
      <p:sp>
        <p:nvSpPr>
          <p:cNvPr id="40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306060" y="1729723"/>
            <a:ext cx="7451725" cy="401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baseline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AU" dirty="0"/>
              <a:t>INTRO HEADING 1 (20PT, ARIAL NARROW, UPPER CASE)</a:t>
            </a:r>
          </a:p>
        </p:txBody>
      </p:sp>
      <p:sp>
        <p:nvSpPr>
          <p:cNvPr id="41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300211" y="2097682"/>
            <a:ext cx="7451725" cy="17294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AU" dirty="0"/>
              <a:t>Body copy (20pt, Arial) 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42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300211" y="4111606"/>
            <a:ext cx="7451725" cy="401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baseline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AU" dirty="0"/>
              <a:t>INTRO HEADING 2 (20PT, ARIAL NARROW, UPPER CASE)</a:t>
            </a:r>
          </a:p>
        </p:txBody>
      </p:sp>
      <p:sp>
        <p:nvSpPr>
          <p:cNvPr id="43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294362" y="4513254"/>
            <a:ext cx="7451725" cy="17294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AU" dirty="0"/>
              <a:t>Body copy (20pt, Arial) </a:t>
            </a:r>
          </a:p>
          <a:p>
            <a:endParaRPr lang="en-AU" dirty="0"/>
          </a:p>
          <a:p>
            <a:endParaRPr lang="en-AU" dirty="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0967" y="6298367"/>
            <a:ext cx="1267288" cy="368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092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 with tex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867" y="6397304"/>
            <a:ext cx="1267288" cy="368735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219075" y="85725"/>
            <a:ext cx="2771775" cy="1162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06060" y="978761"/>
            <a:ext cx="7451725" cy="4664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AU" dirty="0"/>
              <a:t>SUB HEADING (24PT, UPPER CASE)</a:t>
            </a:r>
            <a:endParaRPr lang="en-US" dirty="0"/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306060" y="326309"/>
            <a:ext cx="7452026" cy="7369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00" b="1" baseline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dirty="0"/>
              <a:t>HEADING (42PT, UPPER CASE)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306060" y="1729723"/>
            <a:ext cx="7451725" cy="40164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INTRO HEADING 1 (20PT, ARIAL NARROW, UPPER CASE)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300211" y="2131371"/>
            <a:ext cx="7451725" cy="1729430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0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AU" dirty="0"/>
              <a:t>Bullet list, one column (20pt, Arial)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300211" y="4111606"/>
            <a:ext cx="7451725" cy="40164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INTRO HEADING 2 (20PT, ARIAL NARROW, UPPER CASE)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294362" y="4513254"/>
            <a:ext cx="7451725" cy="1729430"/>
          </a:xfrm>
          <a:prstGeom prst="rect">
            <a:avLst/>
          </a:prstGeom>
        </p:spPr>
        <p:txBody>
          <a:bodyPr numCol="2"/>
          <a:lstStyle>
            <a:lvl1pPr marL="342900" marR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AU" dirty="0"/>
              <a:t>Bullet list, two column (20pt, Arial) </a:t>
            </a:r>
          </a:p>
          <a:p>
            <a:endParaRPr lang="en-AU" dirty="0"/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AU" dirty="0"/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dirty="0"/>
              <a:t>Bullet list, two column (20pt, Arial) </a:t>
            </a:r>
          </a:p>
          <a:p>
            <a:endParaRPr lang="en-AU" dirty="0"/>
          </a:p>
        </p:txBody>
      </p:sp>
      <p:sp>
        <p:nvSpPr>
          <p:cNvPr id="29" name="Freeform 28"/>
          <p:cNvSpPr/>
          <p:nvPr userDrawn="1"/>
        </p:nvSpPr>
        <p:spPr>
          <a:xfrm>
            <a:off x="9253537" y="0"/>
            <a:ext cx="2947172" cy="6853646"/>
          </a:xfrm>
          <a:custGeom>
            <a:avLst/>
            <a:gdLst>
              <a:gd name="connsiteX0" fmla="*/ 0 w 3753395"/>
              <a:gd name="connsiteY0" fmla="*/ 0 h 6853646"/>
              <a:gd name="connsiteX1" fmla="*/ 0 w 3753395"/>
              <a:gd name="connsiteY1" fmla="*/ 69669 h 6853646"/>
              <a:gd name="connsiteX2" fmla="*/ 1463040 w 3753395"/>
              <a:gd name="connsiteY2" fmla="*/ 6853646 h 6853646"/>
              <a:gd name="connsiteX3" fmla="*/ 3744686 w 3753395"/>
              <a:gd name="connsiteY3" fmla="*/ 6844937 h 6853646"/>
              <a:gd name="connsiteX4" fmla="*/ 3753395 w 3753395"/>
              <a:gd name="connsiteY4" fmla="*/ 0 h 6853646"/>
              <a:gd name="connsiteX5" fmla="*/ 0 w 3753395"/>
              <a:gd name="connsiteY5" fmla="*/ 0 h 6853646"/>
              <a:gd name="connsiteX0" fmla="*/ 0 w 3772445"/>
              <a:gd name="connsiteY0" fmla="*/ 0 h 6853646"/>
              <a:gd name="connsiteX1" fmla="*/ 19050 w 3772445"/>
              <a:gd name="connsiteY1" fmla="*/ 69669 h 6853646"/>
              <a:gd name="connsiteX2" fmla="*/ 1482090 w 3772445"/>
              <a:gd name="connsiteY2" fmla="*/ 6853646 h 6853646"/>
              <a:gd name="connsiteX3" fmla="*/ 3763736 w 3772445"/>
              <a:gd name="connsiteY3" fmla="*/ 6844937 h 6853646"/>
              <a:gd name="connsiteX4" fmla="*/ 3772445 w 3772445"/>
              <a:gd name="connsiteY4" fmla="*/ 0 h 6853646"/>
              <a:gd name="connsiteX5" fmla="*/ 0 w 3772445"/>
              <a:gd name="connsiteY5" fmla="*/ 0 h 6853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2445" h="6853646">
                <a:moveTo>
                  <a:pt x="0" y="0"/>
                </a:moveTo>
                <a:lnTo>
                  <a:pt x="19050" y="69669"/>
                </a:lnTo>
                <a:lnTo>
                  <a:pt x="1482090" y="6853646"/>
                </a:lnTo>
                <a:lnTo>
                  <a:pt x="3763736" y="6844937"/>
                </a:lnTo>
                <a:lnTo>
                  <a:pt x="3772445" y="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rcRect/>
            <a:tile tx="1270000" ty="0" sx="80000" sy="80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0967" y="6298367"/>
            <a:ext cx="1267288" cy="368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422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867" y="6397304"/>
            <a:ext cx="1267288" cy="368735"/>
          </a:xfrm>
          <a:prstGeom prst="rect">
            <a:avLst/>
          </a:prstGeom>
        </p:spPr>
      </p:pic>
      <p:sp>
        <p:nvSpPr>
          <p:cNvPr id="1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06060" y="1046138"/>
            <a:ext cx="7451725" cy="46646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SUB HEADING (24PT, UPPER CASE)</a:t>
            </a:r>
            <a:endParaRPr lang="en-US" dirty="0"/>
          </a:p>
        </p:txBody>
      </p:sp>
      <p:sp>
        <p:nvSpPr>
          <p:cNvPr id="19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306060" y="359998"/>
            <a:ext cx="7452026" cy="736956"/>
          </a:xfrm>
          <a:prstGeom prst="rect">
            <a:avLst/>
          </a:prstGeom>
        </p:spPr>
        <p:txBody>
          <a:bodyPr/>
          <a:lstStyle>
            <a:lvl1pPr>
              <a:defRPr sz="42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HEADING (42PT, UPPER CASE)</a:t>
            </a:r>
          </a:p>
        </p:txBody>
      </p:sp>
      <p:sp>
        <p:nvSpPr>
          <p:cNvPr id="23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306060" y="1763411"/>
            <a:ext cx="7451725" cy="40164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INTRO HEADING (20PT, ARIAL NARROW, UPPER CASE)</a:t>
            </a: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300212" y="2131371"/>
            <a:ext cx="4352700" cy="3976132"/>
          </a:xfrm>
          <a:prstGeom prst="rect">
            <a:avLst/>
          </a:prstGeom>
        </p:spPr>
        <p:txBody>
          <a:bodyPr/>
          <a:lstStyle>
            <a:lvl1pPr>
              <a:defRPr sz="20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AU" dirty="0"/>
              <a:t>Body copy (20pt, Arial) </a:t>
            </a:r>
          </a:p>
          <a:p>
            <a:endParaRPr lang="en-AU" dirty="0"/>
          </a:p>
          <a:p>
            <a:endParaRPr lang="en-AU" dirty="0"/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2459" y="6329169"/>
            <a:ext cx="1262009" cy="367200"/>
          </a:xfrm>
          <a:prstGeom prst="rect">
            <a:avLst/>
          </a:prstGeom>
        </p:spPr>
      </p:pic>
      <p:sp>
        <p:nvSpPr>
          <p:cNvPr id="25" name="Picture Placeholder 17"/>
          <p:cNvSpPr>
            <a:spLocks noGrp="1"/>
          </p:cNvSpPr>
          <p:nvPr>
            <p:ph type="pic" sz="quarter" idx="17"/>
          </p:nvPr>
        </p:nvSpPr>
        <p:spPr>
          <a:xfrm>
            <a:off x="7380288" y="2520000"/>
            <a:ext cx="4027879" cy="2267900"/>
          </a:xfrm>
          <a:prstGeom prst="rect">
            <a:avLst/>
          </a:prstGeom>
          <a:blipFill dpi="0" rotWithShape="1">
            <a:blip r:embed="rId4"/>
            <a:srcRect/>
            <a:tile tx="0" ty="0" sx="40000" sy="40000" flip="none" algn="ctr"/>
          </a:blipFill>
        </p:spPr>
        <p:txBody>
          <a:bodyPr/>
          <a:lstStyle/>
          <a:p>
            <a:endParaRPr lang="en-AU" dirty="0"/>
          </a:p>
        </p:txBody>
      </p:sp>
      <p:sp>
        <p:nvSpPr>
          <p:cNvPr id="26" name="Picture Placeholder 19"/>
          <p:cNvSpPr>
            <a:spLocks noGrp="1"/>
          </p:cNvSpPr>
          <p:nvPr>
            <p:ph type="pic" sz="quarter" idx="18"/>
          </p:nvPr>
        </p:nvSpPr>
        <p:spPr>
          <a:xfrm>
            <a:off x="4960507" y="2519363"/>
            <a:ext cx="2281237" cy="2268537"/>
          </a:xfrm>
          <a:prstGeom prst="rect">
            <a:avLst/>
          </a:prstGeom>
          <a:blipFill dpi="0" rotWithShape="1">
            <a:blip r:embed="rId5"/>
            <a:srcRect/>
            <a:tile tx="0" ty="0" sx="40000" sy="40000" flip="none" algn="b"/>
          </a:blipFill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164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lide imag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0" y="-8466"/>
            <a:ext cx="10371666" cy="6866466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0" fmla="*/ 0 w 12192000"/>
              <a:gd name="connsiteY0" fmla="*/ 0 h 6858000"/>
              <a:gd name="connsiteX1" fmla="*/ 9228667 w 12192000"/>
              <a:gd name="connsiteY1" fmla="*/ 8467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0" fmla="*/ 0 w 10498666"/>
              <a:gd name="connsiteY0" fmla="*/ 0 h 6858000"/>
              <a:gd name="connsiteX1" fmla="*/ 9228667 w 10498666"/>
              <a:gd name="connsiteY1" fmla="*/ 8467 h 6858000"/>
              <a:gd name="connsiteX2" fmla="*/ 10498666 w 10498666"/>
              <a:gd name="connsiteY2" fmla="*/ 6858000 h 6858000"/>
              <a:gd name="connsiteX3" fmla="*/ 0 w 10498666"/>
              <a:gd name="connsiteY3" fmla="*/ 6858000 h 6858000"/>
              <a:gd name="connsiteX4" fmla="*/ 0 w 10498666"/>
              <a:gd name="connsiteY4" fmla="*/ 0 h 6858000"/>
              <a:gd name="connsiteX0" fmla="*/ 0 w 10498666"/>
              <a:gd name="connsiteY0" fmla="*/ 8466 h 6866466"/>
              <a:gd name="connsiteX1" fmla="*/ 9245601 w 10498666"/>
              <a:gd name="connsiteY1" fmla="*/ 0 h 6866466"/>
              <a:gd name="connsiteX2" fmla="*/ 10498666 w 10498666"/>
              <a:gd name="connsiteY2" fmla="*/ 6866466 h 6866466"/>
              <a:gd name="connsiteX3" fmla="*/ 0 w 10498666"/>
              <a:gd name="connsiteY3" fmla="*/ 6866466 h 6866466"/>
              <a:gd name="connsiteX4" fmla="*/ 0 w 10498666"/>
              <a:gd name="connsiteY4" fmla="*/ 8466 h 6866466"/>
              <a:gd name="connsiteX0" fmla="*/ 0 w 10371666"/>
              <a:gd name="connsiteY0" fmla="*/ 8466 h 6866466"/>
              <a:gd name="connsiteX1" fmla="*/ 9245601 w 10371666"/>
              <a:gd name="connsiteY1" fmla="*/ 0 h 6866466"/>
              <a:gd name="connsiteX2" fmla="*/ 10371666 w 10371666"/>
              <a:gd name="connsiteY2" fmla="*/ 6849533 h 6866466"/>
              <a:gd name="connsiteX3" fmla="*/ 0 w 10371666"/>
              <a:gd name="connsiteY3" fmla="*/ 6866466 h 6866466"/>
              <a:gd name="connsiteX4" fmla="*/ 0 w 10371666"/>
              <a:gd name="connsiteY4" fmla="*/ 8466 h 6866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71666" h="6866466">
                <a:moveTo>
                  <a:pt x="0" y="8466"/>
                </a:moveTo>
                <a:lnTo>
                  <a:pt x="9245601" y="0"/>
                </a:lnTo>
                <a:lnTo>
                  <a:pt x="10371666" y="6849533"/>
                </a:lnTo>
                <a:lnTo>
                  <a:pt x="0" y="6866466"/>
                </a:lnTo>
                <a:lnTo>
                  <a:pt x="0" y="8466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b"/>
          </a:blipFill>
        </p:spPr>
        <p:txBody>
          <a:bodyPr/>
          <a:lstStyle/>
          <a:p>
            <a:endParaRPr lang="en-AU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867" y="6397304"/>
            <a:ext cx="1267288" cy="368735"/>
          </a:xfrm>
          <a:prstGeom prst="rect">
            <a:avLst/>
          </a:prstGeom>
        </p:spPr>
      </p:pic>
      <p:sp>
        <p:nvSpPr>
          <p:cNvPr id="13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9689170" y="332573"/>
            <a:ext cx="2309631" cy="1302845"/>
          </a:xfrm>
          <a:prstGeom prst="rect">
            <a:avLst/>
          </a:prstGeom>
          <a:noFill/>
        </p:spPr>
        <p:txBody>
          <a:bodyPr/>
          <a:lstStyle>
            <a:lvl1pPr>
              <a:defRPr sz="2000" b="1" baseline="0"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Image caption (title case)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0328" y="6329169"/>
            <a:ext cx="1262009" cy="3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260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 userDrawn="1"/>
        </p:nvSpPr>
        <p:spPr>
          <a:xfrm>
            <a:off x="-19050" y="-9525"/>
            <a:ext cx="9420225" cy="6867525"/>
          </a:xfrm>
          <a:custGeom>
            <a:avLst/>
            <a:gdLst>
              <a:gd name="connsiteX0" fmla="*/ 9525 w 8905875"/>
              <a:gd name="connsiteY0" fmla="*/ 0 h 6896100"/>
              <a:gd name="connsiteX1" fmla="*/ 4724400 w 8905875"/>
              <a:gd name="connsiteY1" fmla="*/ 0 h 6896100"/>
              <a:gd name="connsiteX2" fmla="*/ 8905875 w 8905875"/>
              <a:gd name="connsiteY2" fmla="*/ 6896100 h 6896100"/>
              <a:gd name="connsiteX3" fmla="*/ 0 w 8905875"/>
              <a:gd name="connsiteY3" fmla="*/ 6896100 h 6896100"/>
              <a:gd name="connsiteX4" fmla="*/ 9525 w 8905875"/>
              <a:gd name="connsiteY4" fmla="*/ 0 h 689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5875" h="6896100">
                <a:moveTo>
                  <a:pt x="9525" y="0"/>
                </a:moveTo>
                <a:lnTo>
                  <a:pt x="4724400" y="0"/>
                </a:lnTo>
                <a:lnTo>
                  <a:pt x="8905875" y="6896100"/>
                </a:lnTo>
                <a:lnTo>
                  <a:pt x="0" y="6896100"/>
                </a:lnTo>
                <a:lnTo>
                  <a:pt x="9525" y="0"/>
                </a:lnTo>
                <a:close/>
              </a:path>
            </a:pathLst>
          </a:custGeom>
          <a:solidFill>
            <a:srgbClr val="006DA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867" y="6397304"/>
            <a:ext cx="1267288" cy="368735"/>
          </a:xfrm>
          <a:prstGeom prst="rect">
            <a:avLst/>
          </a:prstGeom>
        </p:spPr>
      </p:pic>
      <p:sp>
        <p:nvSpPr>
          <p:cNvPr id="29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138368" y="1741593"/>
            <a:ext cx="5757606" cy="3435594"/>
          </a:xfrm>
          <a:prstGeom prst="rect">
            <a:avLst/>
          </a:prstGeom>
        </p:spPr>
        <p:txBody>
          <a:bodyPr wrap="square"/>
          <a:lstStyle>
            <a:lvl1pPr algn="r">
              <a:defRPr sz="44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DIVIDER OR PULL-OUT QUOTE (UPPER CASE)</a:t>
            </a:r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5267" y="6373900"/>
            <a:ext cx="1267288" cy="36873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2921" y="6319350"/>
            <a:ext cx="1262009" cy="367200"/>
          </a:xfrm>
          <a:prstGeom prst="rect">
            <a:avLst/>
          </a:prstGeom>
        </p:spPr>
      </p:pic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6091492" y="1733018"/>
            <a:ext cx="5438775" cy="3435350"/>
          </a:xfrm>
          <a:custGeom>
            <a:avLst/>
            <a:gdLst>
              <a:gd name="connsiteX0" fmla="*/ 0 w 5476875"/>
              <a:gd name="connsiteY0" fmla="*/ 0 h 3435350"/>
              <a:gd name="connsiteX1" fmla="*/ 5476875 w 5476875"/>
              <a:gd name="connsiteY1" fmla="*/ 0 h 3435350"/>
              <a:gd name="connsiteX2" fmla="*/ 5476875 w 5476875"/>
              <a:gd name="connsiteY2" fmla="*/ 3435350 h 3435350"/>
              <a:gd name="connsiteX3" fmla="*/ 0 w 5476875"/>
              <a:gd name="connsiteY3" fmla="*/ 3435350 h 3435350"/>
              <a:gd name="connsiteX4" fmla="*/ 0 w 5476875"/>
              <a:gd name="connsiteY4" fmla="*/ 0 h 3435350"/>
              <a:gd name="connsiteX0" fmla="*/ 19050 w 5476875"/>
              <a:gd name="connsiteY0" fmla="*/ 0 h 3435350"/>
              <a:gd name="connsiteX1" fmla="*/ 5476875 w 5476875"/>
              <a:gd name="connsiteY1" fmla="*/ 0 h 3435350"/>
              <a:gd name="connsiteX2" fmla="*/ 5476875 w 5476875"/>
              <a:gd name="connsiteY2" fmla="*/ 3435350 h 3435350"/>
              <a:gd name="connsiteX3" fmla="*/ 0 w 5476875"/>
              <a:gd name="connsiteY3" fmla="*/ 3435350 h 3435350"/>
              <a:gd name="connsiteX4" fmla="*/ 19050 w 5476875"/>
              <a:gd name="connsiteY4" fmla="*/ 0 h 3435350"/>
              <a:gd name="connsiteX0" fmla="*/ 0 w 5457825"/>
              <a:gd name="connsiteY0" fmla="*/ 0 h 3435350"/>
              <a:gd name="connsiteX1" fmla="*/ 5457825 w 5457825"/>
              <a:gd name="connsiteY1" fmla="*/ 0 h 3435350"/>
              <a:gd name="connsiteX2" fmla="*/ 5457825 w 5457825"/>
              <a:gd name="connsiteY2" fmla="*/ 3435350 h 3435350"/>
              <a:gd name="connsiteX3" fmla="*/ 2266950 w 5457825"/>
              <a:gd name="connsiteY3" fmla="*/ 3435350 h 3435350"/>
              <a:gd name="connsiteX4" fmla="*/ 0 w 5457825"/>
              <a:gd name="connsiteY4" fmla="*/ 0 h 3435350"/>
              <a:gd name="connsiteX0" fmla="*/ 0 w 5438775"/>
              <a:gd name="connsiteY0" fmla="*/ 0 h 3435350"/>
              <a:gd name="connsiteX1" fmla="*/ 5438775 w 5438775"/>
              <a:gd name="connsiteY1" fmla="*/ 0 h 3435350"/>
              <a:gd name="connsiteX2" fmla="*/ 5438775 w 5438775"/>
              <a:gd name="connsiteY2" fmla="*/ 3435350 h 3435350"/>
              <a:gd name="connsiteX3" fmla="*/ 2247900 w 5438775"/>
              <a:gd name="connsiteY3" fmla="*/ 3435350 h 3435350"/>
              <a:gd name="connsiteX4" fmla="*/ 0 w 5438775"/>
              <a:gd name="connsiteY4" fmla="*/ 0 h 343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38775" h="3435350">
                <a:moveTo>
                  <a:pt x="0" y="0"/>
                </a:moveTo>
                <a:lnTo>
                  <a:pt x="5438775" y="0"/>
                </a:lnTo>
                <a:lnTo>
                  <a:pt x="5438775" y="3435350"/>
                </a:lnTo>
                <a:lnTo>
                  <a:pt x="2247900" y="343535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4"/>
            <a:srcRect/>
            <a:tile tx="0" ty="0" sx="100000" sy="100000" flip="none" algn="l"/>
          </a:blipFill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7368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lide copy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867" y="6397304"/>
            <a:ext cx="1267288" cy="368735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219075" y="85725"/>
            <a:ext cx="2771775" cy="1162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06060" y="978761"/>
            <a:ext cx="7451725" cy="4664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AU" dirty="0"/>
              <a:t>SUB HEADING (24PT, UPPER CASE)</a:t>
            </a:r>
            <a:endParaRPr lang="en-US" dirty="0"/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306060" y="326309"/>
            <a:ext cx="7452026" cy="7369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00" b="1" baseline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dirty="0"/>
              <a:t>HEADING (42PT, UPPER CASE)</a:t>
            </a:r>
          </a:p>
        </p:txBody>
      </p:sp>
      <p:sp>
        <p:nvSpPr>
          <p:cNvPr id="40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306060" y="1729723"/>
            <a:ext cx="10809615" cy="401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baseline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AU" dirty="0"/>
              <a:t>INTRO HEADING 1 (20PT, ARIAL NARROW, UPPER CASE)</a:t>
            </a:r>
          </a:p>
        </p:txBody>
      </p:sp>
      <p:sp>
        <p:nvSpPr>
          <p:cNvPr id="41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300211" y="2097681"/>
            <a:ext cx="10815464" cy="32991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AU" dirty="0"/>
              <a:t>Body copy (20pt, Arial) </a:t>
            </a:r>
          </a:p>
          <a:p>
            <a:endParaRPr lang="en-AU" dirty="0"/>
          </a:p>
          <a:p>
            <a:endParaRPr lang="en-AU" dirty="0"/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5267" y="6373900"/>
            <a:ext cx="1267288" cy="368735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0" y="6006108"/>
            <a:ext cx="12192000" cy="870942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2459" y="6329169"/>
            <a:ext cx="1262009" cy="3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7525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lide copy_tex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867" y="6397304"/>
            <a:ext cx="1267288" cy="368735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219075" y="85725"/>
            <a:ext cx="2771775" cy="1162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06060" y="978761"/>
            <a:ext cx="7451725" cy="4664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AU" dirty="0"/>
              <a:t>SUB HEADING (24PT, UPPER CASE)</a:t>
            </a:r>
            <a:endParaRPr lang="en-US" dirty="0"/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306060" y="326309"/>
            <a:ext cx="7452026" cy="7369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00" b="1" baseline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dirty="0"/>
              <a:t>HEADING (42PT, UPPER CASE)</a:t>
            </a:r>
          </a:p>
        </p:txBody>
      </p:sp>
      <p:sp>
        <p:nvSpPr>
          <p:cNvPr id="40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306060" y="1729723"/>
            <a:ext cx="10809615" cy="401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baseline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AU" dirty="0"/>
              <a:t>INTRO HEADING 1 (20PT, ARIAL NARROW, UPPER CASE)</a:t>
            </a:r>
          </a:p>
        </p:txBody>
      </p:sp>
      <p:sp>
        <p:nvSpPr>
          <p:cNvPr id="41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300211" y="2097681"/>
            <a:ext cx="10815464" cy="32991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AU" dirty="0"/>
              <a:t>Body copy (20pt, Arial) </a:t>
            </a:r>
          </a:p>
          <a:p>
            <a:endParaRPr lang="en-AU" dirty="0"/>
          </a:p>
          <a:p>
            <a:endParaRPr lang="en-AU" dirty="0"/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5267" y="6373900"/>
            <a:ext cx="1267288" cy="368735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0" y="6006108"/>
            <a:ext cx="12192000" cy="870942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0967" y="6298367"/>
            <a:ext cx="1267288" cy="368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5956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lide copy_textur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867" y="6397304"/>
            <a:ext cx="1267288" cy="368735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219075" y="85725"/>
            <a:ext cx="2771775" cy="1162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06060" y="978761"/>
            <a:ext cx="7451725" cy="4664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AU" dirty="0"/>
              <a:t>SUB HEADING (24PT, UPPER CASE)</a:t>
            </a:r>
            <a:endParaRPr lang="en-US" dirty="0"/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306060" y="326309"/>
            <a:ext cx="7452026" cy="7369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00" b="1" baseline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dirty="0"/>
              <a:t>HEADING (42PT, UPPER CASE)</a:t>
            </a:r>
          </a:p>
        </p:txBody>
      </p:sp>
      <p:sp>
        <p:nvSpPr>
          <p:cNvPr id="40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306060" y="1729723"/>
            <a:ext cx="10809615" cy="401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baseline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AU" dirty="0"/>
              <a:t>INTRO HEADING 1 (20PT, ARIAL NARROW, UPPER CASE)</a:t>
            </a:r>
          </a:p>
        </p:txBody>
      </p:sp>
      <p:sp>
        <p:nvSpPr>
          <p:cNvPr id="41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300211" y="2097681"/>
            <a:ext cx="10815464" cy="385358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AU" dirty="0"/>
              <a:t>Body copy (20pt, Arial) 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9993085" y="-19049"/>
            <a:ext cx="123825" cy="11909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5267" y="6373900"/>
            <a:ext cx="1267288" cy="368735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914" y="6404379"/>
            <a:ext cx="1267288" cy="368735"/>
          </a:xfrm>
          <a:prstGeom prst="rect">
            <a:avLst/>
          </a:prstGeom>
        </p:spPr>
      </p:pic>
      <p:sp>
        <p:nvSpPr>
          <p:cNvPr id="21" name="Isosceles Triangle 20"/>
          <p:cNvSpPr/>
          <p:nvPr userDrawn="1"/>
        </p:nvSpPr>
        <p:spPr>
          <a:xfrm rot="16200000" flipH="1">
            <a:off x="8957587" y="-680357"/>
            <a:ext cx="2562223" cy="3884848"/>
          </a:xfrm>
          <a:prstGeom prst="triangle">
            <a:avLst>
              <a:gd name="adj" fmla="val 0"/>
            </a:avLst>
          </a:prstGeom>
          <a:blipFill dpi="0" rotWithShape="0">
            <a:blip r:embed="rId3"/>
            <a:srcRect/>
            <a:tile tx="762000" ty="0" sx="100000" sy="100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2459" y="6329169"/>
            <a:ext cx="1262009" cy="3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4648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lide copy_texture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867" y="6397304"/>
            <a:ext cx="1267288" cy="368735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219075" y="85725"/>
            <a:ext cx="2771775" cy="1162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06060" y="978761"/>
            <a:ext cx="7451725" cy="4664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AU" dirty="0"/>
              <a:t>SUB HEADING (24PT, UPPER CASE)</a:t>
            </a:r>
            <a:endParaRPr lang="en-US" dirty="0"/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306060" y="326309"/>
            <a:ext cx="7452026" cy="7369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00" b="1" baseline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dirty="0"/>
              <a:t>HEADING (42PT, UPPER CASE)</a:t>
            </a:r>
          </a:p>
        </p:txBody>
      </p:sp>
      <p:sp>
        <p:nvSpPr>
          <p:cNvPr id="40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306060" y="1729723"/>
            <a:ext cx="10809615" cy="401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baseline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AU" dirty="0"/>
              <a:t>INTRO HEADING 1 (20PT, ARIAL NARROW, UPPER CASE)</a:t>
            </a:r>
          </a:p>
        </p:txBody>
      </p:sp>
      <p:sp>
        <p:nvSpPr>
          <p:cNvPr id="41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300211" y="2097681"/>
            <a:ext cx="10815464" cy="385358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AU" dirty="0"/>
              <a:t>Body copy (20pt, Arial) </a:t>
            </a:r>
          </a:p>
          <a:p>
            <a:endParaRPr lang="en-AU" dirty="0"/>
          </a:p>
          <a:p>
            <a:endParaRPr lang="en-AU" dirty="0"/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5267" y="6373900"/>
            <a:ext cx="1267288" cy="368735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914" y="6404379"/>
            <a:ext cx="1267288" cy="368735"/>
          </a:xfrm>
          <a:prstGeom prst="rect">
            <a:avLst/>
          </a:prstGeom>
        </p:spPr>
      </p:pic>
      <p:sp>
        <p:nvSpPr>
          <p:cNvPr id="21" name="Isosceles Triangle 20"/>
          <p:cNvSpPr/>
          <p:nvPr userDrawn="1"/>
        </p:nvSpPr>
        <p:spPr>
          <a:xfrm rot="16200000" flipV="1">
            <a:off x="558815" y="4317983"/>
            <a:ext cx="2000250" cy="3117884"/>
          </a:xfrm>
          <a:prstGeom prst="triangle">
            <a:avLst>
              <a:gd name="adj" fmla="val 0"/>
            </a:avLst>
          </a:prstGeom>
          <a:blipFill dpi="0" rotWithShape="0">
            <a:blip r:embed="rId3"/>
            <a:srcRect/>
            <a:tile tx="762000" ty="0" sx="50000" sy="50000" flip="none" algn="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Freeform 24"/>
          <p:cNvSpPr/>
          <p:nvPr userDrawn="1"/>
        </p:nvSpPr>
        <p:spPr>
          <a:xfrm flipH="1">
            <a:off x="-1" y="4876800"/>
            <a:ext cx="1176335" cy="1962472"/>
          </a:xfrm>
          <a:custGeom>
            <a:avLst/>
            <a:gdLst>
              <a:gd name="connsiteX0" fmla="*/ 0 w 1485900"/>
              <a:gd name="connsiteY0" fmla="*/ 0 h 6877050"/>
              <a:gd name="connsiteX1" fmla="*/ 1485900 w 1485900"/>
              <a:gd name="connsiteY1" fmla="*/ 19050 h 6877050"/>
              <a:gd name="connsiteX2" fmla="*/ 1485900 w 1485900"/>
              <a:gd name="connsiteY2" fmla="*/ 6877050 h 6877050"/>
              <a:gd name="connsiteX3" fmla="*/ 1457325 w 1485900"/>
              <a:gd name="connsiteY3" fmla="*/ 6858000 h 6877050"/>
              <a:gd name="connsiteX4" fmla="*/ 0 w 1485900"/>
              <a:gd name="connsiteY4" fmla="*/ 0 h 6877050"/>
              <a:gd name="connsiteX0" fmla="*/ 0 w 1485900"/>
              <a:gd name="connsiteY0" fmla="*/ 0 h 6877050"/>
              <a:gd name="connsiteX1" fmla="*/ 1485900 w 1485900"/>
              <a:gd name="connsiteY1" fmla="*/ 19050 h 6877050"/>
              <a:gd name="connsiteX2" fmla="*/ 1485900 w 1485900"/>
              <a:gd name="connsiteY2" fmla="*/ 6877050 h 6877050"/>
              <a:gd name="connsiteX3" fmla="*/ 1438275 w 1485900"/>
              <a:gd name="connsiteY3" fmla="*/ 6858000 h 6877050"/>
              <a:gd name="connsiteX4" fmla="*/ 0 w 1485900"/>
              <a:gd name="connsiteY4" fmla="*/ 0 h 6877050"/>
              <a:gd name="connsiteX0" fmla="*/ 0 w 1485900"/>
              <a:gd name="connsiteY0" fmla="*/ 0 h 6886575"/>
              <a:gd name="connsiteX1" fmla="*/ 1485900 w 1485900"/>
              <a:gd name="connsiteY1" fmla="*/ 19050 h 6886575"/>
              <a:gd name="connsiteX2" fmla="*/ 1485900 w 1485900"/>
              <a:gd name="connsiteY2" fmla="*/ 6877050 h 6886575"/>
              <a:gd name="connsiteX3" fmla="*/ 1438275 w 1485900"/>
              <a:gd name="connsiteY3" fmla="*/ 6886575 h 6886575"/>
              <a:gd name="connsiteX4" fmla="*/ 0 w 1485900"/>
              <a:gd name="connsiteY4" fmla="*/ 0 h 6886575"/>
              <a:gd name="connsiteX0" fmla="*/ 0 w 1495425"/>
              <a:gd name="connsiteY0" fmla="*/ 1417188 h 8303763"/>
              <a:gd name="connsiteX1" fmla="*/ 1495425 w 1495425"/>
              <a:gd name="connsiteY1" fmla="*/ 0 h 8303763"/>
              <a:gd name="connsiteX2" fmla="*/ 1485900 w 1495425"/>
              <a:gd name="connsiteY2" fmla="*/ 8294238 h 8303763"/>
              <a:gd name="connsiteX3" fmla="*/ 1438275 w 1495425"/>
              <a:gd name="connsiteY3" fmla="*/ 8303763 h 8303763"/>
              <a:gd name="connsiteX4" fmla="*/ 0 w 1495425"/>
              <a:gd name="connsiteY4" fmla="*/ 1417188 h 8303763"/>
              <a:gd name="connsiteX0" fmla="*/ 0 w 1543050"/>
              <a:gd name="connsiteY0" fmla="*/ 1159402 h 8303763"/>
              <a:gd name="connsiteX1" fmla="*/ 1543050 w 1543050"/>
              <a:gd name="connsiteY1" fmla="*/ 0 h 8303763"/>
              <a:gd name="connsiteX2" fmla="*/ 1533525 w 1543050"/>
              <a:gd name="connsiteY2" fmla="*/ 8294238 h 8303763"/>
              <a:gd name="connsiteX3" fmla="*/ 1485900 w 1543050"/>
              <a:gd name="connsiteY3" fmla="*/ 8303763 h 8303763"/>
              <a:gd name="connsiteX4" fmla="*/ 0 w 1543050"/>
              <a:gd name="connsiteY4" fmla="*/ 1159402 h 8303763"/>
              <a:gd name="connsiteX0" fmla="*/ 0 w 1533525"/>
              <a:gd name="connsiteY0" fmla="*/ 2374680 h 9519041"/>
              <a:gd name="connsiteX1" fmla="*/ 1514475 w 1533525"/>
              <a:gd name="connsiteY1" fmla="*/ 0 h 9519041"/>
              <a:gd name="connsiteX2" fmla="*/ 1533525 w 1533525"/>
              <a:gd name="connsiteY2" fmla="*/ 9509516 h 9519041"/>
              <a:gd name="connsiteX3" fmla="*/ 1485900 w 1533525"/>
              <a:gd name="connsiteY3" fmla="*/ 9519041 h 9519041"/>
              <a:gd name="connsiteX4" fmla="*/ 0 w 1533525"/>
              <a:gd name="connsiteY4" fmla="*/ 2374680 h 9519041"/>
              <a:gd name="connsiteX0" fmla="*/ 0 w 1362075"/>
              <a:gd name="connsiteY0" fmla="*/ 54604 h 9519041"/>
              <a:gd name="connsiteX1" fmla="*/ 1343025 w 1362075"/>
              <a:gd name="connsiteY1" fmla="*/ 0 h 9519041"/>
              <a:gd name="connsiteX2" fmla="*/ 1362075 w 1362075"/>
              <a:gd name="connsiteY2" fmla="*/ 9509516 h 9519041"/>
              <a:gd name="connsiteX3" fmla="*/ 1314450 w 1362075"/>
              <a:gd name="connsiteY3" fmla="*/ 9519041 h 9519041"/>
              <a:gd name="connsiteX4" fmla="*/ 0 w 1362075"/>
              <a:gd name="connsiteY4" fmla="*/ 54604 h 9519041"/>
              <a:gd name="connsiteX0" fmla="*/ 0 w 2209800"/>
              <a:gd name="connsiteY0" fmla="*/ 17777 h 9519041"/>
              <a:gd name="connsiteX1" fmla="*/ 2190750 w 2209800"/>
              <a:gd name="connsiteY1" fmla="*/ 0 h 9519041"/>
              <a:gd name="connsiteX2" fmla="*/ 2209800 w 2209800"/>
              <a:gd name="connsiteY2" fmla="*/ 9509516 h 9519041"/>
              <a:gd name="connsiteX3" fmla="*/ 2162175 w 2209800"/>
              <a:gd name="connsiteY3" fmla="*/ 9519041 h 9519041"/>
              <a:gd name="connsiteX4" fmla="*/ 0 w 2209800"/>
              <a:gd name="connsiteY4" fmla="*/ 17777 h 9519041"/>
              <a:gd name="connsiteX0" fmla="*/ 0 w 2209800"/>
              <a:gd name="connsiteY0" fmla="*/ 17777 h 9519041"/>
              <a:gd name="connsiteX1" fmla="*/ 2190750 w 2209800"/>
              <a:gd name="connsiteY1" fmla="*/ 0 h 9519041"/>
              <a:gd name="connsiteX2" fmla="*/ 2209800 w 2209800"/>
              <a:gd name="connsiteY2" fmla="*/ 9509516 h 9519041"/>
              <a:gd name="connsiteX3" fmla="*/ 2200275 w 2209800"/>
              <a:gd name="connsiteY3" fmla="*/ 9519041 h 9519041"/>
              <a:gd name="connsiteX4" fmla="*/ 0 w 2209800"/>
              <a:gd name="connsiteY4" fmla="*/ 17777 h 9519041"/>
              <a:gd name="connsiteX0" fmla="*/ 0 w 2209800"/>
              <a:gd name="connsiteY0" fmla="*/ 17777 h 9592694"/>
              <a:gd name="connsiteX1" fmla="*/ 2190750 w 2209800"/>
              <a:gd name="connsiteY1" fmla="*/ 0 h 9592694"/>
              <a:gd name="connsiteX2" fmla="*/ 2209800 w 2209800"/>
              <a:gd name="connsiteY2" fmla="*/ 9509516 h 9592694"/>
              <a:gd name="connsiteX3" fmla="*/ 2200275 w 2209800"/>
              <a:gd name="connsiteY3" fmla="*/ 9592694 h 9592694"/>
              <a:gd name="connsiteX4" fmla="*/ 0 w 2209800"/>
              <a:gd name="connsiteY4" fmla="*/ 17777 h 9592694"/>
              <a:gd name="connsiteX0" fmla="*/ 0 w 2279073"/>
              <a:gd name="connsiteY0" fmla="*/ 4906456 h 9592694"/>
              <a:gd name="connsiteX1" fmla="*/ 2260023 w 2279073"/>
              <a:gd name="connsiteY1" fmla="*/ 0 h 9592694"/>
              <a:gd name="connsiteX2" fmla="*/ 2279073 w 2279073"/>
              <a:gd name="connsiteY2" fmla="*/ 9509516 h 9592694"/>
              <a:gd name="connsiteX3" fmla="*/ 2269548 w 2279073"/>
              <a:gd name="connsiteY3" fmla="*/ 9592694 h 9592694"/>
              <a:gd name="connsiteX4" fmla="*/ 0 w 2279073"/>
              <a:gd name="connsiteY4" fmla="*/ 4906456 h 9592694"/>
              <a:gd name="connsiteX0" fmla="*/ 0 w 1711036"/>
              <a:gd name="connsiteY0" fmla="*/ 3742485 h 9592694"/>
              <a:gd name="connsiteX1" fmla="*/ 1691986 w 1711036"/>
              <a:gd name="connsiteY1" fmla="*/ 0 h 9592694"/>
              <a:gd name="connsiteX2" fmla="*/ 1711036 w 1711036"/>
              <a:gd name="connsiteY2" fmla="*/ 9509516 h 9592694"/>
              <a:gd name="connsiteX3" fmla="*/ 1701511 w 1711036"/>
              <a:gd name="connsiteY3" fmla="*/ 9592694 h 9592694"/>
              <a:gd name="connsiteX4" fmla="*/ 0 w 1711036"/>
              <a:gd name="connsiteY4" fmla="*/ 3742485 h 9592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11036" h="9592694">
                <a:moveTo>
                  <a:pt x="0" y="3742485"/>
                </a:moveTo>
                <a:lnTo>
                  <a:pt x="1691986" y="0"/>
                </a:lnTo>
                <a:lnTo>
                  <a:pt x="1711036" y="9509516"/>
                </a:lnTo>
                <a:lnTo>
                  <a:pt x="1701511" y="9592694"/>
                </a:lnTo>
                <a:lnTo>
                  <a:pt x="0" y="3742485"/>
                </a:lnTo>
                <a:close/>
              </a:path>
            </a:pathLst>
          </a:custGeom>
          <a:solidFill>
            <a:srgbClr val="006CAB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2459" y="6329169"/>
            <a:ext cx="1262009" cy="3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509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3193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31" r:id="rId2"/>
    <p:sldLayoutId id="2147483932" r:id="rId3"/>
    <p:sldLayoutId id="2147483933" r:id="rId4"/>
    <p:sldLayoutId id="2147483913" r:id="rId5"/>
    <p:sldLayoutId id="2147483934" r:id="rId6"/>
    <p:sldLayoutId id="2147483923" r:id="rId7"/>
    <p:sldLayoutId id="2147483919" r:id="rId8"/>
    <p:sldLayoutId id="2147483920" r:id="rId9"/>
    <p:sldLayoutId id="2147483918" r:id="rId10"/>
    <p:sldLayoutId id="2147483915" r:id="rId11"/>
    <p:sldLayoutId id="2147483935" r:id="rId12"/>
    <p:sldLayoutId id="2147483916" r:id="rId13"/>
    <p:sldLayoutId id="2147483921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>
          <a:solidFill>
            <a:schemeClr val="bg1"/>
          </a:solidFill>
          <a:latin typeface="Arial Narrow" charset="0"/>
          <a:ea typeface="Arial Narrow" charset="0"/>
          <a:cs typeface="Arial Narrow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/>
        <a:buNone/>
        <a:defRPr sz="2200" kern="1200">
          <a:solidFill>
            <a:schemeClr val="bg1"/>
          </a:solidFill>
          <a:latin typeface="Arial Narrow" charset="0"/>
          <a:ea typeface="Arial Narrow" charset="0"/>
          <a:cs typeface="Arial Narrow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5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gine.online/news/eu-maritime-emissions-rose-in-2025-as-more-ships-entered-mrv-reporting-scope-7e85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hyperlink" Target="https://maritime-professionals.com/understanding-the-2023-imo-hgh-strategy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artsila.com/insights/article/ammonia-fuel-for-thought-in-our-deep-dive" TargetMode="External"/><Relationship Id="rId2" Type="http://schemas.openxmlformats.org/officeDocument/2006/relationships/hyperlink" Target="https://mr-marinegroup.com/methanol-fuel-advantages-and-disadvantages/" TargetMode="Externa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marineinsight.com/introduction-to-ammonia-as-a-potential-marine-fuel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arineinspection.app/blog/alternative-marine-fuels-lng-methanol-ammonia-hydrogen-shipping" TargetMode="External"/><Relationship Id="rId2" Type="http://schemas.openxmlformats.org/officeDocument/2006/relationships/hyperlink" Target="https://pubs.acs.org/acsodf/article/8/47/44586/341370/Upgrading-Pyrolysis-Bio-Oil-through-Esterification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jpg"/><Relationship Id="rId5" Type="http://schemas.openxmlformats.org/officeDocument/2006/relationships/image" Target="../media/image17.png"/><Relationship Id="rId4" Type="http://schemas.openxmlformats.org/officeDocument/2006/relationships/hyperlink" Target="https://jopr.mpob.gov.my/pilot-scale-biochar-production-from-palm-kernel-shell-pks-in-a-fixed-bed-allothermal-reactor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2772443322000186" TargetMode="External"/><Relationship Id="rId2" Type="http://schemas.openxmlformats.org/officeDocument/2006/relationships/hyperlink" Target="https://www.sciencedirect.com/science/article/pii/S0378382016301047" TargetMode="Externa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pmc.ncbi.nlm.nih.gov/articles/PMC13502472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209580992500606X" TargetMode="External"/><Relationship Id="rId2" Type="http://schemas.openxmlformats.org/officeDocument/2006/relationships/hyperlink" Target="https://www.jalonzeolite.com/how-do-molecular-sieves-work/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hyperlink" Target="https://pmc.ncbi.nlm.nih.gov/articles/PMC13502472/" TargetMode="External"/><Relationship Id="rId4" Type="http://schemas.openxmlformats.org/officeDocument/2006/relationships/hyperlink" Target="https://www.sciencedirect.com/science/article/pii/S1387181121000111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mc.ncbi.nlm.nih.gov/articles/PMC12347235/" TargetMode="External"/><Relationship Id="rId2" Type="http://schemas.openxmlformats.org/officeDocument/2006/relationships/hyperlink" Target="https://www.mdpi.com/1996-1073/5/8/2683" TargetMode="Externa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pubs.acs.org/iecred/article/50/3/1171/1219556/Kinetics-of-Catalytic-Esterification-of-Propionic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omepages.ed.ac.uk/jwp/Chemeng/azeotrope/hetero.html" TargetMode="Externa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7/s10553-025-01876-1" TargetMode="External"/><Relationship Id="rId2" Type="http://schemas.openxmlformats.org/officeDocument/2006/relationships/hyperlink" Target="https://onlinelibrary.wiley.com/doi/10.1155/2017/8359238" TargetMode="Externa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doi.org/10.1021/acs.energyfuels.5c06144" TargetMode="External"/><Relationship Id="rId4" Type="http://schemas.openxmlformats.org/officeDocument/2006/relationships/hyperlink" Target="https://doi.org/10.1021/ef8009266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21/ef8009266" TargetMode="External"/><Relationship Id="rId2" Type="http://schemas.openxmlformats.org/officeDocument/2006/relationships/hyperlink" Target="https://doi.org/10.1007/s10553-025-01876-1" TargetMode="Externa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doi.org/10.1021/acsomega.3c0500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457741" y="2905251"/>
            <a:ext cx="6924366" cy="1417418"/>
          </a:xfrm>
        </p:spPr>
        <p:txBody>
          <a:bodyPr/>
          <a:lstStyle/>
          <a:p>
            <a:r>
              <a:rPr lang="en-AU" b="1" dirty="0"/>
              <a:t>NAME: </a:t>
            </a:r>
            <a:r>
              <a:rPr lang="en-AU" dirty="0"/>
              <a:t>Goh Su Yuin</a:t>
            </a:r>
            <a:br>
              <a:rPr lang="en-AU" dirty="0"/>
            </a:br>
            <a:r>
              <a:rPr lang="en-AU" b="1" dirty="0"/>
              <a:t>STUDENT ID: </a:t>
            </a:r>
            <a:r>
              <a:rPr lang="en-AU" dirty="0"/>
              <a:t>33521301</a:t>
            </a:r>
            <a:br>
              <a:rPr lang="en-AU" dirty="0"/>
            </a:br>
            <a:r>
              <a:rPr lang="en-AU" b="1" dirty="0"/>
              <a:t>PROJECT NAME: </a:t>
            </a:r>
            <a:r>
              <a:rPr lang="en-US" dirty="0"/>
              <a:t>Valorization of Palm Kernel Shell-Derived Bio-Oil via One-Pot Esterification and Azeotropic Distillation for Marine Fuel Blending</a:t>
            </a:r>
          </a:p>
          <a:p>
            <a:endParaRPr lang="en-AU" sz="32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370183" y="1533767"/>
            <a:ext cx="7943259" cy="1180231"/>
          </a:xfrm>
        </p:spPr>
        <p:txBody>
          <a:bodyPr/>
          <a:lstStyle/>
          <a:p>
            <a:r>
              <a:rPr lang="en-AU" sz="5400" dirty="0"/>
              <a:t>FYP A Interview (Week 8)</a:t>
            </a:r>
          </a:p>
        </p:txBody>
      </p:sp>
      <p:sp>
        <p:nvSpPr>
          <p:cNvPr id="6" name="Google Shape;150;p1">
            <a:extLst>
              <a:ext uri="{FF2B5EF4-FFF2-40B4-BE49-F238E27FC236}">
                <a16:creationId xmlns:a16="http://schemas.microsoft.com/office/drawing/2014/main" id="{74D8DEAB-B68D-4A36-A026-1A182E885BFA}"/>
              </a:ext>
            </a:extLst>
          </p:cNvPr>
          <p:cNvSpPr/>
          <p:nvPr/>
        </p:nvSpPr>
        <p:spPr>
          <a:xfrm>
            <a:off x="370183" y="198057"/>
            <a:ext cx="3879542" cy="11802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151;p1">
            <a:extLst>
              <a:ext uri="{FF2B5EF4-FFF2-40B4-BE49-F238E27FC236}">
                <a16:creationId xmlns:a16="http://schemas.microsoft.com/office/drawing/2014/main" id="{0B01A9B3-F26D-403B-95F0-065A2AB1839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4509" t="38095" r="25848" b="41919"/>
          <a:stretch/>
        </p:blipFill>
        <p:spPr>
          <a:xfrm>
            <a:off x="1012096" y="967167"/>
            <a:ext cx="873760" cy="246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52;p1">
            <a:extLst>
              <a:ext uri="{FF2B5EF4-FFF2-40B4-BE49-F238E27FC236}">
                <a16:creationId xmlns:a16="http://schemas.microsoft.com/office/drawing/2014/main" id="{D9C69F33-B8DC-49B9-9337-A8DC8AD492C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4368" t="29011" r="21724" b="32612"/>
          <a:stretch/>
        </p:blipFill>
        <p:spPr>
          <a:xfrm>
            <a:off x="457741" y="345502"/>
            <a:ext cx="1945005" cy="622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Google Shape;153;p1">
            <a:extLst>
              <a:ext uri="{FF2B5EF4-FFF2-40B4-BE49-F238E27FC236}">
                <a16:creationId xmlns:a16="http://schemas.microsoft.com/office/drawing/2014/main" id="{FE5122DE-86DF-4211-A32E-9B395A5A5803}"/>
              </a:ext>
            </a:extLst>
          </p:cNvPr>
          <p:cNvCxnSpPr/>
          <p:nvPr/>
        </p:nvCxnSpPr>
        <p:spPr>
          <a:xfrm>
            <a:off x="2564777" y="345502"/>
            <a:ext cx="0" cy="86804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6BB4DD2B-C88F-4CD1-A595-6D56E285089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4901" t="32358" r="15890" b="28755"/>
          <a:stretch/>
        </p:blipFill>
        <p:spPr>
          <a:xfrm>
            <a:off x="2543566" y="240601"/>
            <a:ext cx="2451426" cy="1101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30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06060" y="176817"/>
            <a:ext cx="11190722" cy="736956"/>
          </a:xfrm>
        </p:spPr>
        <p:txBody>
          <a:bodyPr/>
          <a:lstStyle/>
          <a:p>
            <a:r>
              <a:rPr lang="en-AU" dirty="0"/>
              <a:t>INTRODUCTION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7DB2F84F-353D-442C-9F2B-B2806B028886}"/>
              </a:ext>
            </a:extLst>
          </p:cNvPr>
          <p:cNvSpPr txBox="1">
            <a:spLocks/>
          </p:cNvSpPr>
          <p:nvPr/>
        </p:nvSpPr>
        <p:spPr>
          <a:xfrm>
            <a:off x="80029" y="6024187"/>
            <a:ext cx="9958706" cy="76640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Arial Narrow" panose="020B0606020202030204" pitchFamily="34" charset="0"/>
                <a:ea typeface="Arial Narrow" charset="0"/>
                <a:cs typeface="Arial Narrow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600" b="1" u="sng" dirty="0">
                <a:solidFill>
                  <a:schemeClr val="bg1"/>
                </a:solidFill>
              </a:rPr>
              <a:t>References:</a:t>
            </a:r>
          </a:p>
          <a:p>
            <a:pPr algn="just"/>
            <a:r>
              <a:rPr lang="en-US" sz="500" dirty="0"/>
              <a:t>[1] </a:t>
            </a:r>
            <a:r>
              <a:rPr lang="en-US" sz="500" dirty="0">
                <a:hlinkClick r:id="rId3"/>
              </a:rPr>
              <a:t>https://www.engine.online/news/eu-maritime-emissions-rose-in-2025-as-more-ships-entered-mrv-reporting-scope-7e85</a:t>
            </a:r>
            <a:endParaRPr lang="en-US" sz="500" dirty="0"/>
          </a:p>
          <a:p>
            <a:pPr algn="just"/>
            <a:r>
              <a:rPr lang="en-US" sz="500" dirty="0"/>
              <a:t>[2] </a:t>
            </a:r>
            <a:r>
              <a:rPr lang="en-US" sz="500" dirty="0">
                <a:hlinkClick r:id="rId4"/>
              </a:rPr>
              <a:t>https://maritime-professionals.com/understanding-the-2023-imo-hgh-strategy/</a:t>
            </a:r>
            <a:endParaRPr lang="en-US" sz="500" dirty="0"/>
          </a:p>
          <a:p>
            <a:pPr algn="just"/>
            <a:r>
              <a:rPr lang="en-US" sz="500" dirty="0"/>
              <a:t>[3] https://safety4sea.com/icct-global-ghg-emissions-from-shipping-2016-2023/</a:t>
            </a:r>
          </a:p>
          <a:p>
            <a:pPr algn="just"/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E6575D-650F-EB14-E64D-6C683E00248A}"/>
              </a:ext>
            </a:extLst>
          </p:cNvPr>
          <p:cNvSpPr txBox="1"/>
          <p:nvPr/>
        </p:nvSpPr>
        <p:spPr>
          <a:xfrm>
            <a:off x="595057" y="1105317"/>
            <a:ext cx="108163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Maritime industry heavily dependent on fossil fuels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Total greenhouse gas emissions (GHG) rose by 2.1% in 2025 [1]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2347088-E60C-C579-B9C8-91B93BB553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7350" y="1910158"/>
            <a:ext cx="4436237" cy="260292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978806E-CAE7-6FE3-F7B9-DAF71B254BE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9995" t="6439" r="13413" b="3393"/>
          <a:stretch>
            <a:fillRect/>
          </a:stretch>
        </p:blipFill>
        <p:spPr>
          <a:xfrm>
            <a:off x="6373091" y="2174710"/>
            <a:ext cx="4149436" cy="241765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DBB7F09A-E953-C4E4-1C72-D051140C00A9}"/>
              </a:ext>
            </a:extLst>
          </p:cNvPr>
          <p:cNvSpPr txBox="1"/>
          <p:nvPr/>
        </p:nvSpPr>
        <p:spPr>
          <a:xfrm>
            <a:off x="6096000" y="4580751"/>
            <a:ext cx="450344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i="1" dirty="0"/>
              <a:t>Figure 2: 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International Maritime Organization (IMO) GHG Strategy targets [2]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5403F1-8386-7D98-5F03-A7EB4790AAAE}"/>
              </a:ext>
            </a:extLst>
          </p:cNvPr>
          <p:cNvSpPr txBox="1"/>
          <p:nvPr/>
        </p:nvSpPr>
        <p:spPr>
          <a:xfrm>
            <a:off x="1475541" y="4566388"/>
            <a:ext cx="358384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i="1" dirty="0"/>
              <a:t>Figure 1: 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CO2 emissions by global maritime class [3]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7F6FCC-A768-75E2-356F-1E9EE8F59A60}"/>
              </a:ext>
            </a:extLst>
          </p:cNvPr>
          <p:cNvSpPr txBox="1"/>
          <p:nvPr/>
        </p:nvSpPr>
        <p:spPr>
          <a:xfrm>
            <a:off x="2125698" y="5225524"/>
            <a:ext cx="75514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Growing need for alternative and lower carbon marine fuels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2094C71-D3A9-21B7-0F6D-D71408122CCF}"/>
              </a:ext>
            </a:extLst>
          </p:cNvPr>
          <p:cNvSpPr/>
          <p:nvPr/>
        </p:nvSpPr>
        <p:spPr>
          <a:xfrm>
            <a:off x="8357787" y="2174711"/>
            <a:ext cx="1555334" cy="87613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605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DF917-75EB-F08C-0893-D72811718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2">
            <a:extLst>
              <a:ext uri="{FF2B5EF4-FFF2-40B4-BE49-F238E27FC236}">
                <a16:creationId xmlns:a16="http://schemas.microsoft.com/office/drawing/2014/main" id="{DBFCCC64-1AD5-63E5-65BC-3957D333ABED}"/>
              </a:ext>
            </a:extLst>
          </p:cNvPr>
          <p:cNvSpPr/>
          <p:nvPr/>
        </p:nvSpPr>
        <p:spPr>
          <a:xfrm>
            <a:off x="457200" y="2051630"/>
            <a:ext cx="5440680" cy="146304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EF1C0184-AEF8-C89C-3712-3AD0CD2A0D41}"/>
              </a:ext>
            </a:extLst>
          </p:cNvPr>
          <p:cNvSpPr/>
          <p:nvPr/>
        </p:nvSpPr>
        <p:spPr>
          <a:xfrm>
            <a:off x="6263640" y="2051630"/>
            <a:ext cx="5440680" cy="146304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169D286D-4001-4EA7-D07C-77AFEF36642E}"/>
              </a:ext>
            </a:extLst>
          </p:cNvPr>
          <p:cNvSpPr txBox="1">
            <a:spLocks/>
          </p:cNvSpPr>
          <p:nvPr/>
        </p:nvSpPr>
        <p:spPr>
          <a:xfrm>
            <a:off x="80028" y="6024187"/>
            <a:ext cx="9795491" cy="209568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Arial Narrow" panose="020B0606020202030204" pitchFamily="34" charset="0"/>
                <a:ea typeface="Arial Narrow" charset="0"/>
                <a:cs typeface="Arial Narrow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600" b="1" u="sng" dirty="0">
                <a:solidFill>
                  <a:schemeClr val="bg1"/>
                </a:solidFill>
              </a:rPr>
              <a:t>References: </a:t>
            </a:r>
          </a:p>
          <a:p>
            <a:pPr algn="just"/>
            <a:r>
              <a:rPr lang="en-AU" sz="600" i="1" dirty="0">
                <a:solidFill>
                  <a:schemeClr val="bg1"/>
                </a:solidFill>
              </a:rPr>
              <a:t>[1] </a:t>
            </a:r>
            <a:r>
              <a:rPr lang="en-AU" sz="600" i="1" dirty="0">
                <a:solidFill>
                  <a:schemeClr val="bg1"/>
                </a:solidFill>
                <a:hlinkClick r:id="rId2"/>
              </a:rPr>
              <a:t>https://mr-marinegroup.com/methanol-fuel-advantages-and-disadvantages/</a:t>
            </a:r>
            <a:endParaRPr lang="en-AU" sz="600" i="1" dirty="0">
              <a:solidFill>
                <a:schemeClr val="bg1"/>
              </a:solidFill>
            </a:endParaRPr>
          </a:p>
          <a:p>
            <a:pPr algn="just"/>
            <a:r>
              <a:rPr lang="en-AU" sz="600" i="1" dirty="0">
                <a:solidFill>
                  <a:schemeClr val="bg1"/>
                </a:solidFill>
              </a:rPr>
              <a:t>[2] </a:t>
            </a:r>
            <a:r>
              <a:rPr lang="en-AU" sz="600" i="1" dirty="0">
                <a:solidFill>
                  <a:schemeClr val="bg1"/>
                </a:solidFill>
                <a:hlinkClick r:id="rId3"/>
              </a:rPr>
              <a:t>https://www.wartsila.com/insights/article/ammonia-fuel-for-thought-in-our-deep-dive</a:t>
            </a:r>
            <a:endParaRPr lang="en-AU" sz="1600" i="1" dirty="0">
              <a:solidFill>
                <a:schemeClr val="bg1"/>
              </a:solidFill>
            </a:endParaRPr>
          </a:p>
          <a:p>
            <a:pPr algn="just"/>
            <a:r>
              <a:rPr lang="en-AU" sz="1600" i="1" dirty="0">
                <a:solidFill>
                  <a:schemeClr val="bg1"/>
                </a:solidFill>
              </a:rPr>
              <a:t>[3] </a:t>
            </a:r>
            <a:r>
              <a:rPr lang="en-AU" sz="1600" i="1" dirty="0">
                <a:solidFill>
                  <a:schemeClr val="bg1"/>
                </a:solidFill>
                <a:hlinkClick r:id="rId4"/>
              </a:rPr>
              <a:t>https://www.marineinsight.com/introduction-to-ammonia-as-a-potential-marine-fuel/</a:t>
            </a:r>
            <a:endParaRPr lang="en-AU" sz="1600" i="1" dirty="0">
              <a:solidFill>
                <a:schemeClr val="bg1"/>
              </a:solidFill>
            </a:endParaRPr>
          </a:p>
          <a:p>
            <a:pPr algn="just"/>
            <a:endParaRPr lang="en-AU" sz="1600" i="1" dirty="0">
              <a:solidFill>
                <a:schemeClr val="bg1"/>
              </a:solidFill>
            </a:endParaRP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4A29943-91CA-7308-9E73-95C85E89CE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3192" y="223567"/>
            <a:ext cx="7452026" cy="736956"/>
          </a:xfrm>
        </p:spPr>
        <p:txBody>
          <a:bodyPr/>
          <a:lstStyle/>
          <a:p>
            <a:r>
              <a:rPr lang="en-MY" dirty="0"/>
              <a:t>EXISTING STRATEGIES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763AEFA-B0A1-40BC-6262-EFA1F1B03093}"/>
              </a:ext>
            </a:extLst>
          </p:cNvPr>
          <p:cNvSpPr txBox="1"/>
          <p:nvPr/>
        </p:nvSpPr>
        <p:spPr>
          <a:xfrm>
            <a:off x="457200" y="1423081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common alternative fuels for decreasing maritime GHG emissions:</a:t>
            </a:r>
            <a:endParaRPr lang="en-US" sz="14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A770F452-0FCE-B14E-B219-F12CB6B37075}"/>
              </a:ext>
            </a:extLst>
          </p:cNvPr>
          <p:cNvSpPr txBox="1"/>
          <p:nvPr/>
        </p:nvSpPr>
        <p:spPr>
          <a:xfrm>
            <a:off x="637721" y="2147642"/>
            <a:ext cx="5260159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05347C"/>
                </a:solidFill>
                <a:latin typeface="Arial" pitchFamily="34" charset="0"/>
                <a:cs typeface="Arial" pitchFamily="34" charset="-120"/>
              </a:rPr>
              <a:t>Methanol</a:t>
            </a:r>
          </a:p>
          <a:p>
            <a:pPr marL="0" indent="0" algn="just">
              <a:buNone/>
            </a:pPr>
            <a:endParaRPr lang="en-US" sz="16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production cost [1].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energy density [1].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specific engine modifications and lubricants [1].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Toxicity and flammable concern [1].</a:t>
            </a: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AB59DE7C-55B1-C3B7-A333-9FE3F25B5EFE}"/>
              </a:ext>
            </a:extLst>
          </p:cNvPr>
          <p:cNvSpPr txBox="1"/>
          <p:nvPr/>
        </p:nvSpPr>
        <p:spPr>
          <a:xfrm>
            <a:off x="6450058" y="2147642"/>
            <a:ext cx="4566987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05347C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Ammonia</a:t>
            </a:r>
          </a:p>
          <a:p>
            <a:pPr marL="0" indent="0" algn="just">
              <a:buNone/>
            </a:pPr>
            <a:endParaRPr lang="en-US" sz="1600" b="1" dirty="0">
              <a:solidFill>
                <a:srgbClr val="05347C"/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Lower energy density [2].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specific engine modifications and lubricants [3].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Toxicity and corrosive concern [2].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Produces harmful exhaust pollutants (Nitrogen Oxides) [2].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754548-B7ED-9B44-F915-BCC663C430C9}"/>
              </a:ext>
            </a:extLst>
          </p:cNvPr>
          <p:cNvSpPr txBox="1"/>
          <p:nvPr/>
        </p:nvSpPr>
        <p:spPr>
          <a:xfrm>
            <a:off x="2183257" y="4162198"/>
            <a:ext cx="71354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E8302F"/>
                </a:solidFill>
                <a:latin typeface="Arial" pitchFamily="34" charset="0"/>
                <a:cs typeface="Arial" pitchFamily="34" charset="-120"/>
              </a:rPr>
              <a:t>Need to explore alternative fuel options</a:t>
            </a:r>
          </a:p>
        </p:txBody>
      </p:sp>
    </p:spTree>
    <p:extLst>
      <p:ext uri="{BB962C8B-B14F-4D97-AF65-F5344CB8AC3E}">
        <p14:creationId xmlns:p14="http://schemas.microsoft.com/office/powerpoint/2010/main" val="2199152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A5710-71A7-CC68-6F17-DA79C8563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77A377-20B3-5F84-74A2-98102B33E4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060" y="176817"/>
            <a:ext cx="11190722" cy="736956"/>
          </a:xfrm>
        </p:spPr>
        <p:txBody>
          <a:bodyPr/>
          <a:lstStyle/>
          <a:p>
            <a:r>
              <a:rPr lang="en-AU" dirty="0"/>
              <a:t>PROPOSED METHOD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8E0D9171-3E38-5011-3D9B-EF6E7A7B7AD3}"/>
              </a:ext>
            </a:extLst>
          </p:cNvPr>
          <p:cNvSpPr txBox="1">
            <a:spLocks/>
          </p:cNvSpPr>
          <p:nvPr/>
        </p:nvSpPr>
        <p:spPr>
          <a:xfrm>
            <a:off x="80028" y="6024187"/>
            <a:ext cx="7308323" cy="76640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Arial Narrow" panose="020B0606020202030204" pitchFamily="34" charset="0"/>
                <a:ea typeface="Arial Narrow" charset="0"/>
                <a:cs typeface="Arial Narrow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600" b="1" u="sng" dirty="0">
                <a:solidFill>
                  <a:schemeClr val="bg1"/>
                </a:solidFill>
              </a:rPr>
              <a:t>References:</a:t>
            </a:r>
          </a:p>
          <a:p>
            <a:pPr algn="just"/>
            <a:r>
              <a:rPr lang="en-AU" sz="1600" i="1" dirty="0">
                <a:solidFill>
                  <a:schemeClr val="bg1"/>
                </a:solidFill>
              </a:rPr>
              <a:t>[1] </a:t>
            </a:r>
            <a:r>
              <a:rPr lang="en-AU" sz="1600" i="1" dirty="0">
                <a:solidFill>
                  <a:schemeClr val="bg1"/>
                </a:solidFill>
                <a:hlinkClick r:id="rId2"/>
              </a:rPr>
              <a:t>https://pubs.acs.org/acsodf/article/8/47/44586/341370/Upgrading-Pyrolysis-Bio-Oil-through-Esterification</a:t>
            </a:r>
            <a:endParaRPr lang="en-AU" sz="1600" i="1" dirty="0">
              <a:solidFill>
                <a:schemeClr val="bg1"/>
              </a:solidFill>
            </a:endParaRPr>
          </a:p>
          <a:p>
            <a:pPr algn="just"/>
            <a:r>
              <a:rPr lang="en-AU" sz="800" i="1" dirty="0">
                <a:solidFill>
                  <a:schemeClr val="bg1"/>
                </a:solidFill>
              </a:rPr>
              <a:t>[3] </a:t>
            </a:r>
            <a:r>
              <a:rPr lang="en-AU" sz="800" i="1" dirty="0">
                <a:solidFill>
                  <a:schemeClr val="bg1"/>
                </a:solidFill>
                <a:hlinkClick r:id="rId3"/>
              </a:rPr>
              <a:t>https://marineinspection.app/blog/alternative-marine-fuels-lng-methanol-ammonia-hydrogen-shipping</a:t>
            </a:r>
            <a:endParaRPr lang="en-AU" sz="800" i="1" dirty="0">
              <a:solidFill>
                <a:schemeClr val="bg1"/>
              </a:solidFill>
            </a:endParaRPr>
          </a:p>
          <a:p>
            <a:pPr algn="just"/>
            <a:r>
              <a:rPr lang="en-AU" sz="1600" i="1" dirty="0">
                <a:solidFill>
                  <a:schemeClr val="bg1"/>
                </a:solidFill>
              </a:rPr>
              <a:t>[4] </a:t>
            </a:r>
            <a:r>
              <a:rPr lang="en-AU" sz="1600" i="1" dirty="0">
                <a:solidFill>
                  <a:schemeClr val="bg1"/>
                </a:solidFill>
                <a:hlinkClick r:id="rId4"/>
              </a:rPr>
              <a:t>https://jopr.mpob.gov.my/pilot-scale-biochar-production-from-palm-kernel-shell-pks-in-a-fixed-bed-allothermal-reactor/</a:t>
            </a:r>
            <a:endParaRPr lang="en-AU" sz="1600" i="1" dirty="0">
              <a:solidFill>
                <a:schemeClr val="bg1"/>
              </a:solidFill>
            </a:endParaRPr>
          </a:p>
          <a:p>
            <a:pPr algn="just"/>
            <a:endParaRPr lang="en-AU" sz="1600" i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45C647-0A63-DA56-B35F-82BCB656BA7F}"/>
              </a:ext>
            </a:extLst>
          </p:cNvPr>
          <p:cNvSpPr txBox="1"/>
          <p:nvPr/>
        </p:nvSpPr>
        <p:spPr>
          <a:xfrm>
            <a:off x="477955" y="2641518"/>
            <a:ext cx="469529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Pyrolysis converts biomass waste into: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Syngas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Pyrolysis bio-oil (PBO)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Biochar</a:t>
            </a:r>
          </a:p>
          <a:p>
            <a:pPr lvl="1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Crude PBO characteristics [1]: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High acidity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High water content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Palm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kernal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shell (PKS)-derived PBO chosen as feedstock due to its abundant biomass availability in Malaysia [4]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A6022F-73F0-B820-DD61-148A29F6BD32}"/>
              </a:ext>
            </a:extLst>
          </p:cNvPr>
          <p:cNvSpPr txBox="1"/>
          <p:nvPr/>
        </p:nvSpPr>
        <p:spPr>
          <a:xfrm>
            <a:off x="9404937" y="2379908"/>
            <a:ext cx="230910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https://</a:t>
            </a:r>
            <a:r>
              <a:rPr lang="en-US" sz="1100" dirty="0" err="1"/>
              <a:t>pyrotechenergy.com</a:t>
            </a:r>
            <a:r>
              <a:rPr lang="en-US" sz="1100" dirty="0"/>
              <a:t>/syngas/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0FD61A-E411-7D40-2941-CD6DDC9433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1645" y="3361293"/>
            <a:ext cx="2503292" cy="24907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4A5179-D7EA-EED4-C158-2F56AD75DC20}"/>
              </a:ext>
            </a:extLst>
          </p:cNvPr>
          <p:cNvSpPr txBox="1"/>
          <p:nvPr/>
        </p:nvSpPr>
        <p:spPr>
          <a:xfrm>
            <a:off x="9688708" y="5171992"/>
            <a:ext cx="250329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https://</a:t>
            </a:r>
            <a:r>
              <a:rPr lang="en-US" sz="1100" dirty="0" err="1"/>
              <a:t>link.springer.com</a:t>
            </a:r>
            <a:r>
              <a:rPr lang="en-US" sz="1100" dirty="0"/>
              <a:t>/article/10.1007/s42773-024-00350-1/figures/6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41E4A8-AE3D-B3E0-6739-9075274646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1645" y="232235"/>
            <a:ext cx="2503292" cy="2669015"/>
          </a:xfrm>
          <a:prstGeom prst="rect">
            <a:avLst/>
          </a:prstGeom>
        </p:spPr>
      </p:pic>
      <p:sp>
        <p:nvSpPr>
          <p:cNvPr id="11" name="Shape 9">
            <a:extLst>
              <a:ext uri="{FF2B5EF4-FFF2-40B4-BE49-F238E27FC236}">
                <a16:creationId xmlns:a16="http://schemas.microsoft.com/office/drawing/2014/main" id="{CBD162D7-EE2B-7A33-AA5C-0E984B36393E}"/>
              </a:ext>
            </a:extLst>
          </p:cNvPr>
          <p:cNvSpPr/>
          <p:nvPr/>
        </p:nvSpPr>
        <p:spPr>
          <a:xfrm>
            <a:off x="477955" y="1256782"/>
            <a:ext cx="4926458" cy="1032229"/>
          </a:xfrm>
          <a:prstGeom prst="rect">
            <a:avLst/>
          </a:prstGeom>
          <a:solidFill>
            <a:srgbClr val="0534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D4FB6F18-4C5F-DF43-E944-F0403D236134}"/>
              </a:ext>
            </a:extLst>
          </p:cNvPr>
          <p:cNvSpPr txBox="1"/>
          <p:nvPr/>
        </p:nvSpPr>
        <p:spPr>
          <a:xfrm>
            <a:off x="653366" y="1329013"/>
            <a:ext cx="3839889" cy="878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45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Bio-oil blending:</a:t>
            </a:r>
          </a:p>
          <a:p>
            <a:pPr marL="0" indent="0" algn="just">
              <a:buNone/>
            </a:pPr>
            <a:endParaRPr lang="en-US" sz="1450" dirty="0">
              <a:solidFill>
                <a:schemeClr val="bg1"/>
              </a:solidFill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Lowest-friction route to regulatory compliance [3].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major engine modification needed [3].</a:t>
            </a:r>
          </a:p>
        </p:txBody>
      </p:sp>
    </p:spTree>
    <p:extLst>
      <p:ext uri="{BB962C8B-B14F-4D97-AF65-F5344CB8AC3E}">
        <p14:creationId xmlns:p14="http://schemas.microsoft.com/office/powerpoint/2010/main" val="373346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A0B2E-75F3-6180-F6A5-EA5452E32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7D33E2D0-EE6C-B7C2-192C-F55952F4D282}"/>
              </a:ext>
            </a:extLst>
          </p:cNvPr>
          <p:cNvSpPr txBox="1">
            <a:spLocks/>
          </p:cNvSpPr>
          <p:nvPr/>
        </p:nvSpPr>
        <p:spPr>
          <a:xfrm>
            <a:off x="80028" y="6024187"/>
            <a:ext cx="8332451" cy="76640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Arial Narrow" panose="020B0606020202030204" pitchFamily="34" charset="0"/>
                <a:ea typeface="Arial Narrow" charset="0"/>
                <a:cs typeface="Arial Narrow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600" b="1" u="sng" dirty="0">
                <a:solidFill>
                  <a:schemeClr val="bg1"/>
                </a:solidFill>
              </a:rPr>
              <a:t>References:</a:t>
            </a:r>
          </a:p>
          <a:p>
            <a:pPr algn="just"/>
            <a:r>
              <a:rPr lang="en-AU" sz="1600" i="1" dirty="0">
                <a:solidFill>
                  <a:schemeClr val="bg1"/>
                </a:solidFill>
              </a:rPr>
              <a:t>[1] </a:t>
            </a:r>
            <a:r>
              <a:rPr lang="en-AU" sz="1600" i="1" dirty="0">
                <a:solidFill>
                  <a:schemeClr val="bg1"/>
                </a:solidFill>
                <a:hlinkClick r:id="rId2"/>
              </a:rPr>
              <a:t>https://www.sciencedirect.com/science/article/pii/S0378382016301047</a:t>
            </a:r>
            <a:endParaRPr lang="en-AU" sz="1600" i="1" dirty="0">
              <a:solidFill>
                <a:schemeClr val="bg1"/>
              </a:solidFill>
            </a:endParaRPr>
          </a:p>
          <a:p>
            <a:pPr algn="just"/>
            <a:r>
              <a:rPr lang="en-AU" sz="1600" i="1" dirty="0">
                <a:solidFill>
                  <a:schemeClr val="bg1"/>
                </a:solidFill>
              </a:rPr>
              <a:t>[2] </a:t>
            </a:r>
            <a:r>
              <a:rPr lang="en-AU" sz="1600" i="1" dirty="0">
                <a:solidFill>
                  <a:schemeClr val="bg1"/>
                </a:solidFill>
                <a:hlinkClick r:id="rId3"/>
              </a:rPr>
              <a:t>https://www.sciencedirect.com/science/article/pii/S2772443322000186</a:t>
            </a:r>
            <a:endParaRPr lang="en-AU" sz="1600" i="1" dirty="0">
              <a:solidFill>
                <a:schemeClr val="bg1"/>
              </a:solidFill>
            </a:endParaRPr>
          </a:p>
          <a:p>
            <a:pPr algn="just"/>
            <a:r>
              <a:rPr lang="en-AU" sz="1600" i="1" dirty="0">
                <a:solidFill>
                  <a:schemeClr val="bg1"/>
                </a:solidFill>
              </a:rPr>
              <a:t>[3] </a:t>
            </a:r>
            <a:r>
              <a:rPr lang="en-AU" sz="1600" i="1" dirty="0">
                <a:solidFill>
                  <a:schemeClr val="bg1"/>
                </a:solidFill>
                <a:hlinkClick r:id="rId4"/>
              </a:rPr>
              <a:t>https://pmc.ncbi.nlm.nih.gov/articles/PMC13502472/</a:t>
            </a:r>
            <a:endParaRPr lang="en-AU" sz="1600" i="1" dirty="0">
              <a:solidFill>
                <a:schemeClr val="bg1"/>
              </a:solidFill>
            </a:endParaRPr>
          </a:p>
          <a:p>
            <a:pPr algn="just"/>
            <a:endParaRPr lang="en-AU" sz="1600" i="1" dirty="0">
              <a:solidFill>
                <a:schemeClr val="bg1"/>
              </a:solidFill>
            </a:endParaRP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0C9ACEC1-0DF0-1A28-1DBC-BFC57087F0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3192" y="223567"/>
            <a:ext cx="7452026" cy="736956"/>
          </a:xfrm>
        </p:spPr>
        <p:txBody>
          <a:bodyPr/>
          <a:lstStyle/>
          <a:p>
            <a:r>
              <a:rPr lang="en-MY" dirty="0"/>
              <a:t>LITERATURE REVIEW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A202151-8597-41B8-B385-C201B5DCE2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9496147"/>
              </p:ext>
            </p:extLst>
          </p:nvPr>
        </p:nvGraphicFramePr>
        <p:xfrm>
          <a:off x="472440" y="2090605"/>
          <a:ext cx="11247120" cy="173736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10693872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317643801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3997810165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Hydrotreatment [1]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Catalytic Cracking [2]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83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Esterification [3]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1482094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Reacts bio-oil with H₂ gas over a catalyst to remove oxygen, forming a stable hydrocarbon fuel.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Limitations: high pressure/temperature, H₂ supply, expensive catalysts.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Uses solid acid catalysts at high temperature to break large oxygenated acids into smaller hydrocarbons.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Limitations: high temperature; risk of coke formation on catalyst.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simpler, cheaper route converting carboxylic acids into less corrosive esters using alcohol.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Limitations: forms excess water as a byproduct, which inhibits the reaction and limits conversion.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2640468"/>
                  </a:ext>
                </a:extLst>
              </a:tr>
            </a:tbl>
          </a:graphicData>
        </a:graphic>
      </p:graphicFrame>
      <p:sp>
        <p:nvSpPr>
          <p:cNvPr id="3" name="Text 2">
            <a:extLst>
              <a:ext uri="{FF2B5EF4-FFF2-40B4-BE49-F238E27FC236}">
                <a16:creationId xmlns:a16="http://schemas.microsoft.com/office/drawing/2014/main" id="{D1A3FC61-7BEF-FB5F-BA77-E0633EA713E0}"/>
              </a:ext>
            </a:extLst>
          </p:cNvPr>
          <p:cNvSpPr txBox="1"/>
          <p:nvPr/>
        </p:nvSpPr>
        <p:spPr>
          <a:xfrm>
            <a:off x="472440" y="4021585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Esterification: Acid + Alcohol ⇌ Ester + Water</a:t>
            </a:r>
            <a:endParaRPr lang="en-US" sz="13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344A782-245B-0386-AA2F-FCE1940783BC}"/>
              </a:ext>
            </a:extLst>
          </p:cNvPr>
          <p:cNvSpPr/>
          <p:nvPr/>
        </p:nvSpPr>
        <p:spPr>
          <a:xfrm>
            <a:off x="3534310" y="4139734"/>
            <a:ext cx="667820" cy="34493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8B542F-E00A-ED27-3181-C9BF1276A1E0}"/>
              </a:ext>
            </a:extLst>
          </p:cNvPr>
          <p:cNvSpPr txBox="1"/>
          <p:nvPr/>
        </p:nvSpPr>
        <p:spPr>
          <a:xfrm>
            <a:off x="534256" y="18185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A7B4A3F1-A0B3-EC6D-2F03-8E0E4B5E7D0A}"/>
              </a:ext>
            </a:extLst>
          </p:cNvPr>
          <p:cNvSpPr txBox="1"/>
          <p:nvPr/>
        </p:nvSpPr>
        <p:spPr>
          <a:xfrm>
            <a:off x="472440" y="1423785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Bio-oil upgrading methods:</a:t>
            </a:r>
          </a:p>
        </p:txBody>
      </p:sp>
    </p:spTree>
    <p:extLst>
      <p:ext uri="{BB962C8B-B14F-4D97-AF65-F5344CB8AC3E}">
        <p14:creationId xmlns:p14="http://schemas.microsoft.com/office/powerpoint/2010/main" val="1452590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FF556-F4D7-6919-470A-76950E1D2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2DDB2EB1-D4A2-8CAC-F014-EC5FC57F511B}"/>
              </a:ext>
            </a:extLst>
          </p:cNvPr>
          <p:cNvSpPr txBox="1">
            <a:spLocks/>
          </p:cNvSpPr>
          <p:nvPr/>
        </p:nvSpPr>
        <p:spPr>
          <a:xfrm>
            <a:off x="80028" y="6024187"/>
            <a:ext cx="9466307" cy="76640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Arial Narrow" panose="020B0606020202030204" pitchFamily="34" charset="0"/>
                <a:ea typeface="Arial Narrow" charset="0"/>
                <a:cs typeface="Arial Narrow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600" b="1" u="sng" dirty="0">
                <a:solidFill>
                  <a:schemeClr val="bg1"/>
                </a:solidFill>
              </a:rPr>
              <a:t>References:</a:t>
            </a:r>
          </a:p>
          <a:p>
            <a:pPr algn="just"/>
            <a:r>
              <a:rPr lang="en-AU" sz="1600" i="1" dirty="0">
                <a:solidFill>
                  <a:schemeClr val="bg1"/>
                </a:solidFill>
              </a:rPr>
              <a:t>[1] </a:t>
            </a:r>
            <a:r>
              <a:rPr lang="en-AU" sz="1600" i="1" dirty="0">
                <a:solidFill>
                  <a:schemeClr val="bg1"/>
                </a:solidFill>
                <a:hlinkClick r:id="rId2"/>
              </a:rPr>
              <a:t>https://www.jalonzeolite.com/how-do-molecular-sieves-work/</a:t>
            </a:r>
            <a:endParaRPr lang="en-AU" sz="1600" i="1" dirty="0">
              <a:solidFill>
                <a:schemeClr val="bg1"/>
              </a:solidFill>
            </a:endParaRPr>
          </a:p>
          <a:p>
            <a:pPr algn="just"/>
            <a:r>
              <a:rPr lang="en-AU" sz="1600" i="1" dirty="0">
                <a:solidFill>
                  <a:schemeClr val="bg1"/>
                </a:solidFill>
              </a:rPr>
              <a:t>[2] </a:t>
            </a:r>
            <a:r>
              <a:rPr lang="en-AU" sz="1600" i="1" dirty="0">
                <a:solidFill>
                  <a:schemeClr val="bg1"/>
                </a:solidFill>
                <a:hlinkClick r:id="rId3"/>
              </a:rPr>
              <a:t>https://www.sciencedirect.com/science/article/pii/S209580992500606X</a:t>
            </a:r>
            <a:endParaRPr lang="en-AU" sz="1600" i="1" dirty="0">
              <a:solidFill>
                <a:schemeClr val="bg1"/>
              </a:solidFill>
            </a:endParaRPr>
          </a:p>
          <a:p>
            <a:pPr algn="just"/>
            <a:r>
              <a:rPr lang="en-AU" sz="1600" i="1" dirty="0">
                <a:solidFill>
                  <a:schemeClr val="bg1"/>
                </a:solidFill>
              </a:rPr>
              <a:t>[3] </a:t>
            </a:r>
            <a:r>
              <a:rPr lang="en-AU" sz="1600" i="1" dirty="0">
                <a:solidFill>
                  <a:schemeClr val="bg1"/>
                </a:solidFill>
                <a:hlinkClick r:id="rId4"/>
              </a:rPr>
              <a:t>https://www.sciencedirect.com/science/article/pii/S1387181121000111</a:t>
            </a:r>
            <a:endParaRPr lang="en-AU" sz="1600" i="1" dirty="0">
              <a:solidFill>
                <a:schemeClr val="bg1"/>
              </a:solidFill>
            </a:endParaRPr>
          </a:p>
          <a:p>
            <a:pPr algn="just"/>
            <a:r>
              <a:rPr lang="en-AU" sz="1600" i="1" dirty="0">
                <a:solidFill>
                  <a:schemeClr val="bg1"/>
                </a:solidFill>
              </a:rPr>
              <a:t>[4] </a:t>
            </a:r>
            <a:r>
              <a:rPr lang="en-AU" sz="1600" i="1" dirty="0">
                <a:solidFill>
                  <a:schemeClr val="bg1"/>
                </a:solidFill>
                <a:hlinkClick r:id="rId5"/>
              </a:rPr>
              <a:t>https://pmc.ncbi.nlm.nih.gov/articles/PMC13502472/</a:t>
            </a:r>
            <a:endParaRPr lang="en-AU" sz="1600" i="1" dirty="0">
              <a:solidFill>
                <a:schemeClr val="bg1"/>
              </a:solidFill>
            </a:endParaRPr>
          </a:p>
          <a:p>
            <a:pPr algn="just"/>
            <a:endParaRPr lang="en-AU" sz="1600" i="1" dirty="0">
              <a:solidFill>
                <a:schemeClr val="bg1"/>
              </a:solidFill>
            </a:endParaRP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A7048E99-3170-5AE4-AAF7-22D79EFE46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3192" y="223567"/>
            <a:ext cx="7452026" cy="736956"/>
          </a:xfrm>
        </p:spPr>
        <p:txBody>
          <a:bodyPr/>
          <a:lstStyle/>
          <a:p>
            <a:r>
              <a:rPr lang="en-MY" dirty="0"/>
              <a:t>LITERATURE REVIEW</a:t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7E8032A0-22B8-F05C-3DA7-D0AA6A8B8D5C}"/>
              </a:ext>
            </a:extLst>
          </p:cNvPr>
          <p:cNvSpPr txBox="1"/>
          <p:nvPr/>
        </p:nvSpPr>
        <p:spPr>
          <a:xfrm>
            <a:off x="2346960" y="1116741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removal:</a:t>
            </a:r>
            <a:endParaRPr lang="en-US" sz="1300" dirty="0"/>
          </a:p>
        </p:txBody>
      </p:sp>
      <p:graphicFrame>
        <p:nvGraphicFramePr>
          <p:cNvPr id="4" name="Table 1">
            <a:extLst>
              <a:ext uri="{FF2B5EF4-FFF2-40B4-BE49-F238E27FC236}">
                <a16:creationId xmlns:a16="http://schemas.microsoft.com/office/drawing/2014/main" id="{785DB741-ECB7-55E9-A0C9-3CADC41012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434872"/>
              </p:ext>
            </p:extLst>
          </p:nvPr>
        </p:nvGraphicFramePr>
        <p:xfrm>
          <a:off x="2346960" y="1614070"/>
          <a:ext cx="7498080" cy="169164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Molecular Sieves / Adsorbents [1,2]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Membrane Pervaporation [3]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Solid materials (e.g., silica gel) selectively remove water molecules based on their tiny pore sizes and high polar affinity.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Limitations: prone to clogging and fouling, requires thermal regeneration before reuse.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Hydrophilic membrane under vacuum to selectively removes water; effective for continuous processes.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Limitations: expensive, prone to fouling.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94AFAAF-36E9-E692-3DC5-4A5961CFA4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606741"/>
              </p:ext>
            </p:extLst>
          </p:nvPr>
        </p:nvGraphicFramePr>
        <p:xfrm>
          <a:off x="2346960" y="3664699"/>
          <a:ext cx="3749040" cy="169164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159417502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83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Azeotropic Distillation [4]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8536081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Entrainer breaks the azeotrope of alcohol- water, allowing continuous distillation and recovery of alcohol.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Well suited to continuous, one-pot operation.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453243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78080FAF-0416-F840-B2C8-CF6210B187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5394" y="3525675"/>
            <a:ext cx="2339647" cy="196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050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22DC0-62AF-1136-F4B5-24AE64231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8B407945-BD90-D5B7-3E8B-1A47FFF39528}"/>
              </a:ext>
            </a:extLst>
          </p:cNvPr>
          <p:cNvSpPr txBox="1">
            <a:spLocks/>
          </p:cNvSpPr>
          <p:nvPr/>
        </p:nvSpPr>
        <p:spPr>
          <a:xfrm>
            <a:off x="80028" y="6024187"/>
            <a:ext cx="10339615" cy="76640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Arial Narrow" panose="020B0606020202030204" pitchFamily="34" charset="0"/>
                <a:ea typeface="Arial Narrow" charset="0"/>
                <a:cs typeface="Arial Narrow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600" b="1" u="sng" dirty="0">
                <a:solidFill>
                  <a:schemeClr val="bg1"/>
                </a:solidFill>
              </a:rPr>
              <a:t>References:</a:t>
            </a:r>
          </a:p>
          <a:p>
            <a:pPr algn="just"/>
            <a:r>
              <a:rPr lang="en-AU" sz="1600" i="1" dirty="0">
                <a:solidFill>
                  <a:schemeClr val="bg1"/>
                </a:solidFill>
              </a:rPr>
              <a:t>[5] </a:t>
            </a:r>
            <a:r>
              <a:rPr lang="en-AU" sz="1600" i="1" dirty="0">
                <a:solidFill>
                  <a:schemeClr val="bg1"/>
                </a:solidFill>
                <a:hlinkClick r:id="rId2"/>
              </a:rPr>
              <a:t>https://www.mdpi.com/1996-1073/5/8/2683</a:t>
            </a:r>
            <a:endParaRPr lang="en-AU" sz="1600" i="1" dirty="0">
              <a:solidFill>
                <a:schemeClr val="bg1"/>
              </a:solidFill>
            </a:endParaRPr>
          </a:p>
          <a:p>
            <a:pPr algn="just"/>
            <a:r>
              <a:rPr lang="en-AU" sz="1600" i="1" dirty="0">
                <a:solidFill>
                  <a:schemeClr val="bg1"/>
                </a:solidFill>
              </a:rPr>
              <a:t>[6] </a:t>
            </a:r>
            <a:r>
              <a:rPr lang="en-AU" sz="1600" i="1" dirty="0">
                <a:solidFill>
                  <a:schemeClr val="bg1"/>
                </a:solidFill>
                <a:hlinkClick r:id="rId3"/>
              </a:rPr>
              <a:t>https://pmc.ncbi.nlm.nih.gov/articles/PMC12347235/</a:t>
            </a:r>
            <a:endParaRPr lang="en-AU" sz="1600" i="1" dirty="0">
              <a:solidFill>
                <a:schemeClr val="bg1"/>
              </a:solidFill>
            </a:endParaRPr>
          </a:p>
          <a:p>
            <a:pPr algn="just"/>
            <a:r>
              <a:rPr lang="en-AU" sz="1600" i="1" dirty="0">
                <a:solidFill>
                  <a:schemeClr val="bg1"/>
                </a:solidFill>
              </a:rPr>
              <a:t>[7] </a:t>
            </a:r>
            <a:r>
              <a:rPr lang="en-AU" sz="1600" i="1" dirty="0">
                <a:solidFill>
                  <a:schemeClr val="bg1"/>
                </a:solidFill>
                <a:hlinkClick r:id="rId4"/>
              </a:rPr>
              <a:t>https://pubs.acs.org/iecred/article/50/3/1171/1219556/Kinetics-of-Catalytic-Esterification-of-Propionic</a:t>
            </a:r>
            <a:endParaRPr lang="en-AU" sz="1600" i="1" dirty="0">
              <a:solidFill>
                <a:schemeClr val="bg1"/>
              </a:solidFill>
            </a:endParaRPr>
          </a:p>
          <a:p>
            <a:pPr algn="just"/>
            <a:endParaRPr lang="en-AU" sz="1600" i="1" dirty="0">
              <a:solidFill>
                <a:schemeClr val="bg1"/>
              </a:solidFill>
            </a:endParaRP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B6910BF-81E7-7294-1C89-8CAF14D48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3192" y="223567"/>
            <a:ext cx="7452026" cy="736956"/>
          </a:xfrm>
        </p:spPr>
        <p:txBody>
          <a:bodyPr/>
          <a:lstStyle/>
          <a:p>
            <a:r>
              <a:rPr lang="en-MY" dirty="0"/>
              <a:t>LITERATURE REVIEW</a:t>
            </a: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8D7256D2-171C-5794-B109-2338B962DCA8}"/>
              </a:ext>
            </a:extLst>
          </p:cNvPr>
          <p:cNvSpPr txBox="1"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3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Alcohol</a:t>
            </a:r>
            <a:endParaRPr lang="en-US" sz="1600" dirty="0"/>
          </a:p>
        </p:txBody>
      </p: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4CA13A49-E69A-002C-DEB8-B185E34AA1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770119"/>
              </p:ext>
            </p:extLst>
          </p:nvPr>
        </p:nvGraphicFramePr>
        <p:xfrm>
          <a:off x="457200" y="1828800"/>
          <a:ext cx="5486400" cy="2286000"/>
        </p:xfrm>
        <a:graphic>
          <a:graphicData uri="http://schemas.openxmlformats.org/drawingml/2006/table">
            <a:tbl>
              <a:tblPr/>
              <a:tblGrid>
                <a:gridCol w="1463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Consideration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1-Hexanol</a:t>
                      </a: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charset="0"/>
                          <a:ea typeface="Arial" pitchFamily="34" charset="-122"/>
                          <a:cs typeface="Arial" charset="0"/>
                        </a:rPr>
                        <a:t> [1]</a:t>
                      </a:r>
                      <a:endParaRPr lang="en-US" sz="1050" dirty="0">
                        <a:solidFill>
                          <a:srgbClr val="1A1A1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BP (157°C) compared to water; act as entrainer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Expensive, limited large-scale renewable production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Methanol [2,3]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Widely used in studies due to high reactivity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BP (64.7°C)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Rapid vapor generation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83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Ethanol [3,4]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Renewable and economical</a:t>
                      </a:r>
                      <a:endParaRPr lang="en-US" sz="1050" dirty="0">
                        <a:solidFill>
                          <a:schemeClr val="tx1"/>
                        </a:solidFill>
                        <a:latin typeface="Arial" charset="0"/>
                        <a:ea typeface="Arial" pitchFamily="34" charset="-122"/>
                        <a:cs typeface="Arial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BP (78.4°C) as compared to methanol, favourable for retention during azeotropic distillation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2">
            <a:extLst>
              <a:ext uri="{FF2B5EF4-FFF2-40B4-BE49-F238E27FC236}">
                <a16:creationId xmlns:a16="http://schemas.microsoft.com/office/drawing/2014/main" id="{9359E9C3-3B33-5E48-ED37-16E5A6854121}"/>
              </a:ext>
            </a:extLst>
          </p:cNvPr>
          <p:cNvSpPr txBox="1"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3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Catalyst</a:t>
            </a:r>
            <a:endParaRPr lang="en-US" sz="1600" dirty="0"/>
          </a:p>
        </p:txBody>
      </p:sp>
      <p:graphicFrame>
        <p:nvGraphicFramePr>
          <p:cNvPr id="5" name="Table 1">
            <a:extLst>
              <a:ext uri="{FF2B5EF4-FFF2-40B4-BE49-F238E27FC236}">
                <a16:creationId xmlns:a16="http://schemas.microsoft.com/office/drawing/2014/main" id="{09087027-5C1A-1BB9-9C6B-413D9F0F63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2217"/>
              </p:ext>
            </p:extLst>
          </p:nvPr>
        </p:nvGraphicFramePr>
        <p:xfrm>
          <a:off x="6263640" y="1828800"/>
          <a:ext cx="5687060" cy="22860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2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Consideration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H₂SO₄ (liquid)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Widely used in industry, high activity [5]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Causes corrosion and is hard to separate from bio-oil [6]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Amberlyst-15 (Sulfonic acid based; Solid)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Reusable, easily separated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Lower acid-site density (≥4.7 eq/kg) → slower rate expected [7]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83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Amberlyst-36 </a:t>
                      </a: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(Sulfonic acid based; Solid)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Reusable, easily separated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Higher acid-site density (≥5.40 eq/kg) → faster rate expected [7]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6599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91DF8-CC42-5E55-726C-92929548D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372B820E-5ABB-81D0-0E6F-32B0AA0A7312}"/>
              </a:ext>
            </a:extLst>
          </p:cNvPr>
          <p:cNvSpPr txBox="1">
            <a:spLocks/>
          </p:cNvSpPr>
          <p:nvPr/>
        </p:nvSpPr>
        <p:spPr>
          <a:xfrm>
            <a:off x="80029" y="6024187"/>
            <a:ext cx="8465660" cy="76640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Arial Narrow" panose="020B0606020202030204" pitchFamily="34" charset="0"/>
                <a:ea typeface="Arial Narrow" charset="0"/>
                <a:cs typeface="Arial Narrow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600" b="1" u="sng" dirty="0">
                <a:solidFill>
                  <a:schemeClr val="bg1"/>
                </a:solidFill>
              </a:rPr>
              <a:t>References:</a:t>
            </a:r>
          </a:p>
          <a:p>
            <a:pPr algn="just"/>
            <a:r>
              <a:rPr lang="en-AU" sz="1600" i="1" dirty="0">
                <a:solidFill>
                  <a:schemeClr val="bg1"/>
                </a:solidFill>
              </a:rPr>
              <a:t>[8] </a:t>
            </a:r>
            <a:r>
              <a:rPr lang="en-AU" sz="1600" i="1" dirty="0">
                <a:solidFill>
                  <a:schemeClr val="bg1"/>
                </a:solidFill>
                <a:hlinkClick r:id="rId2"/>
              </a:rPr>
              <a:t>https://www.homepages.ed.ac.uk/jwp/Chemeng/azeotrope/hetero.html</a:t>
            </a:r>
            <a:endParaRPr lang="en-AU" sz="1600" i="1" dirty="0">
              <a:solidFill>
                <a:schemeClr val="bg1"/>
              </a:solidFill>
            </a:endParaRPr>
          </a:p>
          <a:p>
            <a:pPr algn="just"/>
            <a:endParaRPr lang="en-AU" sz="1600" i="1" dirty="0">
              <a:solidFill>
                <a:schemeClr val="bg1"/>
              </a:solidFill>
            </a:endParaRP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C8383E9-0020-F3B9-3BC8-83B7FCC9CD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3192" y="223567"/>
            <a:ext cx="7452026" cy="736956"/>
          </a:xfrm>
        </p:spPr>
        <p:txBody>
          <a:bodyPr/>
          <a:lstStyle/>
          <a:p>
            <a:r>
              <a:rPr lang="en-MY" dirty="0"/>
              <a:t>LITERATURE REVIEW</a:t>
            </a:r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B07CDDEF-6044-D607-AD0E-8FF0654B1F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6256116"/>
              </p:ext>
            </p:extLst>
          </p:nvPr>
        </p:nvGraphicFramePr>
        <p:xfrm>
          <a:off x="472440" y="1594975"/>
          <a:ext cx="11247120" cy="312724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Type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Azeotropic BP with </a:t>
                      </a:r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H₂O</a:t>
                      </a: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[8] 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Consideration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Benzene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~69.3°C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Traditional academic reference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Highly carcinogenic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Ethyl acetate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~70.4°C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Considered as greener, less-toxic polar solvent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Partially miscible with water 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n-Heptane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~79.2°C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Widely used non-polar entrainer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Higher azeotropic temperature → greater risk of thermal degradation, polymerisation, catalyst deactivation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83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Cyclohexane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83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~69.8°C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Second-lowest azeotropic temperature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Immiscible with water → clean phase separation with minimal thermal stress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1">
            <a:extLst>
              <a:ext uri="{FF2B5EF4-FFF2-40B4-BE49-F238E27FC236}">
                <a16:creationId xmlns:a16="http://schemas.microsoft.com/office/drawing/2014/main" id="{F8073267-9F68-2FD7-ED45-8E71AE72162D}"/>
              </a:ext>
            </a:extLst>
          </p:cNvPr>
          <p:cNvSpPr txBox="1"/>
          <p:nvPr/>
        </p:nvSpPr>
        <p:spPr>
          <a:xfrm>
            <a:off x="472440" y="1229215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347C"/>
                </a:solidFill>
                <a:latin typeface="Arial" pitchFamily="34" charset="0"/>
                <a:cs typeface="Arial" pitchFamily="34" charset="-120"/>
              </a:rPr>
              <a:t>Entrainer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23782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315BB-80FB-5654-0438-FB7FE9FFD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98FC27A5-FA3E-1B7B-C719-BDA624B51C02}"/>
              </a:ext>
            </a:extLst>
          </p:cNvPr>
          <p:cNvSpPr txBox="1">
            <a:spLocks/>
          </p:cNvSpPr>
          <p:nvPr/>
        </p:nvSpPr>
        <p:spPr>
          <a:xfrm>
            <a:off x="80028" y="6024187"/>
            <a:ext cx="8332451" cy="76640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Arial Narrow" panose="020B0606020202030204" pitchFamily="34" charset="0"/>
                <a:ea typeface="Arial Narrow" charset="0"/>
                <a:cs typeface="Arial Narrow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600" b="1" u="sng" dirty="0">
                <a:solidFill>
                  <a:schemeClr val="bg1"/>
                </a:solidFill>
              </a:rPr>
              <a:t>References:</a:t>
            </a:r>
          </a:p>
          <a:p>
            <a:pPr algn="just"/>
            <a:r>
              <a:rPr lang="en-AU" sz="1050" i="1" dirty="0">
                <a:solidFill>
                  <a:schemeClr val="bg1"/>
                </a:solidFill>
              </a:rPr>
              <a:t>[9] </a:t>
            </a:r>
            <a:r>
              <a:rPr lang="en-AU" sz="1050" i="1" dirty="0">
                <a:solidFill>
                  <a:schemeClr val="bg1"/>
                </a:solidFill>
                <a:hlinkClick r:id="rId2"/>
              </a:rPr>
              <a:t>https://onlinelibrary.wiley.com/doi/10.1155/2017/8359238</a:t>
            </a:r>
            <a:endParaRPr lang="en-AU" sz="1050" i="1" dirty="0">
              <a:solidFill>
                <a:schemeClr val="bg1"/>
              </a:solidFill>
            </a:endParaRPr>
          </a:p>
          <a:p>
            <a:pPr algn="just"/>
            <a:r>
              <a:rPr lang="en-AU" sz="1050" i="1" dirty="0">
                <a:solidFill>
                  <a:schemeClr val="bg1"/>
                </a:solidFill>
              </a:rPr>
              <a:t>[10] </a:t>
            </a:r>
            <a:r>
              <a:rPr lang="en-US" sz="1050" dirty="0">
                <a:hlinkClick r:id="rId3"/>
              </a:rPr>
              <a:t>https://doi.org/10.1007/s10553-025-01876-1</a:t>
            </a:r>
            <a:endParaRPr lang="en-US" sz="1050" dirty="0"/>
          </a:p>
          <a:p>
            <a:pPr algn="just"/>
            <a:r>
              <a:rPr lang="en-US" sz="1050" dirty="0"/>
              <a:t>[11] </a:t>
            </a:r>
            <a:r>
              <a:rPr lang="en-US" sz="1050" dirty="0">
                <a:hlinkClick r:id="rId4"/>
              </a:rPr>
              <a:t>https://doi.org/10.1021/ef8009266</a:t>
            </a:r>
            <a:endParaRPr lang="en-AU" sz="1050" i="1" dirty="0">
              <a:solidFill>
                <a:schemeClr val="bg1"/>
              </a:solidFill>
            </a:endParaRPr>
          </a:p>
          <a:p>
            <a:pPr algn="just"/>
            <a:r>
              <a:rPr lang="en-AU" sz="1050" i="1" dirty="0">
                <a:solidFill>
                  <a:schemeClr val="bg1"/>
                </a:solidFill>
              </a:rPr>
              <a:t>[12] </a:t>
            </a:r>
            <a:r>
              <a:rPr lang="en-US" sz="1050" dirty="0">
                <a:hlinkClick r:id="rId5"/>
              </a:rPr>
              <a:t>https://doi.org/10.1021/acs.energyfuels.5c06144</a:t>
            </a:r>
            <a:endParaRPr lang="en-US" sz="1050" dirty="0"/>
          </a:p>
          <a:p>
            <a:pPr algn="just"/>
            <a:endParaRPr lang="en-AU" sz="1600" i="1" dirty="0">
              <a:solidFill>
                <a:schemeClr val="bg1"/>
              </a:solidFill>
            </a:endParaRPr>
          </a:p>
          <a:p>
            <a:pPr algn="just"/>
            <a:endParaRPr lang="en-AU" sz="1600" i="1" dirty="0">
              <a:solidFill>
                <a:schemeClr val="bg1"/>
              </a:solidFill>
            </a:endParaRP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A203B4B5-1866-5F23-0588-5445F1D1EC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3192" y="215140"/>
            <a:ext cx="7452026" cy="736956"/>
          </a:xfrm>
        </p:spPr>
        <p:txBody>
          <a:bodyPr/>
          <a:lstStyle/>
          <a:p>
            <a:r>
              <a:rPr lang="en-MY" dirty="0"/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2B0531-676D-0045-C4BC-CCE85D0A1077}"/>
              </a:ext>
            </a:extLst>
          </p:cNvPr>
          <p:cNvSpPr txBox="1"/>
          <p:nvPr/>
        </p:nvSpPr>
        <p:spPr>
          <a:xfrm>
            <a:off x="353192" y="952096"/>
            <a:ext cx="10802488" cy="2187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Existing bio-oil esterification studies each miss part of the solution: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PKS-derived bio-oil: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reported with H₂SO₄ (corrosive catalyst) and molecular sieves (batch water removal) [9]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No entrainer: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water accumulates and reverse hydrolysis limits conversion [10]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With entrainer: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reported on hardwood, wood and waste oils [11, 12]</a:t>
            </a:r>
          </a:p>
          <a:p>
            <a:pPr>
              <a:spcBef>
                <a:spcPts val="400"/>
              </a:spcBef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900"/>
              </a:spcBef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study was found that combine a solid acid catalyst, ethanol and an entrainer to upgrade PKS-derived bio-oil in a one-pot process.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CED31B5-8152-51EC-595B-61949BB5D52E}"/>
              </a:ext>
            </a:extLst>
          </p:cNvPr>
          <p:cNvSpPr txBox="1">
            <a:spLocks/>
          </p:cNvSpPr>
          <p:nvPr/>
        </p:nvSpPr>
        <p:spPr>
          <a:xfrm>
            <a:off x="353192" y="3606992"/>
            <a:ext cx="7452026" cy="7369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4200" b="1" kern="1200" baseline="0">
                <a:solidFill>
                  <a:schemeClr val="tx1"/>
                </a:solidFill>
                <a:latin typeface="Arial Narrow" panose="020B0606020202030204" pitchFamily="34" charset="0"/>
                <a:ea typeface="Arial Narrow" charset="0"/>
                <a:cs typeface="Arial Narrow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MY" dirty="0"/>
              <a:t>RESEARCH GAP/ NOVELTY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EE9D1D-0A66-1F70-D8B3-D25243B43A51}"/>
              </a:ext>
            </a:extLst>
          </p:cNvPr>
          <p:cNvSpPr txBox="1"/>
          <p:nvPr/>
        </p:nvSpPr>
        <p:spPr>
          <a:xfrm>
            <a:off x="353192" y="4343948"/>
            <a:ext cx="102523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rtl="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Feedstock: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PKS-derived PBO</a:t>
            </a:r>
          </a:p>
          <a:p>
            <a:pPr marL="285750" indent="-285750" algn="just" rtl="0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Catalyst and alcohol: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Amberlyst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-36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ethanol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Process: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ne-pot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Dean–Stark esterification with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cyclohexane 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 remove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water continuously at ~70°C (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lower thermal stress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3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553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319EF-9DF7-0A81-A571-FEAB24102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1195838C-E56D-9A7E-5255-E6ECDA043193}"/>
              </a:ext>
            </a:extLst>
          </p:cNvPr>
          <p:cNvSpPr txBox="1">
            <a:spLocks/>
          </p:cNvSpPr>
          <p:nvPr/>
        </p:nvSpPr>
        <p:spPr>
          <a:xfrm>
            <a:off x="80029" y="6024187"/>
            <a:ext cx="3999176" cy="76640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Arial Narrow" panose="020B0606020202030204" pitchFamily="34" charset="0"/>
                <a:ea typeface="Arial Narrow" charset="0"/>
                <a:cs typeface="Arial Narrow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600" b="1" u="sng" dirty="0">
                <a:solidFill>
                  <a:schemeClr val="bg1"/>
                </a:solidFill>
              </a:rPr>
              <a:t>References:</a:t>
            </a:r>
          </a:p>
          <a:p>
            <a:pPr algn="just"/>
            <a:endParaRPr lang="en-AU" sz="1600" i="1" dirty="0">
              <a:solidFill>
                <a:schemeClr val="bg1"/>
              </a:solidFill>
            </a:endParaRP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46A8BC32-9BD3-3538-CADC-D55963A27C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3192" y="223567"/>
            <a:ext cx="7452026" cy="736956"/>
          </a:xfrm>
        </p:spPr>
        <p:txBody>
          <a:bodyPr/>
          <a:lstStyle/>
          <a:p>
            <a:r>
              <a:rPr lang="en-MY" dirty="0"/>
              <a:t>AIM &amp; OBJECTIVE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9704B0-6AC7-D40B-B341-B5E380A9153C}"/>
              </a:ext>
            </a:extLst>
          </p:cNvPr>
          <p:cNvSpPr txBox="1"/>
          <p:nvPr/>
        </p:nvSpPr>
        <p:spPr>
          <a:xfrm>
            <a:off x="353192" y="1413063"/>
            <a:ext cx="10771403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buNone/>
            </a:pPr>
            <a:r>
              <a:rPr lang="en-U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 develop a one-pot azeotropic esterification process for PKS-derived PBO to simultaneously reduce acid value and water content, enhancing its suitability as a low-carbon MFO component.</a:t>
            </a:r>
          </a:p>
          <a:p>
            <a:pPr algn="just" rtl="0">
              <a:buNone/>
            </a:pPr>
            <a:endParaRPr lang="en-US" sz="2400" b="0" i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algn="just"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investigate the effectiveness of ethanol and Amberlyst-36 in reducing acidity through esterification process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evaluate the efficiency of cyclohexane (entrainer) in removing the water generated continuously and recover evaporated ethanol during esterification 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optimize the key operating parameters for reducing acid value and water content of bio-oil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characterize and compare the physio-chemical properties of crude and upgraded bio-oil after optimization</a:t>
            </a:r>
          </a:p>
        </p:txBody>
      </p:sp>
    </p:spTree>
    <p:extLst>
      <p:ext uri="{BB962C8B-B14F-4D97-AF65-F5344CB8AC3E}">
        <p14:creationId xmlns:p14="http://schemas.microsoft.com/office/powerpoint/2010/main" val="3739788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F96B7-EE31-06D0-F8B4-6A3152FC2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82B1B079-5974-5B61-25F4-A7CB2D0A8925}"/>
              </a:ext>
            </a:extLst>
          </p:cNvPr>
          <p:cNvSpPr txBox="1">
            <a:spLocks/>
          </p:cNvSpPr>
          <p:nvPr/>
        </p:nvSpPr>
        <p:spPr>
          <a:xfrm>
            <a:off x="80029" y="6024187"/>
            <a:ext cx="10560262" cy="76640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Arial Narrow" panose="020B0606020202030204" pitchFamily="34" charset="0"/>
                <a:ea typeface="Arial Narrow" charset="0"/>
                <a:cs typeface="Arial Narrow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600" b="1" u="sng" dirty="0">
                <a:solidFill>
                  <a:schemeClr val="bg1"/>
                </a:solidFill>
              </a:rPr>
              <a:t>References: </a:t>
            </a:r>
            <a:r>
              <a:rPr lang="en-US" sz="1600" dirty="0"/>
              <a:t>Lindfors, T. </a:t>
            </a:r>
            <a:r>
              <a:rPr lang="en-US" sz="1600" dirty="0" err="1"/>
              <a:t>Ohra-aho</a:t>
            </a:r>
            <a:r>
              <a:rPr lang="en-US" sz="1600" dirty="0"/>
              <a:t>, and A. </a:t>
            </a:r>
            <a:r>
              <a:rPr lang="en-US" sz="1600" dirty="0" err="1"/>
              <a:t>Oasmaa</a:t>
            </a:r>
            <a:r>
              <a:rPr lang="en-US" sz="1600" dirty="0"/>
              <a:t>, “Quality Improvement of Biomass Pyrolysis Oil through Esterification,” Energy &amp; Fuels, vol. 40, no. 33, pp. 18262–18273, Aug. 2026, </a:t>
            </a:r>
            <a:r>
              <a:rPr lang="en-US" sz="1600" dirty="0" err="1"/>
              <a:t>doi</a:t>
            </a:r>
            <a:r>
              <a:rPr lang="en-US" sz="1600" dirty="0"/>
              <a:t>: 10.1021/acs.energyfuels.6c01498.</a:t>
            </a:r>
            <a:endParaRPr lang="en-US" sz="1600" b="1" u="sng" dirty="0">
              <a:solidFill>
                <a:schemeClr val="bg1"/>
              </a:solidFill>
            </a:endParaRPr>
          </a:p>
          <a:p>
            <a:pPr algn="just"/>
            <a:endParaRPr lang="en-AU" sz="1600" i="1" dirty="0">
              <a:solidFill>
                <a:schemeClr val="bg1"/>
              </a:solidFill>
            </a:endParaRP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674BD23-25ED-61E2-BF03-AFF98F112B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3192" y="223567"/>
            <a:ext cx="7452026" cy="736956"/>
          </a:xfrm>
        </p:spPr>
        <p:txBody>
          <a:bodyPr/>
          <a:lstStyle/>
          <a:p>
            <a:r>
              <a:rPr lang="en-MY" dirty="0"/>
              <a:t>PROCEDURE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ED934F-F244-FC31-A937-1E46F7A2A1BD}"/>
              </a:ext>
            </a:extLst>
          </p:cNvPr>
          <p:cNvSpPr txBox="1"/>
          <p:nvPr/>
        </p:nvSpPr>
        <p:spPr>
          <a:xfrm>
            <a:off x="667818" y="5465991"/>
            <a:ext cx="35687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i="1" dirty="0"/>
              <a:t>Figure 5: One-pot Esterification and Azeotropic distillation from</a:t>
            </a:r>
            <a:endParaRPr lang="en-AU" sz="1000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86A244-6EB1-084B-06A7-00AE09F552AF}"/>
              </a:ext>
            </a:extLst>
          </p:cNvPr>
          <p:cNvSpPr txBox="1"/>
          <p:nvPr/>
        </p:nvSpPr>
        <p:spPr>
          <a:xfrm>
            <a:off x="6096000" y="1443841"/>
            <a:ext cx="475535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Range of operating conditions: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Mass of bio-oil: 100g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Mass of ethanol: 50g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Mass of cyclohexane: 30g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Temperature: 70°C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Catalyst dose: 0-2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wt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Alcohol dose: 0-60wt%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Time: 1-24 hour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Pressure: 200-1013 mbar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Analytical Methods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Acid value: Acid-base titration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Water content: Karl-Fischer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 0" descr="deanstark.png">
            <a:extLst>
              <a:ext uri="{FF2B5EF4-FFF2-40B4-BE49-F238E27FC236}">
                <a16:creationId xmlns:a16="http://schemas.microsoft.com/office/drawing/2014/main" id="{ED5C66CC-6732-88D4-3093-460087DBD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148" y="1155857"/>
            <a:ext cx="260604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702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A3957-95ED-5DDF-5AD0-3FB8E9CC3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8A58D9CD-333F-28F4-41BB-7EA237C40920}"/>
              </a:ext>
            </a:extLst>
          </p:cNvPr>
          <p:cNvSpPr txBox="1">
            <a:spLocks/>
          </p:cNvSpPr>
          <p:nvPr/>
        </p:nvSpPr>
        <p:spPr>
          <a:xfrm>
            <a:off x="80029" y="6024187"/>
            <a:ext cx="10560262" cy="76640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Arial Narrow" panose="020B0606020202030204" pitchFamily="34" charset="0"/>
                <a:ea typeface="Arial Narrow" charset="0"/>
                <a:cs typeface="Arial Narrow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600" b="1" u="sng" dirty="0">
                <a:solidFill>
                  <a:schemeClr val="bg1"/>
                </a:solidFill>
              </a:rPr>
              <a:t>References:</a:t>
            </a:r>
            <a:endParaRPr lang="en-AU" sz="1600" i="1" dirty="0">
              <a:solidFill>
                <a:schemeClr val="bg1"/>
              </a:solidFill>
            </a:endParaRP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A854930C-F302-BD6F-B892-089AE35C52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3192" y="223567"/>
            <a:ext cx="7452026" cy="736956"/>
          </a:xfrm>
        </p:spPr>
        <p:txBody>
          <a:bodyPr/>
          <a:lstStyle/>
          <a:p>
            <a:r>
              <a:rPr lang="en-MY" dirty="0"/>
              <a:t>GANTT CHART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0B0257-C0B8-EBB6-CB0A-67E84D77A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616" y="871209"/>
            <a:ext cx="8908768" cy="511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360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239DEAD-70A2-B5CC-23D2-EA72C64F8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">
            <a:extLst>
              <a:ext uri="{FF2B5EF4-FFF2-40B4-BE49-F238E27FC236}">
                <a16:creationId xmlns:a16="http://schemas.microsoft.com/office/drawing/2014/main" id="{5530CA8D-519C-1C43-931E-40F5AC9CB701}"/>
              </a:ext>
            </a:extLst>
          </p:cNvPr>
          <p:cNvSpPr/>
          <p:nvPr/>
        </p:nvSpPr>
        <p:spPr>
          <a:xfrm>
            <a:off x="457200" y="5073744"/>
            <a:ext cx="11292840" cy="834277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2F8EA987-62B7-4EA4-73CC-45B944B6B9C2}"/>
              </a:ext>
            </a:extLst>
          </p:cNvPr>
          <p:cNvSpPr/>
          <p:nvPr/>
        </p:nvSpPr>
        <p:spPr>
          <a:xfrm>
            <a:off x="457200" y="4018878"/>
            <a:ext cx="11292840" cy="834277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">
            <a:extLst>
              <a:ext uri="{FF2B5EF4-FFF2-40B4-BE49-F238E27FC236}">
                <a16:creationId xmlns:a16="http://schemas.microsoft.com/office/drawing/2014/main" id="{70CA6A28-6F5D-D121-04F2-47F6AA98BD44}"/>
              </a:ext>
            </a:extLst>
          </p:cNvPr>
          <p:cNvSpPr/>
          <p:nvPr/>
        </p:nvSpPr>
        <p:spPr>
          <a:xfrm>
            <a:off x="457200" y="2986727"/>
            <a:ext cx="11292840" cy="834277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74A54E5D-310C-8266-A7B6-BA0E35E381E9}"/>
              </a:ext>
            </a:extLst>
          </p:cNvPr>
          <p:cNvSpPr/>
          <p:nvPr/>
        </p:nvSpPr>
        <p:spPr>
          <a:xfrm>
            <a:off x="457200" y="1968331"/>
            <a:ext cx="11292840" cy="834277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CC85D508-F5FA-1548-E589-8C33CD1109D5}"/>
              </a:ext>
            </a:extLst>
          </p:cNvPr>
          <p:cNvSpPr txBox="1">
            <a:spLocks/>
          </p:cNvSpPr>
          <p:nvPr/>
        </p:nvSpPr>
        <p:spPr>
          <a:xfrm>
            <a:off x="80028" y="6024187"/>
            <a:ext cx="10111935" cy="76640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Arial Narrow" panose="020B0606020202030204" pitchFamily="34" charset="0"/>
                <a:ea typeface="Arial Narrow" charset="0"/>
                <a:cs typeface="Arial Narrow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600" b="1" u="sng" dirty="0">
                <a:solidFill>
                  <a:schemeClr val="bg1"/>
                </a:solidFill>
              </a:rPr>
              <a:t>References:</a:t>
            </a:r>
          </a:p>
          <a:p>
            <a:pPr algn="just"/>
            <a:r>
              <a:rPr lang="en-US" sz="900" dirty="0"/>
              <a:t>Ilin, A. V., Burov, N. O., </a:t>
            </a:r>
            <a:r>
              <a:rPr lang="en-US" sz="900" dirty="0" err="1"/>
              <a:t>Rutskoy</a:t>
            </a:r>
            <a:r>
              <a:rPr lang="en-US" sz="900" dirty="0"/>
              <a:t>, M. D., </a:t>
            </a:r>
            <a:r>
              <a:rPr lang="en-US" sz="900" dirty="0" err="1"/>
              <a:t>Savelenko</a:t>
            </a:r>
            <a:r>
              <a:rPr lang="en-US" sz="900" dirty="0"/>
              <a:t>, V. D., Aleksanyan, D. R., </a:t>
            </a:r>
            <a:r>
              <a:rPr lang="en-US" sz="900" dirty="0" err="1"/>
              <a:t>Makhova</a:t>
            </a:r>
            <a:r>
              <a:rPr lang="en-US" sz="900" dirty="0"/>
              <a:t>, U. A., </a:t>
            </a:r>
            <a:r>
              <a:rPr lang="en-US" sz="900" dirty="0" err="1"/>
              <a:t>Vikhritskaya</a:t>
            </a:r>
            <a:r>
              <a:rPr lang="en-US" sz="900" dirty="0"/>
              <a:t>, A. O., Klimov, N. A., </a:t>
            </a:r>
            <a:r>
              <a:rPr lang="en-US" sz="900" dirty="0" err="1"/>
              <a:t>Lobashova</a:t>
            </a:r>
            <a:r>
              <a:rPr lang="en-US" sz="900" dirty="0"/>
              <a:t>, M. M., Kapustin, V. M., &amp; Ershov, M. A. (2025). Enhanced Upgrading of Bio-Oil for Efficient Co-Processing in Refinery Delayed Coking Units. </a:t>
            </a:r>
            <a:r>
              <a:rPr lang="en-US" sz="900" i="1" dirty="0"/>
              <a:t>Chemistry and Technology of Fuels and Oils</a:t>
            </a:r>
            <a:r>
              <a:rPr lang="en-US" sz="900" dirty="0"/>
              <a:t>, </a:t>
            </a:r>
            <a:r>
              <a:rPr lang="en-US" sz="900" i="1" dirty="0"/>
              <a:t>61</a:t>
            </a:r>
            <a:r>
              <a:rPr lang="en-US" sz="900" dirty="0"/>
              <a:t>(2), 365–371. </a:t>
            </a:r>
            <a:r>
              <a:rPr lang="en-US" sz="900" dirty="0">
                <a:hlinkClick r:id="rId2"/>
              </a:rPr>
              <a:t>https://doi.org/10.1007/s10553-025-01876-1</a:t>
            </a:r>
            <a:endParaRPr lang="en-US" sz="900" dirty="0"/>
          </a:p>
          <a:p>
            <a:pPr algn="just"/>
            <a:r>
              <a:rPr lang="en-US" sz="900" dirty="0"/>
              <a:t>Luc, M., Black, S. K., Myers, M. D., &amp; Czernik, S. (2009). Study of the Neutralization and Stabilization of a Mixed Hardwood Bio-Oil. </a:t>
            </a:r>
            <a:r>
              <a:rPr lang="en-US" sz="900" i="1" dirty="0"/>
              <a:t>Energy Fuels</a:t>
            </a:r>
            <a:r>
              <a:rPr lang="en-US" sz="900" dirty="0"/>
              <a:t>, </a:t>
            </a:r>
            <a:r>
              <a:rPr lang="en-US" sz="900" i="1" dirty="0"/>
              <a:t>23</a:t>
            </a:r>
            <a:r>
              <a:rPr lang="en-US" sz="900" dirty="0"/>
              <a:t>(5), 2695–2699. </a:t>
            </a:r>
            <a:r>
              <a:rPr lang="en-US" sz="900" dirty="0">
                <a:hlinkClick r:id="rId3"/>
              </a:rPr>
              <a:t>https://doi.org/10.1021/ef8009266</a:t>
            </a:r>
            <a:endParaRPr lang="en-US" sz="900" dirty="0"/>
          </a:p>
          <a:p>
            <a:pPr algn="just"/>
            <a:r>
              <a:rPr lang="en-US" sz="900" dirty="0" err="1"/>
              <a:t>Khamhuatoey</a:t>
            </a:r>
            <a:r>
              <a:rPr lang="en-US" sz="900" dirty="0"/>
              <a:t>, S., </a:t>
            </a:r>
            <a:r>
              <a:rPr lang="en-US" sz="900" dirty="0" err="1"/>
              <a:t>Kaewluan</a:t>
            </a:r>
            <a:r>
              <a:rPr lang="en-US" sz="900" dirty="0"/>
              <a:t>, S., </a:t>
            </a:r>
            <a:r>
              <a:rPr lang="en-US" sz="900" dirty="0" err="1"/>
              <a:t>Thawornprasert</a:t>
            </a:r>
            <a:r>
              <a:rPr lang="en-US" sz="900" dirty="0"/>
              <a:t>, J., Ye Min, O., </a:t>
            </a:r>
            <a:r>
              <a:rPr lang="en-US" sz="900" dirty="0" err="1"/>
              <a:t>Pongraktham</a:t>
            </a:r>
            <a:r>
              <a:rPr lang="en-US" sz="900" dirty="0"/>
              <a:t>, K., &amp; </a:t>
            </a:r>
            <a:r>
              <a:rPr lang="en-US" sz="900" dirty="0" err="1"/>
              <a:t>Somnuk</a:t>
            </a:r>
            <a:r>
              <a:rPr lang="en-US" sz="900" dirty="0"/>
              <a:t>, K. (2023). Upgrading Pyrolysis Bio-Oil through Esterification Process and Assessing the Performance and Emissions of Diesel–Biodiesel–Esterified Pyrolysis Bio-Oil Blends in Direct Injection Diesel Engines. </a:t>
            </a:r>
            <a:r>
              <a:rPr lang="en-US" sz="900" i="1" dirty="0"/>
              <a:t>ACS Omega</a:t>
            </a:r>
            <a:r>
              <a:rPr lang="en-US" sz="900" dirty="0"/>
              <a:t>, </a:t>
            </a:r>
            <a:r>
              <a:rPr lang="en-US" sz="900" i="1" dirty="0"/>
              <a:t>8</a:t>
            </a:r>
            <a:r>
              <a:rPr lang="en-US" sz="900" dirty="0"/>
              <a:t>(47), 44586–44600. </a:t>
            </a:r>
            <a:r>
              <a:rPr lang="en-US" sz="900" dirty="0">
                <a:hlinkClick r:id="rId4"/>
              </a:rPr>
              <a:t>https://doi.org/10.1021/acsomega.3c05007</a:t>
            </a:r>
            <a:endParaRPr lang="en-US" sz="900" dirty="0"/>
          </a:p>
          <a:p>
            <a:pPr algn="just"/>
            <a:r>
              <a:rPr lang="en-US" sz="900" dirty="0"/>
              <a:t>Baser, B., Hansen, B. B., Morten Nedergaard, P., Anker Degn, J., </a:t>
            </a:r>
            <a:r>
              <a:rPr lang="en-US" sz="900" dirty="0" err="1"/>
              <a:t>Schulzke</a:t>
            </a:r>
            <a:r>
              <a:rPr lang="en-US" sz="900" dirty="0"/>
              <a:t>, T., &amp; Jensen, P. A. (2026). Upgrading Wood and Waste Fast Pyrolysis Oils by Esterification. </a:t>
            </a:r>
            <a:r>
              <a:rPr lang="en-US" sz="900" i="1" dirty="0"/>
              <a:t>Energy Fuels</a:t>
            </a:r>
            <a:r>
              <a:rPr lang="en-US" sz="900" dirty="0"/>
              <a:t>, </a:t>
            </a:r>
            <a:r>
              <a:rPr lang="en-US" sz="900" i="1" dirty="0"/>
              <a:t>40</a:t>
            </a:r>
            <a:r>
              <a:rPr lang="en-US" sz="900" dirty="0"/>
              <a:t>(12), 6171–6181. https://</a:t>
            </a:r>
            <a:r>
              <a:rPr lang="en-US" sz="900" dirty="0" err="1"/>
              <a:t>doi.org</a:t>
            </a:r>
            <a:r>
              <a:rPr lang="en-US" sz="900" dirty="0"/>
              <a:t>/10.1021/acs.energyfuels.5c06144</a:t>
            </a:r>
          </a:p>
          <a:p>
            <a:pPr algn="just"/>
            <a:endParaRPr lang="en-US" sz="900" dirty="0"/>
          </a:p>
          <a:p>
            <a:pPr algn="just"/>
            <a:endParaRPr lang="en-US" sz="900" dirty="0"/>
          </a:p>
          <a:p>
            <a:pPr algn="just"/>
            <a:endParaRPr lang="en-US" sz="900" dirty="0"/>
          </a:p>
          <a:p>
            <a:pPr algn="just"/>
            <a:endParaRPr lang="en-US" sz="900" dirty="0"/>
          </a:p>
          <a:p>
            <a:pPr algn="just"/>
            <a:endParaRPr lang="en-AU" sz="1600" i="1" dirty="0">
              <a:solidFill>
                <a:schemeClr val="bg1"/>
              </a:solidFill>
            </a:endParaRP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44995DC1-B232-A1D6-A42B-03A95F0314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3192" y="223567"/>
            <a:ext cx="7452026" cy="736956"/>
          </a:xfrm>
        </p:spPr>
        <p:txBody>
          <a:bodyPr/>
          <a:lstStyle/>
          <a:p>
            <a:r>
              <a:rPr lang="en-MY" dirty="0"/>
              <a:t>EXISTING LITERATURE</a:t>
            </a:r>
          </a:p>
        </p:txBody>
      </p:sp>
      <p:sp>
        <p:nvSpPr>
          <p:cNvPr id="2" name="Shape 1">
            <a:extLst>
              <a:ext uri="{FF2B5EF4-FFF2-40B4-BE49-F238E27FC236}">
                <a16:creationId xmlns:a16="http://schemas.microsoft.com/office/drawing/2014/main" id="{B66ECFEE-3C29-0E65-040B-A2932E3E0BB6}"/>
              </a:ext>
            </a:extLst>
          </p:cNvPr>
          <p:cNvSpPr/>
          <p:nvPr/>
        </p:nvSpPr>
        <p:spPr>
          <a:xfrm>
            <a:off x="457200" y="930918"/>
            <a:ext cx="11292840" cy="834277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634CF2D9-4F76-6AB5-AD9E-8A705764F3B3}"/>
              </a:ext>
            </a:extLst>
          </p:cNvPr>
          <p:cNvSpPr txBox="1"/>
          <p:nvPr/>
        </p:nvSpPr>
        <p:spPr>
          <a:xfrm>
            <a:off x="731520" y="998466"/>
            <a:ext cx="1074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3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1-Hexanol (act as entrainer &amp; alcohol) + </a:t>
            </a:r>
            <a:r>
              <a:rPr lang="en-US" sz="16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Amberlyst-36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0A35B0EB-09AB-651F-8476-EF1EDA3180CE}"/>
              </a:ext>
            </a:extLst>
          </p:cNvPr>
          <p:cNvSpPr txBox="1"/>
          <p:nvPr/>
        </p:nvSpPr>
        <p:spPr>
          <a:xfrm>
            <a:off x="731520" y="1391658"/>
            <a:ext cx="10744200" cy="179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1A1A1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&gt;70% TAN reduction and marine-grade flash point achieved 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(Baser et al., 2026)</a:t>
            </a: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FBE59B90-EA6F-7F10-49C1-5B6A50F32E77}"/>
              </a:ext>
            </a:extLst>
          </p:cNvPr>
          <p:cNvSpPr txBox="1"/>
          <p:nvPr/>
        </p:nvSpPr>
        <p:spPr>
          <a:xfrm>
            <a:off x="731520" y="2011092"/>
            <a:ext cx="1074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3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Methanol + H₂SO₄ (Without Entrainer)</a:t>
            </a:r>
            <a:endParaRPr lang="en-US" sz="16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86DD8F6A-05CE-2EAC-3556-41D60F2A2B5A}"/>
              </a:ext>
            </a:extLst>
          </p:cNvPr>
          <p:cNvSpPr txBox="1"/>
          <p:nvPr/>
        </p:nvSpPr>
        <p:spPr>
          <a:xfrm>
            <a:off x="731520" y="2404284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1A1A1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96.95% acid value reduction 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Khamhuatoey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et al., 2023)</a:t>
            </a: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69D81DB2-A4F4-0E16-3DA6-85D1D8CBCD3B}"/>
              </a:ext>
            </a:extLst>
          </p:cNvPr>
          <p:cNvSpPr txBox="1"/>
          <p:nvPr/>
        </p:nvSpPr>
        <p:spPr>
          <a:xfrm>
            <a:off x="731520" y="3067964"/>
            <a:ext cx="1074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3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Methanol / </a:t>
            </a:r>
            <a:r>
              <a:rPr lang="en-US" sz="16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Ethanol</a:t>
            </a:r>
            <a:r>
              <a:rPr lang="en-US" sz="1600" b="1" dirty="0">
                <a:solidFill>
                  <a:srgbClr val="053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Amberlyst-15 (Without Entrainer)</a:t>
            </a:r>
            <a:endParaRPr lang="en-US" sz="16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D11CAD5D-144D-2CF6-8957-40E44A181A9C}"/>
              </a:ext>
            </a:extLst>
          </p:cNvPr>
          <p:cNvSpPr txBox="1"/>
          <p:nvPr/>
        </p:nvSpPr>
        <p:spPr>
          <a:xfrm>
            <a:off x="731520" y="3461156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1A1A1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TAN reduced from 106.1 to 33.1 and 40.6 mgKOH/g, respectively 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(Ilin et al., 2025)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57DDA6B-C18B-F79D-5391-4F979390E821}"/>
              </a:ext>
            </a:extLst>
          </p:cNvPr>
          <p:cNvSpPr txBox="1"/>
          <p:nvPr/>
        </p:nvSpPr>
        <p:spPr>
          <a:xfrm>
            <a:off x="723900" y="5310894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entrainer: </a:t>
            </a: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hydrolysis dominates, preventing complete esterification. 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entrainer: </a:t>
            </a: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content significantly reduced</a:t>
            </a:r>
            <a:endParaRPr lang="en-US" sz="13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619650F5-4303-EC29-C0AB-738CFE28C7A1}"/>
              </a:ext>
            </a:extLst>
          </p:cNvPr>
          <p:cNvSpPr txBox="1"/>
          <p:nvPr/>
        </p:nvSpPr>
        <p:spPr>
          <a:xfrm>
            <a:off x="731520" y="4114213"/>
            <a:ext cx="1074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Ethanol</a:t>
            </a:r>
            <a:r>
              <a:rPr lang="en-US" sz="1600" b="1" dirty="0">
                <a:solidFill>
                  <a:srgbClr val="053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Amberlyst-15 + </a:t>
            </a:r>
            <a:r>
              <a:rPr lang="en-US" sz="16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Cyclohexane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88DE802F-2FA4-FD40-B307-C31A4E06DEBA}"/>
              </a:ext>
            </a:extLst>
          </p:cNvPr>
          <p:cNvSpPr txBox="1"/>
          <p:nvPr/>
        </p:nvSpPr>
        <p:spPr>
          <a:xfrm>
            <a:off x="731520" y="4507405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 reduced from 92 to 21 </a:t>
            </a:r>
            <a:r>
              <a:rPr lang="en-US" sz="1300" dirty="0" err="1">
                <a:solidFill>
                  <a:srgbClr val="1A1A1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mgKOH</a:t>
            </a:r>
            <a:r>
              <a:rPr lang="en-US" sz="1300" dirty="0">
                <a:solidFill>
                  <a:srgbClr val="1A1A1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/g 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(Moens et al., 2009)</a:t>
            </a:r>
          </a:p>
        </p:txBody>
      </p:sp>
    </p:spTree>
    <p:extLst>
      <p:ext uri="{BB962C8B-B14F-4D97-AF65-F5344CB8AC3E}">
        <p14:creationId xmlns:p14="http://schemas.microsoft.com/office/powerpoint/2010/main" val="3850245241"/>
      </p:ext>
    </p:extLst>
  </p:cSld>
  <p:clrMapOvr>
    <a:masterClrMapping/>
  </p:clrMapOvr>
</p:sld>
</file>

<file path=ppt/theme/theme1.xml><?xml version="1.0" encoding="utf-8"?>
<a:theme xmlns:a="http://schemas.openxmlformats.org/drawingml/2006/main" name="Image Dec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35654</TotalTime>
  <Words>1902</Words>
  <Application>Microsoft Macintosh PowerPoint</Application>
  <PresentationFormat>Widescreen</PresentationFormat>
  <Paragraphs>206</Paragraphs>
  <Slides>13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Arial Narrow</vt:lpstr>
      <vt:lpstr>Calibri</vt:lpstr>
      <vt:lpstr>Image Deck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Timothy Burnett</dc:creator>
  <cp:lastModifiedBy>Su Goh</cp:lastModifiedBy>
  <cp:revision>510</cp:revision>
  <cp:lastPrinted>2017-06-07T05:21:52Z</cp:lastPrinted>
  <dcterms:created xsi:type="dcterms:W3CDTF">2017-05-31T01:24:04Z</dcterms:created>
  <dcterms:modified xsi:type="dcterms:W3CDTF">2026-09-22T08:53:40Z</dcterms:modified>
</cp:coreProperties>
</file>