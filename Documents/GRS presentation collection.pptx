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00" r:id="rId1"/>
  </p:sldMasterIdLst>
  <p:notesMasterIdLst>
    <p:notesMasterId r:id="rId46"/>
  </p:notesMasterIdLst>
  <p:handoutMasterIdLst>
    <p:handoutMasterId r:id="rId47"/>
  </p:handoutMasterIdLst>
  <p:sldIdLst>
    <p:sldId id="447" r:id="rId2"/>
    <p:sldId id="454" r:id="rId3"/>
    <p:sldId id="455" r:id="rId4"/>
    <p:sldId id="456" r:id="rId5"/>
    <p:sldId id="457" r:id="rId6"/>
    <p:sldId id="452" r:id="rId7"/>
    <p:sldId id="453" r:id="rId8"/>
    <p:sldId id="444" r:id="rId9"/>
    <p:sldId id="459" r:id="rId10"/>
    <p:sldId id="460" r:id="rId11"/>
    <p:sldId id="458" r:id="rId12"/>
    <p:sldId id="461" r:id="rId13"/>
    <p:sldId id="462" r:id="rId14"/>
    <p:sldId id="465" r:id="rId15"/>
    <p:sldId id="464" r:id="rId16"/>
    <p:sldId id="463" r:id="rId17"/>
    <p:sldId id="466" r:id="rId18"/>
    <p:sldId id="446" r:id="rId19"/>
    <p:sldId id="432" r:id="rId20"/>
    <p:sldId id="472" r:id="rId21"/>
    <p:sldId id="471" r:id="rId22"/>
    <p:sldId id="467" r:id="rId23"/>
    <p:sldId id="468" r:id="rId24"/>
    <p:sldId id="469" r:id="rId25"/>
    <p:sldId id="470" r:id="rId26"/>
    <p:sldId id="443" r:id="rId27"/>
    <p:sldId id="474" r:id="rId28"/>
    <p:sldId id="475" r:id="rId29"/>
    <p:sldId id="476" r:id="rId30"/>
    <p:sldId id="477" r:id="rId31"/>
    <p:sldId id="479" r:id="rId32"/>
    <p:sldId id="478" r:id="rId33"/>
    <p:sldId id="480" r:id="rId34"/>
    <p:sldId id="481" r:id="rId35"/>
    <p:sldId id="482" r:id="rId36"/>
    <p:sldId id="483" r:id="rId37"/>
    <p:sldId id="484" r:id="rId38"/>
    <p:sldId id="485" r:id="rId39"/>
    <p:sldId id="486" r:id="rId40"/>
    <p:sldId id="488" r:id="rId41"/>
    <p:sldId id="487" r:id="rId42"/>
    <p:sldId id="451" r:id="rId43"/>
    <p:sldId id="473" r:id="rId44"/>
    <p:sldId id="44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61" userDrawn="1">
          <p15:clr>
            <a:srgbClr val="A4A3A4"/>
          </p15:clr>
        </p15:guide>
        <p15:guide id="2" pos="744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5A5A5A"/>
    <a:srgbClr val="969696"/>
    <a:srgbClr val="006DAE"/>
    <a:srgbClr val="006CAB"/>
    <a:srgbClr val="E6E6E6"/>
    <a:srgbClr val="C800D9"/>
    <a:srgbClr val="CD48D9"/>
    <a:srgbClr val="00AC3E"/>
    <a:srgbClr val="F163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6093"/>
  </p:normalViewPr>
  <p:slideViewPr>
    <p:cSldViewPr snapToGrid="0" snapToObjects="1" showGuides="1">
      <p:cViewPr varScale="1">
        <p:scale>
          <a:sx n="78" d="100"/>
          <a:sy n="78" d="100"/>
        </p:scale>
        <p:origin x="874" y="72"/>
      </p:cViewPr>
      <p:guideLst>
        <p:guide orient="horz" pos="3861"/>
        <p:guide pos="7446"/>
      </p:guideLst>
    </p:cSldViewPr>
  </p:slideViewPr>
  <p:notesTextViewPr>
    <p:cViewPr>
      <p:scale>
        <a:sx n="3" d="2"/>
        <a:sy n="3" d="2"/>
      </p:scale>
      <p:origin x="0" y="0"/>
    </p:cViewPr>
  </p:notesTextViewPr>
  <p:notesViewPr>
    <p:cSldViewPr snapToGrid="0" snapToObjects="1" showGuides="1">
      <p:cViewPr varScale="1">
        <p:scale>
          <a:sx n="62" d="100"/>
          <a:sy n="62" d="100"/>
        </p:scale>
        <p:origin x="322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E:\Documents\GitHub\Notes\Documents\Sample%20Analysis%20Database%20WIP%20(version%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Documents\GitHub\Notes\Documents\Sample%20Analysis%20Database%20WIP%20(version%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Documents\GitHub\Notes\Documents\Sample%20Analysis%20Database%20WIP%20(version%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Documents\GitHub\Notes\Documents\20260914%20Titer%20Standardization%20Table.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E:\Documents\GitHub\Notes\Documents\20260914%20Titer%20Standardization%20Table.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E:\Documents\GitHub\Notes\Documents\GC-MS%20need%20updat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TAN (new method) vs water</a:t>
            </a:r>
            <a:r>
              <a:rPr lang="en-US" baseline="0"/>
              <a:t> loading (wt% wrt oil)</a:t>
            </a:r>
            <a:endParaRPr lang="en-US"/>
          </a:p>
        </c:rich>
      </c:tx>
      <c:layout>
        <c:manualLayout>
          <c:xMode val="edge"/>
          <c:yMode val="edge"/>
          <c:x val="0.23599525149935968"/>
          <c:y val="4.7382136934375737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 (2)'!$I$20</c:f>
              <c:strCache>
                <c:ptCount val="1"/>
                <c:pt idx="0">
                  <c:v>50</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1349772401638202"/>
                  <c:y val="8.5864346490092766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errBars>
            <c:errDir val="y"/>
            <c:errBarType val="both"/>
            <c:errValType val="cust"/>
            <c:noEndCap val="0"/>
            <c:plus>
              <c:numRef>
                <c:f>'Sheet1 (2)'!$S$15:$S$21</c:f>
                <c:numCache>
                  <c:formatCode>General</c:formatCode>
                  <c:ptCount val="7"/>
                  <c:pt idx="0">
                    <c:v>1.88</c:v>
                  </c:pt>
                  <c:pt idx="1">
                    <c:v>1.89</c:v>
                  </c:pt>
                  <c:pt idx="2">
                    <c:v>1.94</c:v>
                  </c:pt>
                  <c:pt idx="3">
                    <c:v>1.68</c:v>
                  </c:pt>
                  <c:pt idx="4">
                    <c:v>1.71</c:v>
                  </c:pt>
                  <c:pt idx="5">
                    <c:v>1.36</c:v>
                  </c:pt>
                  <c:pt idx="6">
                    <c:v>0.59</c:v>
                  </c:pt>
                </c:numCache>
              </c:numRef>
            </c:plus>
            <c:minus>
              <c:numRef>
                <c:f>'Sheet1 (2)'!$S$15:$S$21</c:f>
                <c:numCache>
                  <c:formatCode>General</c:formatCode>
                  <c:ptCount val="7"/>
                  <c:pt idx="0">
                    <c:v>1.88</c:v>
                  </c:pt>
                  <c:pt idx="1">
                    <c:v>1.89</c:v>
                  </c:pt>
                  <c:pt idx="2">
                    <c:v>1.94</c:v>
                  </c:pt>
                  <c:pt idx="3">
                    <c:v>1.68</c:v>
                  </c:pt>
                  <c:pt idx="4">
                    <c:v>1.71</c:v>
                  </c:pt>
                  <c:pt idx="5">
                    <c:v>1.36</c:v>
                  </c:pt>
                  <c:pt idx="6">
                    <c:v>0.59</c:v>
                  </c:pt>
                </c:numCache>
              </c:numRef>
            </c:minus>
            <c:spPr>
              <a:noFill/>
              <a:ln w="9525" cap="flat" cmpd="sng" algn="ctr">
                <a:solidFill>
                  <a:schemeClr val="tx1">
                    <a:lumMod val="65000"/>
                    <a:lumOff val="35000"/>
                  </a:schemeClr>
                </a:solidFill>
                <a:round/>
              </a:ln>
              <a:effectLst/>
            </c:spPr>
          </c:errBars>
          <c:xVal>
            <c:numRef>
              <c:f>'Sheet1 (2)'!$I$15:$I$21</c:f>
              <c:numCache>
                <c:formatCode>General</c:formatCode>
                <c:ptCount val="7"/>
                <c:pt idx="0">
                  <c:v>0</c:v>
                </c:pt>
                <c:pt idx="1">
                  <c:v>10</c:v>
                </c:pt>
                <c:pt idx="2">
                  <c:v>20</c:v>
                </c:pt>
                <c:pt idx="3">
                  <c:v>30</c:v>
                </c:pt>
                <c:pt idx="4">
                  <c:v>40</c:v>
                </c:pt>
                <c:pt idx="5">
                  <c:v>50</c:v>
                </c:pt>
                <c:pt idx="6">
                  <c:v>100</c:v>
                </c:pt>
              </c:numCache>
            </c:numRef>
          </c:xVal>
          <c:yVal>
            <c:numRef>
              <c:f>'Sheet1 (2)'!$J$15:$J$21</c:f>
              <c:numCache>
                <c:formatCode>General</c:formatCode>
                <c:ptCount val="7"/>
                <c:pt idx="0">
                  <c:v>77.650000000000006</c:v>
                </c:pt>
                <c:pt idx="1">
                  <c:v>76.47</c:v>
                </c:pt>
                <c:pt idx="2">
                  <c:v>75.459999999999994</c:v>
                </c:pt>
                <c:pt idx="3">
                  <c:v>75.03</c:v>
                </c:pt>
                <c:pt idx="4">
                  <c:v>73.790000000000006</c:v>
                </c:pt>
                <c:pt idx="5">
                  <c:v>67.47</c:v>
                </c:pt>
                <c:pt idx="6">
                  <c:v>61.3</c:v>
                </c:pt>
              </c:numCache>
            </c:numRef>
          </c:yVal>
          <c:smooth val="0"/>
          <c:extLst>
            <c:ext xmlns:c16="http://schemas.microsoft.com/office/drawing/2014/chart" uri="{C3380CC4-5D6E-409C-BE32-E72D297353CC}">
              <c16:uniqueId val="{00000001-DF19-4C5D-967A-91183491D32E}"/>
            </c:ext>
          </c:extLst>
        </c:ser>
        <c:dLbls>
          <c:showLegendKey val="0"/>
          <c:showVal val="0"/>
          <c:showCatName val="0"/>
          <c:showSerName val="0"/>
          <c:showPercent val="0"/>
          <c:showBubbleSize val="0"/>
        </c:dLbls>
        <c:axId val="210664720"/>
        <c:axId val="2130125839"/>
      </c:scatterChart>
      <c:valAx>
        <c:axId val="210664720"/>
        <c:scaling>
          <c:orientation val="minMax"/>
          <c:max val="10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E"/>
                  <a:t>Water loading (wt%</a:t>
                </a:r>
                <a:r>
                  <a:rPr lang="en-IE" baseline="0"/>
                  <a:t> wrt oil)</a:t>
                </a:r>
                <a:endParaRPr lang="en-IE"/>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0125839"/>
        <c:crosses val="autoZero"/>
        <c:crossBetween val="midCat"/>
        <c:minorUnit val="5"/>
      </c:valAx>
      <c:valAx>
        <c:axId val="213012583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E"/>
                  <a:t>TAN (mg KOH/g</a:t>
                </a:r>
                <a:r>
                  <a:rPr lang="en-IE" baseline="0"/>
                  <a:t> oil)</a:t>
                </a:r>
                <a:endParaRPr lang="en-IE"/>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664720"/>
        <c:crosses val="autoZero"/>
        <c:crossBetween val="midCat"/>
        <c:minorUnit val="5"/>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TAN (old method) vs water</a:t>
            </a:r>
            <a:r>
              <a:rPr lang="en-US" baseline="0"/>
              <a:t> loading (wt% wrt oil)</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Sheet1!$I$20</c:f>
              <c:strCache>
                <c:ptCount val="1"/>
                <c:pt idx="0">
                  <c:v>50</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4.2845550103338535E-2"/>
                  <c:y val="4.3454991578821378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errBars>
            <c:errDir val="y"/>
            <c:errBarType val="both"/>
            <c:errValType val="cust"/>
            <c:noEndCap val="0"/>
            <c:plus>
              <c:numRef>
                <c:f>Sheet1!$S$15:$S$20</c:f>
                <c:numCache>
                  <c:formatCode>General</c:formatCode>
                  <c:ptCount val="6"/>
                  <c:pt idx="0">
                    <c:v>0.04</c:v>
                  </c:pt>
                  <c:pt idx="1">
                    <c:v>0.57999999999999996</c:v>
                  </c:pt>
                  <c:pt idx="2">
                    <c:v>1.5</c:v>
                  </c:pt>
                  <c:pt idx="3">
                    <c:v>1.8</c:v>
                  </c:pt>
                  <c:pt idx="4">
                    <c:v>1</c:v>
                  </c:pt>
                  <c:pt idx="5">
                    <c:v>1</c:v>
                  </c:pt>
                </c:numCache>
              </c:numRef>
            </c:plus>
            <c:minus>
              <c:numRef>
                <c:f>Sheet1!$S$15:$S$20</c:f>
                <c:numCache>
                  <c:formatCode>General</c:formatCode>
                  <c:ptCount val="6"/>
                  <c:pt idx="0">
                    <c:v>0.04</c:v>
                  </c:pt>
                  <c:pt idx="1">
                    <c:v>0.57999999999999996</c:v>
                  </c:pt>
                  <c:pt idx="2">
                    <c:v>1.5</c:v>
                  </c:pt>
                  <c:pt idx="3">
                    <c:v>1.8</c:v>
                  </c:pt>
                  <c:pt idx="4">
                    <c:v>1</c:v>
                  </c:pt>
                  <c:pt idx="5">
                    <c:v>1</c:v>
                  </c:pt>
                </c:numCache>
              </c:numRef>
            </c:minus>
            <c:spPr>
              <a:noFill/>
              <a:ln w="9525" cap="flat" cmpd="sng" algn="ctr">
                <a:solidFill>
                  <a:schemeClr val="tx1">
                    <a:lumMod val="65000"/>
                    <a:lumOff val="35000"/>
                  </a:schemeClr>
                </a:solidFill>
                <a:round/>
              </a:ln>
              <a:effectLst/>
            </c:spPr>
          </c:errBars>
          <c:xVal>
            <c:numRef>
              <c:f>Sheet1!$I$15:$I$20</c:f>
              <c:numCache>
                <c:formatCode>General</c:formatCode>
                <c:ptCount val="6"/>
                <c:pt idx="0">
                  <c:v>0</c:v>
                </c:pt>
                <c:pt idx="1">
                  <c:v>10</c:v>
                </c:pt>
                <c:pt idx="2">
                  <c:v>20</c:v>
                </c:pt>
                <c:pt idx="3">
                  <c:v>30</c:v>
                </c:pt>
                <c:pt idx="4">
                  <c:v>40</c:v>
                </c:pt>
                <c:pt idx="5">
                  <c:v>50</c:v>
                </c:pt>
              </c:numCache>
            </c:numRef>
          </c:xVal>
          <c:yVal>
            <c:numRef>
              <c:f>Sheet1!$J$15:$J$20</c:f>
              <c:numCache>
                <c:formatCode>General</c:formatCode>
                <c:ptCount val="6"/>
                <c:pt idx="0">
                  <c:v>68.64</c:v>
                </c:pt>
                <c:pt idx="1">
                  <c:v>66</c:v>
                </c:pt>
                <c:pt idx="2">
                  <c:v>62.69</c:v>
                </c:pt>
                <c:pt idx="3">
                  <c:v>59.204999999999998</c:v>
                </c:pt>
                <c:pt idx="4">
                  <c:v>55</c:v>
                </c:pt>
                <c:pt idx="5">
                  <c:v>51</c:v>
                </c:pt>
              </c:numCache>
            </c:numRef>
          </c:yVal>
          <c:smooth val="0"/>
          <c:extLst>
            <c:ext xmlns:c16="http://schemas.microsoft.com/office/drawing/2014/chart" uri="{C3380CC4-5D6E-409C-BE32-E72D297353CC}">
              <c16:uniqueId val="{00000001-CFD9-4F16-B98C-07EAE8245483}"/>
            </c:ext>
          </c:extLst>
        </c:ser>
        <c:dLbls>
          <c:showLegendKey val="0"/>
          <c:showVal val="0"/>
          <c:showCatName val="0"/>
          <c:showSerName val="0"/>
          <c:showPercent val="0"/>
          <c:showBubbleSize val="0"/>
        </c:dLbls>
        <c:axId val="210664720"/>
        <c:axId val="2130125839"/>
      </c:scatterChart>
      <c:valAx>
        <c:axId val="210664720"/>
        <c:scaling>
          <c:orientation val="minMax"/>
          <c:max val="5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E"/>
                  <a:t>Water loading (wt%</a:t>
                </a:r>
                <a:r>
                  <a:rPr lang="en-IE" baseline="0"/>
                  <a:t> wrt oil)</a:t>
                </a:r>
                <a:endParaRPr lang="en-IE"/>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0125839"/>
        <c:crosses val="autoZero"/>
        <c:crossBetween val="midCat"/>
        <c:minorUnit val="5"/>
      </c:valAx>
      <c:valAx>
        <c:axId val="213012583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E"/>
                  <a:t>TAN (mg KOH/g</a:t>
                </a:r>
                <a:r>
                  <a:rPr lang="en-IE" baseline="0"/>
                  <a:t> oil)</a:t>
                </a:r>
                <a:endParaRPr lang="en-IE"/>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664720"/>
        <c:crosses val="autoZero"/>
        <c:crossBetween val="midCat"/>
        <c:minorUnit val="5"/>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TAN vs water loading (wt% wrt oil)</a:t>
            </a:r>
          </a:p>
        </c:rich>
      </c:tx>
      <c:layout>
        <c:manualLayout>
          <c:xMode val="edge"/>
          <c:yMode val="edge"/>
          <c:x val="0.23599525149935968"/>
          <c:y val="4.7382136934375737E-3"/>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 (2)'!$I$20</c:f>
              <c:strCache>
                <c:ptCount val="1"/>
                <c:pt idx="0">
                  <c:v>50</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1349772401638202"/>
                  <c:y val="8.5864346490092766E-2"/>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rendlineLbl>
          </c:trendline>
          <c:errBars>
            <c:errDir val="y"/>
            <c:errBarType val="both"/>
            <c:errValType val="cust"/>
            <c:noEndCap val="0"/>
            <c:plus>
              <c:numRef>
                <c:f>'Sheet1 (2)'!$S$15:$S$21</c:f>
                <c:numCache>
                  <c:formatCode>General</c:formatCode>
                  <c:ptCount val="7"/>
                  <c:pt idx="0">
                    <c:v>1.88</c:v>
                  </c:pt>
                  <c:pt idx="1">
                    <c:v>1.89</c:v>
                  </c:pt>
                  <c:pt idx="2">
                    <c:v>1.94</c:v>
                  </c:pt>
                  <c:pt idx="3">
                    <c:v>1.68</c:v>
                  </c:pt>
                  <c:pt idx="4">
                    <c:v>1.71</c:v>
                  </c:pt>
                  <c:pt idx="5">
                    <c:v>1.36</c:v>
                  </c:pt>
                  <c:pt idx="6">
                    <c:v>0.59</c:v>
                  </c:pt>
                </c:numCache>
              </c:numRef>
            </c:plus>
            <c:minus>
              <c:numRef>
                <c:f>'Sheet1 (2)'!$S$15:$S$21</c:f>
                <c:numCache>
                  <c:formatCode>General</c:formatCode>
                  <c:ptCount val="7"/>
                  <c:pt idx="0">
                    <c:v>1.88</c:v>
                  </c:pt>
                  <c:pt idx="1">
                    <c:v>1.89</c:v>
                  </c:pt>
                  <c:pt idx="2">
                    <c:v>1.94</c:v>
                  </c:pt>
                  <c:pt idx="3">
                    <c:v>1.68</c:v>
                  </c:pt>
                  <c:pt idx="4">
                    <c:v>1.71</c:v>
                  </c:pt>
                  <c:pt idx="5">
                    <c:v>1.36</c:v>
                  </c:pt>
                  <c:pt idx="6">
                    <c:v>0.59</c:v>
                  </c:pt>
                </c:numCache>
              </c:numRef>
            </c:minus>
            <c:spPr>
              <a:noFill/>
              <a:ln w="9525" cap="flat" cmpd="sng" algn="ctr">
                <a:solidFill>
                  <a:schemeClr val="tx1">
                    <a:lumMod val="65000"/>
                    <a:lumOff val="35000"/>
                  </a:schemeClr>
                </a:solidFill>
                <a:round/>
              </a:ln>
              <a:effectLst/>
            </c:spPr>
          </c:errBars>
          <c:xVal>
            <c:numRef>
              <c:f>'Sheet1 (2)'!$I$15:$I$21</c:f>
              <c:numCache>
                <c:formatCode>General</c:formatCode>
                <c:ptCount val="7"/>
                <c:pt idx="0">
                  <c:v>0</c:v>
                </c:pt>
                <c:pt idx="1">
                  <c:v>10</c:v>
                </c:pt>
                <c:pt idx="2">
                  <c:v>20</c:v>
                </c:pt>
                <c:pt idx="3">
                  <c:v>30</c:v>
                </c:pt>
                <c:pt idx="4">
                  <c:v>40</c:v>
                </c:pt>
                <c:pt idx="5">
                  <c:v>50</c:v>
                </c:pt>
                <c:pt idx="6">
                  <c:v>100</c:v>
                </c:pt>
              </c:numCache>
            </c:numRef>
          </c:xVal>
          <c:yVal>
            <c:numRef>
              <c:f>'Sheet1 (2)'!$J$15:$J$21</c:f>
              <c:numCache>
                <c:formatCode>General</c:formatCode>
                <c:ptCount val="7"/>
                <c:pt idx="0">
                  <c:v>77.650000000000006</c:v>
                </c:pt>
                <c:pt idx="1">
                  <c:v>76.47</c:v>
                </c:pt>
                <c:pt idx="2">
                  <c:v>75.459999999999994</c:v>
                </c:pt>
                <c:pt idx="3">
                  <c:v>75.03</c:v>
                </c:pt>
                <c:pt idx="4">
                  <c:v>73.790000000000006</c:v>
                </c:pt>
                <c:pt idx="5">
                  <c:v>67.47</c:v>
                </c:pt>
                <c:pt idx="6">
                  <c:v>61.3</c:v>
                </c:pt>
              </c:numCache>
            </c:numRef>
          </c:yVal>
          <c:smooth val="0"/>
          <c:extLst>
            <c:ext xmlns:c16="http://schemas.microsoft.com/office/drawing/2014/chart" uri="{C3380CC4-5D6E-409C-BE32-E72D297353CC}">
              <c16:uniqueId val="{00000001-710B-4E63-866B-48A793505A76}"/>
            </c:ext>
          </c:extLst>
        </c:ser>
        <c:dLbls>
          <c:showLegendKey val="0"/>
          <c:showVal val="0"/>
          <c:showCatName val="0"/>
          <c:showSerName val="0"/>
          <c:showPercent val="0"/>
          <c:showBubbleSize val="0"/>
        </c:dLbls>
        <c:axId val="210664720"/>
        <c:axId val="2130125839"/>
      </c:scatterChart>
      <c:valAx>
        <c:axId val="210664720"/>
        <c:scaling>
          <c:orientation val="minMax"/>
          <c:max val="100"/>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IE"/>
                  <a:t>Water loading (wt% wrt oil)</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130125839"/>
        <c:crosses val="autoZero"/>
        <c:crossBetween val="midCat"/>
        <c:minorUnit val="5"/>
      </c:valAx>
      <c:valAx>
        <c:axId val="2130125839"/>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IE"/>
                  <a:t>TAN (mg KOH/g oil)</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10664720"/>
        <c:crosses val="autoZero"/>
        <c:crossBetween val="midCat"/>
        <c:minorUnit val="5"/>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IE"/>
              <a:t>Titer curve of distilled Pyrolysis Oil (U/V)</a:t>
            </a:r>
          </a:p>
        </c:rich>
      </c:tx>
      <c:layout>
        <c:manualLayout>
          <c:xMode val="edge"/>
          <c:yMode val="edge"/>
          <c:x val="0.20327372665671395"/>
          <c:y val="3.7010506904062357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manualLayout>
          <c:layoutTarget val="inner"/>
          <c:xMode val="edge"/>
          <c:yMode val="edge"/>
          <c:x val="0.10754999773638774"/>
          <c:y val="8.4357542447160414E-2"/>
          <c:w val="0.85981818537924815"/>
          <c:h val="0.77769915878323437"/>
        </c:manualLayout>
      </c:layout>
      <c:scatterChart>
        <c:scatterStyle val="smoothMarker"/>
        <c:varyColors val="0"/>
        <c:ser>
          <c:idx val="0"/>
          <c:order val="0"/>
          <c:spPr>
            <a:ln w="19050" cap="rnd">
              <a:solidFill>
                <a:schemeClr val="accent1"/>
              </a:solidFill>
              <a:round/>
            </a:ln>
            <a:effectLst/>
          </c:spPr>
          <c:marker>
            <c:symbol val="none"/>
          </c:marker>
          <c:xVal>
            <c:numRef>
              <c:f>'Sample 18 '!$A$2:$A$61</c:f>
              <c:numCache>
                <c:formatCode>General</c:formatCode>
                <c:ptCount val="60"/>
                <c:pt idx="0">
                  <c:v>0</c:v>
                </c:pt>
                <c:pt idx="1">
                  <c:v>0.04</c:v>
                </c:pt>
                <c:pt idx="2">
                  <c:v>0.08</c:v>
                </c:pt>
                <c:pt idx="3">
                  <c:v>1.2E-2</c:v>
                </c:pt>
                <c:pt idx="4">
                  <c:v>5.1999999999999998E-2</c:v>
                </c:pt>
                <c:pt idx="5">
                  <c:v>7.3999999999999996E-2</c:v>
                </c:pt>
                <c:pt idx="6">
                  <c:v>0.622</c:v>
                </c:pt>
                <c:pt idx="7">
                  <c:v>0.86799999999999999</c:v>
                </c:pt>
                <c:pt idx="8">
                  <c:v>1.1919999999999999</c:v>
                </c:pt>
                <c:pt idx="9">
                  <c:v>1.468</c:v>
                </c:pt>
                <c:pt idx="10">
                  <c:v>1.8580000000000001</c:v>
                </c:pt>
                <c:pt idx="11">
                  <c:v>2.2879999999999998</c:v>
                </c:pt>
                <c:pt idx="12">
                  <c:v>2.7360000000000002</c:v>
                </c:pt>
                <c:pt idx="13">
                  <c:v>3.21</c:v>
                </c:pt>
                <c:pt idx="14">
                  <c:v>3.7160000000000002</c:v>
                </c:pt>
                <c:pt idx="15">
                  <c:v>4.25</c:v>
                </c:pt>
                <c:pt idx="16">
                  <c:v>4.8</c:v>
                </c:pt>
                <c:pt idx="17">
                  <c:v>5.3739999999999997</c:v>
                </c:pt>
                <c:pt idx="18">
                  <c:v>5.96</c:v>
                </c:pt>
                <c:pt idx="19">
                  <c:v>6.556</c:v>
                </c:pt>
                <c:pt idx="20">
                  <c:v>7.15</c:v>
                </c:pt>
                <c:pt idx="21">
                  <c:v>7.766</c:v>
                </c:pt>
                <c:pt idx="22">
                  <c:v>8.3719999999999999</c:v>
                </c:pt>
                <c:pt idx="23">
                  <c:v>8.9779999999999998</c:v>
                </c:pt>
                <c:pt idx="24">
                  <c:v>9.5820000000000007</c:v>
                </c:pt>
                <c:pt idx="25">
                  <c:v>10.173999999999999</c:v>
                </c:pt>
                <c:pt idx="26">
                  <c:v>10.76</c:v>
                </c:pt>
                <c:pt idx="27">
                  <c:v>11.334</c:v>
                </c:pt>
                <c:pt idx="28">
                  <c:v>11.885999999999999</c:v>
                </c:pt>
                <c:pt idx="29">
                  <c:v>12.41</c:v>
                </c:pt>
                <c:pt idx="30">
                  <c:v>12.912000000000001</c:v>
                </c:pt>
                <c:pt idx="31">
                  <c:v>13.39</c:v>
                </c:pt>
                <c:pt idx="32">
                  <c:v>13.824</c:v>
                </c:pt>
                <c:pt idx="33">
                  <c:v>14.252000000000001</c:v>
                </c:pt>
                <c:pt idx="34">
                  <c:v>14.666</c:v>
                </c:pt>
                <c:pt idx="35">
                  <c:v>15.074</c:v>
                </c:pt>
                <c:pt idx="36">
                  <c:v>15.492000000000001</c:v>
                </c:pt>
                <c:pt idx="37">
                  <c:v>15.932</c:v>
                </c:pt>
                <c:pt idx="38">
                  <c:v>16.388000000000002</c:v>
                </c:pt>
                <c:pt idx="39">
                  <c:v>16.866</c:v>
                </c:pt>
                <c:pt idx="40">
                  <c:v>17.356000000000002</c:v>
                </c:pt>
                <c:pt idx="41">
                  <c:v>17.878</c:v>
                </c:pt>
                <c:pt idx="42">
                  <c:v>18.414000000000001</c:v>
                </c:pt>
                <c:pt idx="43">
                  <c:v>18.972000000000001</c:v>
                </c:pt>
                <c:pt idx="44">
                  <c:v>19.547999999999998</c:v>
                </c:pt>
                <c:pt idx="45">
                  <c:v>20.143999999999998</c:v>
                </c:pt>
                <c:pt idx="46">
                  <c:v>20.782</c:v>
                </c:pt>
                <c:pt idx="47">
                  <c:v>21.405999999999999</c:v>
                </c:pt>
                <c:pt idx="48">
                  <c:v>22.03</c:v>
                </c:pt>
                <c:pt idx="49">
                  <c:v>22.672000000000001</c:v>
                </c:pt>
                <c:pt idx="50">
                  <c:v>23.314</c:v>
                </c:pt>
                <c:pt idx="51">
                  <c:v>23.972000000000001</c:v>
                </c:pt>
                <c:pt idx="52">
                  <c:v>24.648</c:v>
                </c:pt>
                <c:pt idx="53">
                  <c:v>25.324000000000002</c:v>
                </c:pt>
                <c:pt idx="54">
                  <c:v>26</c:v>
                </c:pt>
                <c:pt idx="55">
                  <c:v>26.698</c:v>
                </c:pt>
                <c:pt idx="56">
                  <c:v>27.385999999999999</c:v>
                </c:pt>
                <c:pt idx="57">
                  <c:v>28.1</c:v>
                </c:pt>
                <c:pt idx="58">
                  <c:v>28.81</c:v>
                </c:pt>
                <c:pt idx="59">
                  <c:v>29.527999999999999</c:v>
                </c:pt>
              </c:numCache>
            </c:numRef>
          </c:xVal>
          <c:yVal>
            <c:numRef>
              <c:f>'Sample 18 '!$B$2:$B$61</c:f>
              <c:numCache>
                <c:formatCode>General</c:formatCode>
                <c:ptCount val="60"/>
                <c:pt idx="0">
                  <c:v>144.9</c:v>
                </c:pt>
                <c:pt idx="1">
                  <c:v>145.19999999999999</c:v>
                </c:pt>
                <c:pt idx="2">
                  <c:v>145.30000000000001</c:v>
                </c:pt>
                <c:pt idx="3">
                  <c:v>145.69999999999999</c:v>
                </c:pt>
                <c:pt idx="4">
                  <c:v>146.9</c:v>
                </c:pt>
                <c:pt idx="5">
                  <c:v>146.69999999999999</c:v>
                </c:pt>
                <c:pt idx="6">
                  <c:v>119.2</c:v>
                </c:pt>
                <c:pt idx="7">
                  <c:v>111.1</c:v>
                </c:pt>
                <c:pt idx="8">
                  <c:v>103</c:v>
                </c:pt>
                <c:pt idx="9">
                  <c:v>96.5</c:v>
                </c:pt>
                <c:pt idx="10">
                  <c:v>88.9</c:v>
                </c:pt>
                <c:pt idx="11">
                  <c:v>81.2</c:v>
                </c:pt>
                <c:pt idx="12">
                  <c:v>74.099999999999994</c:v>
                </c:pt>
                <c:pt idx="13">
                  <c:v>67.8</c:v>
                </c:pt>
                <c:pt idx="14">
                  <c:v>61.9</c:v>
                </c:pt>
                <c:pt idx="15">
                  <c:v>56.3</c:v>
                </c:pt>
                <c:pt idx="16">
                  <c:v>51.1</c:v>
                </c:pt>
                <c:pt idx="17">
                  <c:v>46.1</c:v>
                </c:pt>
                <c:pt idx="18">
                  <c:v>41.3</c:v>
                </c:pt>
                <c:pt idx="19">
                  <c:v>36.5</c:v>
                </c:pt>
                <c:pt idx="20">
                  <c:v>31.9</c:v>
                </c:pt>
                <c:pt idx="21">
                  <c:v>27.2</c:v>
                </c:pt>
                <c:pt idx="22">
                  <c:v>22.5</c:v>
                </c:pt>
                <c:pt idx="23">
                  <c:v>17.8</c:v>
                </c:pt>
                <c:pt idx="24">
                  <c:v>12.7</c:v>
                </c:pt>
                <c:pt idx="25">
                  <c:v>7.6</c:v>
                </c:pt>
                <c:pt idx="26">
                  <c:v>2.2000000000000002</c:v>
                </c:pt>
                <c:pt idx="27">
                  <c:v>-3.7</c:v>
                </c:pt>
                <c:pt idx="28">
                  <c:v>-10.199999999999999</c:v>
                </c:pt>
                <c:pt idx="29">
                  <c:v>-17.100000000000001</c:v>
                </c:pt>
                <c:pt idx="30">
                  <c:v>-24.5</c:v>
                </c:pt>
                <c:pt idx="31">
                  <c:v>-32.799999999999997</c:v>
                </c:pt>
                <c:pt idx="32">
                  <c:v>-41</c:v>
                </c:pt>
                <c:pt idx="33">
                  <c:v>-49.8</c:v>
                </c:pt>
                <c:pt idx="34">
                  <c:v>-58.7</c:v>
                </c:pt>
                <c:pt idx="35">
                  <c:v>-66.900000000000006</c:v>
                </c:pt>
                <c:pt idx="36">
                  <c:v>-74.599999999999994</c:v>
                </c:pt>
                <c:pt idx="37">
                  <c:v>-82.2</c:v>
                </c:pt>
                <c:pt idx="38">
                  <c:v>-89.2</c:v>
                </c:pt>
                <c:pt idx="39">
                  <c:v>-96.1</c:v>
                </c:pt>
                <c:pt idx="40">
                  <c:v>-102.2</c:v>
                </c:pt>
                <c:pt idx="41">
                  <c:v>-108.2</c:v>
                </c:pt>
                <c:pt idx="42">
                  <c:v>-113.7</c:v>
                </c:pt>
                <c:pt idx="43">
                  <c:v>-118.8</c:v>
                </c:pt>
                <c:pt idx="44">
                  <c:v>-123.5</c:v>
                </c:pt>
                <c:pt idx="45">
                  <c:v>-127.3</c:v>
                </c:pt>
                <c:pt idx="46">
                  <c:v>-131.69999999999999</c:v>
                </c:pt>
                <c:pt idx="47">
                  <c:v>-136.1</c:v>
                </c:pt>
                <c:pt idx="48">
                  <c:v>-139.9</c:v>
                </c:pt>
                <c:pt idx="49">
                  <c:v>-143.80000000000001</c:v>
                </c:pt>
                <c:pt idx="50">
                  <c:v>-147.30000000000001</c:v>
                </c:pt>
                <c:pt idx="51">
                  <c:v>-150.5</c:v>
                </c:pt>
                <c:pt idx="52">
                  <c:v>-153.69999999999999</c:v>
                </c:pt>
                <c:pt idx="53">
                  <c:v>-156.9</c:v>
                </c:pt>
                <c:pt idx="54">
                  <c:v>-159.6</c:v>
                </c:pt>
                <c:pt idx="55">
                  <c:v>-162.6</c:v>
                </c:pt>
                <c:pt idx="56">
                  <c:v>-165</c:v>
                </c:pt>
                <c:pt idx="57">
                  <c:v>-167.5</c:v>
                </c:pt>
                <c:pt idx="58">
                  <c:v>-169.9</c:v>
                </c:pt>
                <c:pt idx="59">
                  <c:v>-172.2</c:v>
                </c:pt>
              </c:numCache>
            </c:numRef>
          </c:yVal>
          <c:smooth val="1"/>
          <c:extLst>
            <c:ext xmlns:c16="http://schemas.microsoft.com/office/drawing/2014/chart" uri="{C3380CC4-5D6E-409C-BE32-E72D297353CC}">
              <c16:uniqueId val="{00000000-5778-4E6C-AE3B-7C54A18831EA}"/>
            </c:ext>
          </c:extLst>
        </c:ser>
        <c:ser>
          <c:idx val="1"/>
          <c:order val="1"/>
          <c:tx>
            <c:v>eq</c:v>
          </c:tx>
          <c:spPr>
            <a:ln w="19050" cap="rnd">
              <a:solidFill>
                <a:schemeClr val="accent2"/>
              </a:solidFill>
              <a:round/>
            </a:ln>
            <a:effectLst/>
          </c:spPr>
          <c:marker>
            <c:symbol val="none"/>
          </c:marker>
          <c:xVal>
            <c:numRef>
              <c:f>'Sample 18 '!$E$17</c:f>
              <c:numCache>
                <c:formatCode>General</c:formatCode>
                <c:ptCount val="1"/>
                <c:pt idx="0">
                  <c:v>14.459</c:v>
                </c:pt>
              </c:numCache>
            </c:numRef>
          </c:xVal>
          <c:yVal>
            <c:numRef>
              <c:f>'Sample 18 '!$F$17</c:f>
              <c:numCache>
                <c:formatCode>General</c:formatCode>
                <c:ptCount val="1"/>
                <c:pt idx="0">
                  <c:v>-54.25</c:v>
                </c:pt>
              </c:numCache>
            </c:numRef>
          </c:yVal>
          <c:smooth val="1"/>
          <c:extLst>
            <c:ext xmlns:c16="http://schemas.microsoft.com/office/drawing/2014/chart" uri="{C3380CC4-5D6E-409C-BE32-E72D297353CC}">
              <c16:uniqueId val="{00000001-5778-4E6C-AE3B-7C54A18831EA}"/>
            </c:ext>
          </c:extLst>
        </c:ser>
        <c:dLbls>
          <c:showLegendKey val="0"/>
          <c:showVal val="0"/>
          <c:showCatName val="0"/>
          <c:showSerName val="0"/>
          <c:showPercent val="0"/>
          <c:showBubbleSize val="0"/>
        </c:dLbls>
        <c:axId val="87266831"/>
        <c:axId val="115134543"/>
      </c:scatterChart>
      <c:valAx>
        <c:axId val="87266831"/>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V (mL NaOH)</a:t>
                </a:r>
              </a:p>
            </c:rich>
          </c:tx>
          <c:layout>
            <c:manualLayout>
              <c:xMode val="edge"/>
              <c:yMode val="edge"/>
              <c:x val="0.41245157146994665"/>
              <c:y val="0.94633476498910962"/>
            </c:manualLayout>
          </c:layout>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15134543"/>
        <c:crossesAt val="-200"/>
        <c:crossBetween val="midCat"/>
        <c:minorUnit val="2.5"/>
      </c:valAx>
      <c:valAx>
        <c:axId val="115134543"/>
        <c:scaling>
          <c:orientation val="minMax"/>
        </c:scaling>
        <c:delete val="0"/>
        <c:axPos val="l"/>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IE"/>
                  <a:t>U (mV)</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7266831"/>
        <c:crosses val="autoZero"/>
        <c:crossBetween val="midCat"/>
        <c:minorUnit val="25"/>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ysClr val="windowText" lastClr="000000"/>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ln>
                  <a:noFill/>
                </a:ln>
                <a:solidFill>
                  <a:sysClr val="windowText" lastClr="000000"/>
                </a:solidFill>
                <a:latin typeface="+mn-lt"/>
                <a:ea typeface="+mn-ea"/>
                <a:cs typeface="+mn-cs"/>
              </a:defRPr>
            </a:pPr>
            <a:r>
              <a:rPr lang="en-IE"/>
              <a:t>dU/dV over V</a:t>
            </a:r>
          </a:p>
        </c:rich>
      </c:tx>
      <c:overlay val="0"/>
      <c:spPr>
        <a:noFill/>
        <a:ln>
          <a:noFill/>
        </a:ln>
        <a:effectLst/>
      </c:spPr>
      <c:txPr>
        <a:bodyPr rot="0" spcFirstLastPara="1" vertOverflow="ellipsis" vert="horz" wrap="square" anchor="ctr" anchorCtr="1"/>
        <a:lstStyle/>
        <a:p>
          <a:pPr>
            <a:defRPr sz="1400" b="0" i="0" u="none" strike="noStrike" kern="1200" spc="0" baseline="0">
              <a:ln>
                <a:noFill/>
              </a:ln>
              <a:solidFill>
                <a:sysClr val="windowText" lastClr="000000"/>
              </a:solidFill>
              <a:latin typeface="+mn-lt"/>
              <a:ea typeface="+mn-ea"/>
              <a:cs typeface="+mn-cs"/>
            </a:defRPr>
          </a:pPr>
          <a:endParaRPr lang="en-US"/>
        </a:p>
      </c:txPr>
    </c:title>
    <c:autoTitleDeleted val="0"/>
    <c:plotArea>
      <c:layout>
        <c:manualLayout>
          <c:layoutTarget val="inner"/>
          <c:xMode val="edge"/>
          <c:yMode val="edge"/>
          <c:x val="7.2065148833140039E-2"/>
          <c:y val="0.15207052070520705"/>
          <c:w val="0.90064802946143341"/>
          <c:h val="0.73590279997288166"/>
        </c:manualLayout>
      </c:layout>
      <c:scatterChart>
        <c:scatterStyle val="smoothMarker"/>
        <c:varyColors val="0"/>
        <c:ser>
          <c:idx val="0"/>
          <c:order val="0"/>
          <c:spPr>
            <a:ln w="19050" cap="rnd">
              <a:solidFill>
                <a:schemeClr val="accent1"/>
              </a:solidFill>
              <a:round/>
            </a:ln>
            <a:effectLst/>
          </c:spPr>
          <c:marker>
            <c:symbol val="none"/>
          </c:marker>
          <c:xVal>
            <c:numRef>
              <c:f>'Sample 18 '!$A$3:$A$61</c:f>
              <c:numCache>
                <c:formatCode>General</c:formatCode>
                <c:ptCount val="59"/>
                <c:pt idx="0">
                  <c:v>0.04</c:v>
                </c:pt>
                <c:pt idx="1">
                  <c:v>0.08</c:v>
                </c:pt>
                <c:pt idx="2">
                  <c:v>1.2E-2</c:v>
                </c:pt>
                <c:pt idx="3">
                  <c:v>5.1999999999999998E-2</c:v>
                </c:pt>
                <c:pt idx="4">
                  <c:v>7.3999999999999996E-2</c:v>
                </c:pt>
                <c:pt idx="5">
                  <c:v>0.622</c:v>
                </c:pt>
                <c:pt idx="6">
                  <c:v>0.86799999999999999</c:v>
                </c:pt>
                <c:pt idx="7">
                  <c:v>1.1919999999999999</c:v>
                </c:pt>
                <c:pt idx="8">
                  <c:v>1.468</c:v>
                </c:pt>
                <c:pt idx="9">
                  <c:v>1.8580000000000001</c:v>
                </c:pt>
                <c:pt idx="10">
                  <c:v>2.2879999999999998</c:v>
                </c:pt>
                <c:pt idx="11">
                  <c:v>2.7360000000000002</c:v>
                </c:pt>
                <c:pt idx="12">
                  <c:v>3.21</c:v>
                </c:pt>
                <c:pt idx="13">
                  <c:v>3.7160000000000002</c:v>
                </c:pt>
                <c:pt idx="14">
                  <c:v>4.25</c:v>
                </c:pt>
                <c:pt idx="15">
                  <c:v>4.8</c:v>
                </c:pt>
                <c:pt idx="16">
                  <c:v>5.3739999999999997</c:v>
                </c:pt>
                <c:pt idx="17">
                  <c:v>5.96</c:v>
                </c:pt>
                <c:pt idx="18">
                  <c:v>6.556</c:v>
                </c:pt>
                <c:pt idx="19">
                  <c:v>7.15</c:v>
                </c:pt>
                <c:pt idx="20">
                  <c:v>7.766</c:v>
                </c:pt>
                <c:pt idx="21">
                  <c:v>8.3719999999999999</c:v>
                </c:pt>
                <c:pt idx="22">
                  <c:v>8.9779999999999998</c:v>
                </c:pt>
                <c:pt idx="23">
                  <c:v>9.5820000000000007</c:v>
                </c:pt>
                <c:pt idx="24">
                  <c:v>10.173999999999999</c:v>
                </c:pt>
                <c:pt idx="25">
                  <c:v>10.76</c:v>
                </c:pt>
                <c:pt idx="26">
                  <c:v>11.334</c:v>
                </c:pt>
                <c:pt idx="27">
                  <c:v>11.885999999999999</c:v>
                </c:pt>
                <c:pt idx="28">
                  <c:v>12.41</c:v>
                </c:pt>
                <c:pt idx="29">
                  <c:v>12.912000000000001</c:v>
                </c:pt>
                <c:pt idx="30">
                  <c:v>13.39</c:v>
                </c:pt>
                <c:pt idx="31">
                  <c:v>13.824</c:v>
                </c:pt>
                <c:pt idx="32">
                  <c:v>14.252000000000001</c:v>
                </c:pt>
                <c:pt idx="33">
                  <c:v>14.666</c:v>
                </c:pt>
                <c:pt idx="34">
                  <c:v>15.074</c:v>
                </c:pt>
                <c:pt idx="35">
                  <c:v>15.492000000000001</c:v>
                </c:pt>
                <c:pt idx="36">
                  <c:v>15.932</c:v>
                </c:pt>
                <c:pt idx="37">
                  <c:v>16.388000000000002</c:v>
                </c:pt>
                <c:pt idx="38">
                  <c:v>16.866</c:v>
                </c:pt>
                <c:pt idx="39">
                  <c:v>17.356000000000002</c:v>
                </c:pt>
                <c:pt idx="40">
                  <c:v>17.878</c:v>
                </c:pt>
                <c:pt idx="41">
                  <c:v>18.414000000000001</c:v>
                </c:pt>
                <c:pt idx="42">
                  <c:v>18.972000000000001</c:v>
                </c:pt>
                <c:pt idx="43">
                  <c:v>19.547999999999998</c:v>
                </c:pt>
                <c:pt idx="44">
                  <c:v>20.143999999999998</c:v>
                </c:pt>
                <c:pt idx="45">
                  <c:v>20.782</c:v>
                </c:pt>
                <c:pt idx="46">
                  <c:v>21.405999999999999</c:v>
                </c:pt>
                <c:pt idx="47">
                  <c:v>22.03</c:v>
                </c:pt>
                <c:pt idx="48">
                  <c:v>22.672000000000001</c:v>
                </c:pt>
                <c:pt idx="49">
                  <c:v>23.314</c:v>
                </c:pt>
                <c:pt idx="50">
                  <c:v>23.972000000000001</c:v>
                </c:pt>
                <c:pt idx="51">
                  <c:v>24.648</c:v>
                </c:pt>
                <c:pt idx="52">
                  <c:v>25.324000000000002</c:v>
                </c:pt>
                <c:pt idx="53">
                  <c:v>26</c:v>
                </c:pt>
                <c:pt idx="54">
                  <c:v>26.698</c:v>
                </c:pt>
                <c:pt idx="55">
                  <c:v>27.385999999999999</c:v>
                </c:pt>
                <c:pt idx="56">
                  <c:v>28.1</c:v>
                </c:pt>
                <c:pt idx="57">
                  <c:v>28.81</c:v>
                </c:pt>
                <c:pt idx="58">
                  <c:v>29.527999999999999</c:v>
                </c:pt>
              </c:numCache>
            </c:numRef>
          </c:xVal>
          <c:yVal>
            <c:numRef>
              <c:f>'Sample 18 '!$C$3:$C$61</c:f>
              <c:numCache>
                <c:formatCode>General</c:formatCode>
                <c:ptCount val="59"/>
                <c:pt idx="0">
                  <c:v>7.4999999999995737</c:v>
                </c:pt>
                <c:pt idx="1">
                  <c:v>2.5000000000005684</c:v>
                </c:pt>
                <c:pt idx="2">
                  <c:v>-5.8823529411761362</c:v>
                </c:pt>
                <c:pt idx="3">
                  <c:v>30.00000000000043</c:v>
                </c:pt>
                <c:pt idx="4">
                  <c:v>-9.0909090909098662</c:v>
                </c:pt>
                <c:pt idx="5">
                  <c:v>-50.182481751824788</c:v>
                </c:pt>
                <c:pt idx="6">
                  <c:v>-32.926829268292721</c:v>
                </c:pt>
                <c:pt idx="7">
                  <c:v>-24.999999999999986</c:v>
                </c:pt>
                <c:pt idx="8">
                  <c:v>-23.550724637681157</c:v>
                </c:pt>
                <c:pt idx="9">
                  <c:v>-19.487179487179468</c:v>
                </c:pt>
                <c:pt idx="10">
                  <c:v>-17.906976744186064</c:v>
                </c:pt>
                <c:pt idx="11">
                  <c:v>-15.84821428571429</c:v>
                </c:pt>
                <c:pt idx="12">
                  <c:v>-13.291139240506331</c:v>
                </c:pt>
                <c:pt idx="13">
                  <c:v>-11.660079051383391</c:v>
                </c:pt>
                <c:pt idx="14">
                  <c:v>-10.486891385767796</c:v>
                </c:pt>
                <c:pt idx="15">
                  <c:v>-9.4545454545454497</c:v>
                </c:pt>
                <c:pt idx="16">
                  <c:v>-8.7108013937282252</c:v>
                </c:pt>
                <c:pt idx="17">
                  <c:v>-8.1911262798634841</c:v>
                </c:pt>
                <c:pt idx="18">
                  <c:v>-8.0536912751677789</c:v>
                </c:pt>
                <c:pt idx="19">
                  <c:v>-7.7441077441077422</c:v>
                </c:pt>
                <c:pt idx="20">
                  <c:v>-7.6298701298701328</c:v>
                </c:pt>
                <c:pt idx="21">
                  <c:v>-7.7557755775577562</c:v>
                </c:pt>
                <c:pt idx="22">
                  <c:v>-7.7557755775577562</c:v>
                </c:pt>
                <c:pt idx="23">
                  <c:v>-8.4437086092715123</c:v>
                </c:pt>
                <c:pt idx="24">
                  <c:v>-8.6148648648648827</c:v>
                </c:pt>
                <c:pt idx="25">
                  <c:v>-9.2150170648464105</c:v>
                </c:pt>
                <c:pt idx="26">
                  <c:v>-10.278745644599306</c:v>
                </c:pt>
                <c:pt idx="27">
                  <c:v>-11.775362318840587</c:v>
                </c:pt>
                <c:pt idx="28">
                  <c:v>-13.167938931297691</c:v>
                </c:pt>
                <c:pt idx="29">
                  <c:v>-14.741035856573683</c:v>
                </c:pt>
                <c:pt idx="30">
                  <c:v>-17.364016736401677</c:v>
                </c:pt>
                <c:pt idx="31">
                  <c:v>-18.8940092165899</c:v>
                </c:pt>
                <c:pt idx="32">
                  <c:v>-20.560747663551357</c:v>
                </c:pt>
                <c:pt idx="33">
                  <c:v>-21.497584541062832</c:v>
                </c:pt>
                <c:pt idx="34">
                  <c:v>-20.098039215686306</c:v>
                </c:pt>
                <c:pt idx="35">
                  <c:v>-18.421052631578874</c:v>
                </c:pt>
                <c:pt idx="36">
                  <c:v>-17.272727272727312</c:v>
                </c:pt>
                <c:pt idx="37">
                  <c:v>-15.350877192982413</c:v>
                </c:pt>
                <c:pt idx="38">
                  <c:v>-14.435146443514688</c:v>
                </c:pt>
                <c:pt idx="39">
                  <c:v>-12.448979591836702</c:v>
                </c:pt>
                <c:pt idx="40">
                  <c:v>-11.494252873563251</c:v>
                </c:pt>
                <c:pt idx="41">
                  <c:v>-10.261194029850721</c:v>
                </c:pt>
                <c:pt idx="42">
                  <c:v>-9.139784946236551</c:v>
                </c:pt>
                <c:pt idx="43">
                  <c:v>-8.1597222222222694</c:v>
                </c:pt>
                <c:pt idx="44">
                  <c:v>-6.3758389261744908</c:v>
                </c:pt>
                <c:pt idx="45">
                  <c:v>-6.8965517241378995</c:v>
                </c:pt>
                <c:pt idx="46">
                  <c:v>-7.0512820512820742</c:v>
                </c:pt>
                <c:pt idx="47">
                  <c:v>-6.089743589743585</c:v>
                </c:pt>
                <c:pt idx="48">
                  <c:v>-6.0747663551402011</c:v>
                </c:pt>
                <c:pt idx="49">
                  <c:v>-5.4517133956386337</c:v>
                </c:pt>
                <c:pt idx="50">
                  <c:v>-4.8632218844984534</c:v>
                </c:pt>
                <c:pt idx="51">
                  <c:v>-4.7337278106508824</c:v>
                </c:pt>
                <c:pt idx="52">
                  <c:v>-4.7337278106508993</c:v>
                </c:pt>
                <c:pt idx="53">
                  <c:v>-3.994082840236679</c:v>
                </c:pt>
                <c:pt idx="54">
                  <c:v>-4.2979942693409718</c:v>
                </c:pt>
                <c:pt idx="55">
                  <c:v>-3.48837209302327</c:v>
                </c:pt>
                <c:pt idx="56">
                  <c:v>-3.501400560224079</c:v>
                </c:pt>
                <c:pt idx="57">
                  <c:v>-3.3802816901408659</c:v>
                </c:pt>
                <c:pt idx="58">
                  <c:v>-3.2033426183843776</c:v>
                </c:pt>
              </c:numCache>
            </c:numRef>
          </c:yVal>
          <c:smooth val="1"/>
          <c:extLst>
            <c:ext xmlns:c16="http://schemas.microsoft.com/office/drawing/2014/chart" uri="{C3380CC4-5D6E-409C-BE32-E72D297353CC}">
              <c16:uniqueId val="{00000000-17D8-41D6-9F59-0B080580F9A0}"/>
            </c:ext>
          </c:extLst>
        </c:ser>
        <c:dLbls>
          <c:showLegendKey val="0"/>
          <c:showVal val="0"/>
          <c:showCatName val="0"/>
          <c:showSerName val="0"/>
          <c:showPercent val="0"/>
          <c:showBubbleSize val="0"/>
        </c:dLbls>
        <c:axId val="87266831"/>
        <c:axId val="115134543"/>
      </c:scatterChart>
      <c:valAx>
        <c:axId val="87266831"/>
        <c:scaling>
          <c:orientation val="minMax"/>
        </c:scaling>
        <c:delete val="0"/>
        <c:axPos val="b"/>
        <c:title>
          <c:tx>
            <c:rich>
              <a:bodyPr rot="0" spcFirstLastPara="1" vertOverflow="ellipsis" vert="horz" wrap="square" anchor="ctr" anchorCtr="1"/>
              <a:lstStyle/>
              <a:p>
                <a:pPr>
                  <a:defRPr sz="1000" b="0" i="0" u="none" strike="noStrike" kern="1200" baseline="0">
                    <a:ln>
                      <a:noFill/>
                    </a:ln>
                    <a:solidFill>
                      <a:sysClr val="windowText" lastClr="000000"/>
                    </a:solidFill>
                    <a:latin typeface="+mn-lt"/>
                    <a:ea typeface="+mn-ea"/>
                    <a:cs typeface="+mn-cs"/>
                  </a:defRPr>
                </a:pPr>
                <a:r>
                  <a:rPr lang="en-IE"/>
                  <a:t>V (mL NaOH)</a:t>
                </a:r>
              </a:p>
            </c:rich>
          </c:tx>
          <c:overlay val="0"/>
          <c:spPr>
            <a:noFill/>
            <a:ln>
              <a:noFill/>
            </a:ln>
            <a:effectLst/>
          </c:spPr>
          <c:txPr>
            <a:bodyPr rot="0" spcFirstLastPara="1" vertOverflow="ellipsis" vert="horz" wrap="square" anchor="ctr" anchorCtr="1"/>
            <a:lstStyle/>
            <a:p>
              <a:pPr>
                <a:defRPr sz="1000" b="0" i="0" u="none" strike="noStrike" kern="1200" baseline="0">
                  <a:ln>
                    <a:noFill/>
                  </a:ln>
                  <a:solidFill>
                    <a:sysClr val="windowText" lastClr="000000"/>
                  </a:solidFill>
                  <a:latin typeface="+mn-lt"/>
                  <a:ea typeface="+mn-ea"/>
                  <a:cs typeface="+mn-cs"/>
                </a:defRPr>
              </a:pPr>
              <a:endParaRPr lang="en-US"/>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ln>
                  <a:noFill/>
                </a:ln>
                <a:solidFill>
                  <a:sysClr val="windowText" lastClr="000000"/>
                </a:solidFill>
                <a:latin typeface="+mn-lt"/>
                <a:ea typeface="+mn-ea"/>
                <a:cs typeface="+mn-cs"/>
              </a:defRPr>
            </a:pPr>
            <a:endParaRPr lang="en-US"/>
          </a:p>
        </c:txPr>
        <c:crossAx val="115134543"/>
        <c:crossesAt val="-200"/>
        <c:crossBetween val="midCat"/>
        <c:minorUnit val="2.5"/>
      </c:valAx>
      <c:valAx>
        <c:axId val="115134543"/>
        <c:scaling>
          <c:orientation val="minMax"/>
        </c:scaling>
        <c:delete val="0"/>
        <c:axPos val="l"/>
        <c:title>
          <c:tx>
            <c:rich>
              <a:bodyPr rot="-5400000" spcFirstLastPara="1" vertOverflow="ellipsis" vert="horz" wrap="square" anchor="ctr" anchorCtr="1"/>
              <a:lstStyle/>
              <a:p>
                <a:pPr>
                  <a:defRPr sz="1000" b="0" i="0" u="none" strike="noStrike" kern="1200" baseline="0">
                    <a:ln>
                      <a:noFill/>
                    </a:ln>
                    <a:solidFill>
                      <a:sysClr val="windowText" lastClr="000000"/>
                    </a:solidFill>
                    <a:latin typeface="+mn-lt"/>
                    <a:ea typeface="+mn-ea"/>
                    <a:cs typeface="+mn-cs"/>
                  </a:defRPr>
                </a:pPr>
                <a:r>
                  <a:rPr lang="en-IE"/>
                  <a:t>dU/dV (mV/mL NaOH)</a:t>
                </a:r>
              </a:p>
            </c:rich>
          </c:tx>
          <c:overlay val="0"/>
          <c:spPr>
            <a:noFill/>
            <a:ln>
              <a:noFill/>
            </a:ln>
            <a:effectLst/>
          </c:spPr>
          <c:txPr>
            <a:bodyPr rot="-5400000" spcFirstLastPara="1" vertOverflow="ellipsis" vert="horz" wrap="square" anchor="ctr" anchorCtr="1"/>
            <a:lstStyle/>
            <a:p>
              <a:pPr>
                <a:defRPr sz="1000" b="0" i="0" u="none" strike="noStrike" kern="1200" baseline="0">
                  <a:ln>
                    <a:noFill/>
                  </a:ln>
                  <a:solidFill>
                    <a:sysClr val="windowText" lastClr="000000"/>
                  </a:solidFill>
                  <a:latin typeface="+mn-lt"/>
                  <a:ea typeface="+mn-ea"/>
                  <a:cs typeface="+mn-cs"/>
                </a:defRPr>
              </a:pPr>
              <a:endParaRPr lang="en-US"/>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ln>
                  <a:noFill/>
                </a:ln>
                <a:solidFill>
                  <a:sysClr val="windowText" lastClr="000000"/>
                </a:solidFill>
                <a:latin typeface="+mn-lt"/>
                <a:ea typeface="+mn-ea"/>
                <a:cs typeface="+mn-cs"/>
              </a:defRPr>
            </a:pPr>
            <a:endParaRPr lang="en-US"/>
          </a:p>
        </c:txPr>
        <c:crossAx val="87266831"/>
        <c:crosses val="autoZero"/>
        <c:crossBetween val="midCat"/>
        <c:minorUnit val="25"/>
      </c:valAx>
      <c:spPr>
        <a:noFill/>
        <a:ln>
          <a:solidFill>
            <a:sysClr val="windowText" lastClr="000000"/>
          </a:solidFill>
        </a:ln>
        <a:effectLst/>
      </c:spPr>
    </c:plotArea>
    <c:plotVisOnly val="1"/>
    <c:dispBlanksAs val="gap"/>
    <c:showDLblsOverMax val="0"/>
    <c:extLst/>
  </c:chart>
  <c:spPr>
    <a:noFill/>
    <a:ln>
      <a:noFill/>
    </a:ln>
    <a:effectLst/>
  </c:spPr>
  <c:txPr>
    <a:bodyPr/>
    <a:lstStyle/>
    <a:p>
      <a:pPr>
        <a:defRPr>
          <a:ln>
            <a:noFill/>
          </a:ln>
          <a:solidFill>
            <a:sysClr val="windowText" lastClr="000000"/>
          </a:solidFill>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0" i="0" u="none" strike="noStrike" kern="1200" spc="0" baseline="0">
                <a:solidFill>
                  <a:schemeClr val="tx1"/>
                </a:solidFill>
                <a:latin typeface="+mn-lt"/>
                <a:ea typeface="+mn-ea"/>
                <a:cs typeface="+mn-cs"/>
              </a:defRPr>
            </a:pPr>
            <a:r>
              <a:rPr lang="en-IE"/>
              <a:t>Area/Mass plot of phenol in various stripped oils</a:t>
            </a:r>
          </a:p>
        </c:rich>
      </c:tx>
      <c:layout>
        <c:manualLayout>
          <c:xMode val="edge"/>
          <c:yMode val="edge"/>
          <c:x val="0.17958333333333334"/>
          <c:y val="4.6296296296296294E-2"/>
        </c:manualLayout>
      </c:layout>
      <c:overlay val="0"/>
      <c:spPr>
        <a:noFill/>
        <a:ln>
          <a:noFill/>
        </a:ln>
        <a:effectLst/>
      </c:spPr>
      <c:txPr>
        <a:bodyPr rot="0" spcFirstLastPara="1" vertOverflow="ellipsis" vert="horz" wrap="square" anchor="ctr" anchorCtr="1"/>
        <a:lstStyle/>
        <a:p>
          <a:pPr>
            <a:defRPr sz="1680" b="0" i="0" u="none" strike="noStrike" kern="1200" spc="0" baseline="0">
              <a:solidFill>
                <a:schemeClr val="tx1"/>
              </a:solidFill>
              <a:latin typeface="+mn-lt"/>
              <a:ea typeface="+mn-ea"/>
              <a:cs typeface="+mn-cs"/>
            </a:defRPr>
          </a:pPr>
          <a:endParaRPr lang="en-IE"/>
        </a:p>
      </c:txPr>
    </c:title>
    <c:autoTitleDeleted val="0"/>
    <c:plotArea>
      <c:layout>
        <c:manualLayout>
          <c:layoutTarget val="inner"/>
          <c:xMode val="edge"/>
          <c:yMode val="edge"/>
          <c:x val="0.13801624043225752"/>
          <c:y val="0.14139586000025858"/>
          <c:w val="0.8016542907010995"/>
          <c:h val="0.66667183843398881"/>
        </c:manualLayout>
      </c:layout>
      <c:scatterChart>
        <c:scatterStyle val="smoothMarker"/>
        <c:varyColors val="0"/>
        <c:ser>
          <c:idx val="1"/>
          <c:order val="1"/>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Sheet1!$A$2:$A$4</c:f>
              <c:numCache>
                <c:formatCode>0.00</c:formatCode>
                <c:ptCount val="3"/>
                <c:pt idx="0">
                  <c:v>0</c:v>
                </c:pt>
                <c:pt idx="1">
                  <c:v>30</c:v>
                </c:pt>
                <c:pt idx="2">
                  <c:v>40</c:v>
                </c:pt>
              </c:numCache>
            </c:numRef>
          </c:xVal>
          <c:yVal>
            <c:numRef>
              <c:f>Sheet1!$B$2:$B$4</c:f>
              <c:numCache>
                <c:formatCode>General</c:formatCode>
                <c:ptCount val="3"/>
                <c:pt idx="0">
                  <c:v>18000000</c:v>
                </c:pt>
                <c:pt idx="1">
                  <c:v>13000000</c:v>
                </c:pt>
                <c:pt idx="2">
                  <c:v>12000000</c:v>
                </c:pt>
              </c:numCache>
            </c:numRef>
          </c:yVal>
          <c:smooth val="1"/>
          <c:extLst>
            <c:ext xmlns:c16="http://schemas.microsoft.com/office/drawing/2014/chart" uri="{C3380CC4-5D6E-409C-BE32-E72D297353CC}">
              <c16:uniqueId val="{00000000-6E13-4687-A5BF-1B273E5A4FD9}"/>
            </c:ext>
          </c:extLst>
        </c:ser>
        <c:dLbls>
          <c:showLegendKey val="0"/>
          <c:showVal val="0"/>
          <c:showCatName val="0"/>
          <c:showSerName val="0"/>
          <c:showPercent val="0"/>
          <c:showBubbleSize val="0"/>
        </c:dLbls>
        <c:axId val="87266831"/>
        <c:axId val="115134543"/>
        <c:extLst>
          <c:ext xmlns:c15="http://schemas.microsoft.com/office/drawing/2012/chart" uri="{02D57815-91ED-43cb-92C2-25804820EDAC}">
            <c15:filteredScatterSeries>
              <c15: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yVal>
                  <c:numRef>
                    <c:extLst>
                      <c:ext uri="{02D57815-91ED-43cb-92C2-25804820EDAC}">
                        <c15:formulaRef>
                          <c15:sqref>Sheet1!$A$2:$A$4</c15:sqref>
                        </c15:formulaRef>
                      </c:ext>
                    </c:extLst>
                    <c:numCache>
                      <c:formatCode>0.00</c:formatCode>
                      <c:ptCount val="3"/>
                      <c:pt idx="0">
                        <c:v>0</c:v>
                      </c:pt>
                      <c:pt idx="1">
                        <c:v>30</c:v>
                      </c:pt>
                      <c:pt idx="2">
                        <c:v>40</c:v>
                      </c:pt>
                    </c:numCache>
                  </c:numRef>
                </c:yVal>
                <c:smooth val="1"/>
                <c:extLst>
                  <c:ext xmlns:c16="http://schemas.microsoft.com/office/drawing/2014/chart" uri="{C3380CC4-5D6E-409C-BE32-E72D297353CC}">
                    <c16:uniqueId val="{00000001-6E13-4687-A5BF-1B273E5A4FD9}"/>
                  </c:ext>
                </c:extLst>
              </c15:ser>
            </c15:filteredScatterSeries>
          </c:ext>
        </c:extLst>
      </c:scatterChart>
      <c:valAx>
        <c:axId val="87266831"/>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IE"/>
                  <a:t>Water dosage (wt% wrt oil)</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IE"/>
            </a:p>
          </c:txPr>
        </c:title>
        <c:numFmt formatCode="0.00"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15134543"/>
        <c:crosses val="autoZero"/>
        <c:crossBetween val="midCat"/>
        <c:minorUnit val="2.5"/>
      </c:valAx>
      <c:valAx>
        <c:axId val="115134543"/>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IE"/>
                  <a:t>Relative Area  / mg oil (1/mg oil)</a:t>
                </a:r>
              </a:p>
            </c:rich>
          </c:tx>
          <c:layout>
            <c:manualLayout>
              <c:xMode val="edge"/>
              <c:yMode val="edge"/>
              <c:x val="1.3601340033500837E-2"/>
              <c:y val="0.32355765874093323"/>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IE"/>
            </a:p>
          </c:txPr>
        </c:title>
        <c:numFmt formatCode="General" sourceLinked="1"/>
        <c:majorTickMark val="out"/>
        <c:minorTickMark val="out"/>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87266831"/>
        <c:crosses val="autoZero"/>
        <c:crossBetween val="midCat"/>
        <c:minorUnit val="1000000"/>
        <c:dispUnits>
          <c:builtInUnit val="millions"/>
          <c:dispUnitsLbl>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dispUnitsLbl>
        </c:dispUnits>
      </c:valAx>
      <c:spPr>
        <a:noFill/>
        <a:ln>
          <a:solidFill>
            <a:sysClr val="windowText" lastClr="000000"/>
          </a:solidFill>
        </a:ln>
        <a:effectLst/>
      </c:spPr>
    </c:plotArea>
    <c:plotVisOnly val="1"/>
    <c:dispBlanksAs val="gap"/>
    <c:showDLblsOverMax val="0"/>
    <c:extLst/>
  </c:chart>
  <c:spPr>
    <a:noFill/>
    <a:ln>
      <a:noFill/>
    </a:ln>
    <a:effectLst/>
  </c:spPr>
  <c:txPr>
    <a:bodyPr/>
    <a:lstStyle/>
    <a:p>
      <a:pPr>
        <a:defRPr sz="1400">
          <a:solidFill>
            <a:schemeClr val="tx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0.45701</cdr:x>
      <cdr:y>0.56022</cdr:y>
    </cdr:from>
    <cdr:to>
      <cdr:x>0.5</cdr:x>
      <cdr:y>0.63759</cdr:y>
    </cdr:to>
    <cdr:cxnSp macro="">
      <cdr:nvCxnSpPr>
        <cdr:cNvPr id="3" name="Straight Connector 2">
          <a:extLst xmlns:a="http://schemas.openxmlformats.org/drawingml/2006/main">
            <a:ext uri="{FF2B5EF4-FFF2-40B4-BE49-F238E27FC236}">
              <a16:creationId xmlns:a16="http://schemas.microsoft.com/office/drawing/2014/main" id="{4AD7D3B0-2102-1EEF-F94A-B6BFC4E7E312}"/>
            </a:ext>
          </a:extLst>
        </cdr:cNvPr>
        <cdr:cNvCxnSpPr/>
      </cdr:nvCxnSpPr>
      <cdr:spPr>
        <a:xfrm xmlns:a="http://schemas.openxmlformats.org/drawingml/2006/main" flipH="1">
          <a:off x="2613046" y="1922382"/>
          <a:ext cx="245806" cy="265471"/>
        </a:xfrm>
        <a:prstGeom xmlns:a="http://schemas.openxmlformats.org/drawingml/2006/main" prst="line">
          <a:avLst/>
        </a:prstGeom>
        <a:ln xmlns:a="http://schemas.openxmlformats.org/drawingml/2006/main">
          <a:solidFill>
            <a:srgbClr val="FF0000"/>
          </a:solidFill>
          <a:headEnd type="none" w="med" len="med"/>
          <a:tailEnd type="none" w="med" len="med"/>
        </a:ln>
      </cdr:spPr>
      <cdr:style>
        <a:lnRef xmlns:a="http://schemas.openxmlformats.org/drawingml/2006/main" idx="3">
          <a:schemeClr val="dk1"/>
        </a:lnRef>
        <a:fillRef xmlns:a="http://schemas.openxmlformats.org/drawingml/2006/main" idx="0">
          <a:schemeClr val="dk1"/>
        </a:fillRef>
        <a:effectRef xmlns:a="http://schemas.openxmlformats.org/drawingml/2006/main" idx="2">
          <a:schemeClr val="dk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9DACBD-CDD8-4565-B9F3-1C3CBF9F63D7}" type="datetimeFigureOut">
              <a:rPr lang="en-AU" smtClean="0"/>
              <a:t>6/10/2026</a:t>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52ECBC-BEF5-4DD8-8CB9-946FE619C770}" type="slidenum">
              <a:rPr lang="en-AU" smtClean="0"/>
              <a:t>‹#›</a:t>
            </a:fld>
            <a:endParaRPr lang="en-AU"/>
          </a:p>
        </p:txBody>
      </p:sp>
    </p:spTree>
    <p:extLst>
      <p:ext uri="{BB962C8B-B14F-4D97-AF65-F5344CB8AC3E}">
        <p14:creationId xmlns:p14="http://schemas.microsoft.com/office/powerpoint/2010/main" val="214576518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95855" units="1/cm"/>
          <inkml:channelProperty channel="T" name="resolution" value="1" units="1/dev"/>
        </inkml:channelProperties>
      </inkml:inkSource>
      <inkml:timestamp xml:id="ts0" timeString="2026-09-08T04:04:14.933"/>
    </inkml:context>
    <inkml:brush xml:id="br0">
      <inkml:brushProperty name="width" value="0.05292" units="cm"/>
      <inkml:brushProperty name="height" value="0.05292" units="cm"/>
      <inkml:brushProperty name="color" value="#FF0000"/>
    </inkml:brush>
  </inkml:definitions>
  <inkml:trace contextRef="#ctx0" brushRef="#br0">22514 7317 0,'-56'0'16,"29"0"0,-29 27-16,56 28 15,-27-27-15,-1 55 16,1-56-16,-1 56 15,28-55-15,0 27 16,0 55-16,0-27 16,0-27-16,28 26 15,-1-26 1,1-29-16,27 1 16,-27-28-16,27 55 15,0-83 16,-27-27-15,27-28-16,-27 28 16,-1 0-16,-27 0 15,0 27-15,0-27 16,0 27-16,0 1 16,0-1-16,0 0 15,0-27-15,-83-55 16,56 82-16,-28 28 15,27-27-15</inkml:trace>
  <inkml:trace contextRef="#ctx0" brushRef="#br0" timeOffset="491.83">22956 7068 0,'27'110'15,"-27"-27"-15,28 28 16,-28-28-16,83 55 16,-83 110-16,27-27 15,1-55-15,0 27 16,-28-110-16,0 0 16,0-28-16,27-28 62,1-27-31</inkml:trace>
  <inkml:trace contextRef="#ctx0" brushRef="#br0" timeOffset="1143.83">23674 8090 0,'-83'0'15,"55"0"1,1 0 0,-29 0-16,29 0 31,27 55-16,0-28-15,0 1 16,27 55-16,1-56 16,0 56-16,54 0 15,-26-28-15,54 1 16,-27-29-16,28 28 16,-84-55-16,28 0 15,-27 0-15,55 0 16,-28-27-1,-55-28 1,28-1-16,-28-27 16,55-27-16,-55 82 15,0 1-15,0-28 16,0 27-16,0 0 16,0-54-16,-28 54 15</inkml:trace>
  <inkml:trace contextRef="#ctx0" brushRef="#br0" timeOffset="1615.59">23950 7068 0,'0'28'31,"0"82"-31,0 1 16,0 109-16,28-82 15,-28 111-15,0 27 16,0-55-16,27-111 16,28 84-16,-55-112 15,0-54-15,28 27 16,-28-27-16,28-28 62</inkml:trace>
  <inkml:trace contextRef="#ctx0" brushRef="#br0" timeOffset="4158.22">21547 10492 0,'0'-56'78,"0"-27"-63,0 28-15,0-28 16,0 56-16,0-28 16,0 27-1,0 0 17,27 1 46,1 27-78,0 27 15,-1 29 1,28 54 0,-27-82-16,0 27 15,-1 28-15,1 0 16,0-83-16,-1 27 15,28-27 17,-27 0-17,-28-27 1,28-29-16,-28 1 16,0 27-16,27 1 15,-27-28-15,0-1 16,0-26-16,0-1 15,56 55 1,-56 1 0,0-29-16,0 29 15,0-1 1,0 1-16,0-29 16,0 29-16</inkml:trace>
  <inkml:trace contextRef="#ctx0" brushRef="#br0" timeOffset="5058.16">22237 10243 0,'0'-28'16,"-27"28"15,-1 0-15,0 0 15,28 56-15,0-29-16,0 1 15,0 27-15,0-27 16,0-1-16,0 1 15,0 27-15,0-27 16,56 27 0,-29-55-1,1 0-15,0 0 16,-1 0 0,1 0 15,-28-83-31,0 56 15,0-29 17,0 139 93,0-55-125,0 55 15,55-28-15,-55-83 78</inkml:trace>
  <inkml:trace contextRef="#ctx0" brushRef="#br0" timeOffset="5824.78">22956 9912 0,'0'-28'15,"-28"28"16,-27 0-15,27 28 0,0-28-1,28 27-15,0 1 16,0 55 0,0-56-16,0 56 15,0 0-15,0-28 16,0 56-16,28-28 15,27 27-15,-27-27 16,0-56-16,-1 1 16,1-28-1,-1 0 1,1 0-16,0 0 16,82-83-16,-82 28 15,55-55-15,-28 27 16,-55 0-16,27 28 15,-27-56-15,0 28 16,0 56-16,0-56 16,-55 0-16,0 56 15,27-29-15,-54 56 16,-1-27-16,0 27 16,0 0-1,28 0-15,27 0 16</inkml:trace>
  <inkml:trace contextRef="#ctx0" brushRef="#br0" timeOffset="6324.77">23757 9829 0,'27'0'31,"-27"83"-31,0 0 15,28 55-15,-28 0 16,83 27-16,-83-27 16,27-27-16,-27-28 15,0-28-15,0 0 16,0-110 62</inkml:trace>
  <inkml:trace contextRef="#ctx0" brushRef="#br0" timeOffset="6624.46">23922 10409 0,'28'-56'16,"0"56"-16,-1 0 16,56 0-16,-28 0 15,83-27-15,1-1 16,-57 28-16,1-55 15,0 27-15,-55 1 16,-1-1 0,-27 1-1,0-1 1,0 0-16</inkml:trace>
  <inkml:trace contextRef="#ctx0" brushRef="#br0" timeOffset="7007.96">24723 9829 0,'0'28'31,"0"82"-31,0 0 16,0 28-16,0 28 16,0-28-16,56-27 15,-56 27-15,27 27 16,1-82-16,-28 0 15,28 27-15,27-27 16,-55-55 0,0-1-1,27 1 1</inkml:trace>
  <inkml:trace contextRef="#ctx0" brushRef="#br0" timeOffset="7541.64">25331 10712 0,'-27'0'62,"27"83"-46,0-55-1,0 82-15,0-55 16,27 1-16,1 82 16,82 0-16,-110-111 15,28 1-15,0 0 16,-1-28 15,-27-28-15,0 0-16</inkml:trace>
  <inkml:trace contextRef="#ctx0" brushRef="#br0" timeOffset="8507.94">25911 10878 0,'0'-28'16,"0"1"-1,0-1-15,-27 28 16,-1 0 0,0 0 62,1 0-78,27 28 15,0-1-15,0 29 16,0-29-16,0 1 16,27-1-1,29 1 1,-29 0-1,1-28 17,0 0-1,-1-28-15,-27 0-1,0 1 32,0 54 47,0 1-79,0 0-15,0-1 32</inkml:trace>
  <inkml:trace contextRef="#ctx0" brushRef="#br0" timeOffset="9359.07">26408 11044 0,'0'-28'16,"0"-27"-16,0 27 16,0 1-1,0-29-15,0 29 16,-27-28-16,-28 27 16,27 0-1,0 28-15,-27 0 16,0 0-1,27 0 1,1 0-16,-1 0 16,28 28-1,0 27-15,0-27 16,0-1-16,0 29 16,28-29-16,27-27 31,28 0-31,-56 0 15,29 0-15,-29 0 16,28 0-16,-27-27 16,-28 82 77,0 55-77,0-54-16,0 26 16,0 1-16,0 0 15,0 0-15,0 27 16,28 1-16,55 27 16,-83-83-16,27 55 15,1-27 1,-1-83-1,1 0 32,-28-83-47,0 28 16</inkml:trace>
  <inkml:trace contextRef="#ctx0" brushRef="#br0" timeOffset="9907.6">26906 10436 0,'83'28'16,"-56"27"-1,1 28-15,-1 0 16,1 27 0,0 1-16,-28-1 15,0-27-15,0-55 16,0 54-16,0-54 15,0 27 1,-28 0 0,0-27-16,1-28 62,-28-55-62,55-56 16</inkml:trace>
  <inkml:trace contextRef="#ctx0" brushRef="#br0" timeOffset="11257.18">29309 8338 0,'0'-83'47,"28"28"-31,-28-55-16,0-28 16,27-1-16,1 29 15,55-111-15,-83 138 16,27 56-1,1-1-15,0-27 16,-1 55 31,-27 55-31,0 83-16,0-55 15,28 55-15,-1-55 16,1 0-16,27-56 15,-27 1 1,-28 0 0,55-56-1,0-55 1,-55 28-16,83-56 16,-27-54-16,26 54 15,-26 56-15,-29-55 16,29 82-16,-29-27 15,-27 27-15,0 1 16</inkml:trace>
  <inkml:trace contextRef="#ctx0" brushRef="#br0" timeOffset="11923.88">30386 7869 0,'56'0'31,"-29"0"-16,1 0-15,-1 0 16,1 0-16,0 0 16,-1-28-1,29-27-15,-29 0 16,-27 27-16,28-27 16,-28 0-16,0 27 15,0 0 1,0 1 15,-28 27-31,-82 0 16,82 27 15,-27 56-15,27-83-16,28 55 15,0-27-15,0 55 16,0-28-16,0 28 15,0-28 1,28-27 0,-1-28-16,-27 27 15,28-27 1,0 0-16,-1 0 16,29 0-1,-29-27-15</inkml:trace>
  <inkml:trace contextRef="#ctx0" brushRef="#br0" timeOffset="12607.09">30911 7703 0,'55'0'32,"-55"28"-17,0 54 1,28-82-16,0 28 16,-1 0-1,1-28 1,0 0 15,54 0-15,-54-28-16,0-27 15,-28 0 1,27 27-16,1 0 16,0 28 46,-28 28-62,82 138 16,-82-139-16,56 84 15,-29-56-15,28 0 16,-27-55 0,0-27-1,-1-29 1,29 1-16,-1-55 15,0 27-15,28 0 16,-28-27-16,0 27 16,-27 28-16</inkml:trace>
  <inkml:trace contextRef="#ctx0" brushRef="#br0" timeOffset="13624.16">28922 10933 0,'0'-55'63,"0"-55"-63,0-28 15,0 0-15,0-1 16,111-26-16,-84 54 16,56 29-16,-83 26 15,28 56 1,-1 83 46,29 28-46,-56-56-16,27 0 16,1 28-16,0-28 15,27 0 1,0-55 46,-55-27-46,55-56-16,-27-28 16,-28-27-16,0 56 15,28 26-15,-28 1 16,0-28-16</inkml:trace>
  <inkml:trace contextRef="#ctx0" brushRef="#br0" timeOffset="14740.83">29861 10464 0,'0'-28'79,"-27"28"-64,-1 0 1,-55 28-1,83 0 1,-27-28-16,27 82 16,0-54-16,0 0 15,0 27 1,0-28 0,0 1-1,27-28 1,1 0-16,27 0 31,-27 0-15,-1-28-16,1 1 15,0 27-15,-28-28 16,0-27-16,0 27 16,0 1 77,0 54-77,0 1 0,0 0-16,0 27 15,27-55 48,29-28-48,-56 1-15</inkml:trace>
  <inkml:trace contextRef="#ctx0" brushRef="#br0" timeOffset="15440.69">30607 9912 0,'-27'83'78,"27"-28"-62,0 0-16,0 55 16,0-27-16,0 0 15,0 28-15,0-56 16,0 28-16,27-28 15,1 0-15,0 0 16,27-27-16,-28-28 16,1 0-1,0 0-15,27-83 16,0-27 0,-55 82-16,55-55 15,-55 0-15,0 56 16,0-56-16,0 28 15,0-1-15,0-26 16,-27 26-16,-28 29 16,-28-1-16,0 1 15,0 27-15,28 0 16,-1 0 31</inkml:trace>
  <inkml:trace contextRef="#ctx0" brushRef="#br0" timeOffset="15907.31">31270 9884 0,'28'55'16,"-28"28"-16,55 28 15,-27-29-15,-28 29 16,27 27 0,-27-28-16,28-54 15,-28 54-15,0-55 16,0 0-16,0 1 15,0-29-15,0 1 16,0-1 0,28-27-1,-1 0-15,-27-27 16,0-1 0,0-55-16,0 28 15,0 0-15</inkml:trace>
  <inkml:trace contextRef="#ctx0" brushRef="#br0" timeOffset="16140.71">31491 10574 0,'28'0'15,"27"0"1,111-55-16,-139 55 15,112-27-15,-29-1 16,-27 0 0,0 1-16,-28-1 15,-27 28 1,-1-28 0</inkml:trace>
  <inkml:trace contextRef="#ctx0" brushRef="#br0" timeOffset="16524">32375 9857 0,'0'110'16,"0"0"-16,0-27 15,0 0-15,0 27 16,-27-27-16,27-27 15,0 54 1,0-27-16,0-28 16,0 0-16,0 0 15,0-27 32</inkml:trace>
  <inkml:trace contextRef="#ctx0" brushRef="#br0" timeOffset="17090.43">32900 9718 0,'28'83'16,"-28"0"-1,-56 138-15,29 0 16,-1-28-16,1 138 16,-56-27-16,27-111 15,56 1-15,-27-112 16,-56 57-16,83-112 16,0 56-16,0-55 15,0-1 1,0 1-1</inkml:trace>
  <inkml:trace contextRef="#ctx0" brushRef="#br0" timeOffset="17740.59">29530 12369 0,'0'-28'31,"0"1"-15,83 27-16,55 0 15,28-56-15,-28 29 16,-55 27-16,-28 0 15,-55-28-15</inkml:trace>
  <inkml:trace contextRef="#ctx0" brushRef="#br0" timeOffset="18107.21">29944 12424 0,'0'28'15,"-27"27"-15,27 0 16,0 0-16,0 28 16,0 28-16,-28-1 15,0-27-15,1-55 16,27 27-16,-28 55 16,1-55-1,27-27 1,0 0-1,0-1 1,-28-27 0,0 0-1,-55 0 1</inkml:trace>
  <inkml:trace contextRef="#ctx0" brushRef="#br0" timeOffset="18357.09">29281 13363 0,'28'27'16,"0"1"-16,54 0 15,29-1-15,27-27 16,-55 28-16,27-28 16,-27 0-16,-55 0 15,0 0-15,-1 0 16,1 0 15,-1 0 0</inkml:trace>
  <inkml:trace contextRef="#ctx0" brushRef="#br0" timeOffset="18923.56">30635 12314 0,'0'55'32,"0"0"-17,0 56-15,0-1 16,0-27-16,0-28 16,0 28-1,0-56-15,0 56 16,0-27-1,0-1-15,0-28 16,0 1-16,0 0 16</inkml:trace>
  <inkml:trace contextRef="#ctx0" brushRef="#br0" timeOffset="19740.49">30580 12507 0,'0'-28'47,"0"1"-16,0-28-15,0 27-16,27 0 15,1 28-15,27-55 16,-27 27-16,-1 1 15,1 27 1,27 0 0,1 0-1,-29 0-15,28 0 16,-27 0-16,27 0 31,-27 0-15,-28 27-1,0 1 1,0 55 0,0-55-1,0 27-15,0-28 16,0 1 0,-28-28-1,-27 28 1,27-28-16,-82 55 15,82-55-15,-55 0 16,56 0-16,27 27 16,-55-27-16,27 0 62,-27 0-46,27-27-16,0-28 15,-27 27-15</inkml:trace>
  <inkml:trace contextRef="#ctx0" brushRef="#br0" timeOffset="20697.64">31381 13170 0,'27'0'79,"1"-83"-64,55-55 1,-83 110-1,0-27-15,0 0 16,27-56-16,1 56 16,55-28-16,-83 56 15,28-29-15,-1 29 16,-27-28 0,28 27-16,27 0 15,28 1 1,-55 27-1,-1-28-15,1 0 16,-1 28-16,1 0 47,0 0-31,-1 56-1,1-29-15,-28 1 16,28 27-16,-28-27 15,0-1 1,27 1 0,-27 27-16,0 0 15,0 1-15,0-1 16,0 55-16,0-27 16,0-28-16,0 56 15,0-56-15,55 28 16,-55-28-16,0-27 15,0-1 32</inkml:trace>
  <inkml:trace contextRef="#ctx0" brushRef="#br0" timeOffset="21440.26">31546 12838 0,'56'0'16,"-1"0"-1,28 0 1,27 0-1,-82 0-15,55 0 16,55 0-16,-110 0 16,110 0-16,-28 0 15,1 0-15,-1 0 16,-82 0-16,55 0 16,-28-27-16,-55-1 31,0 0-16,0-27 1</inkml:trace>
  <inkml:trace contextRef="#ctx0" brushRef="#br0" timeOffset="23356.51">28121 7068 0,'55'55'16,"-55"28"0,28 55-16,-28-27 15,55 27-15,-55 0 16,56-28-16,-29 83 16,1-82-16,55 137 15,-56-137-15,-27 54 16,28 139-16,-28-28 15,0 28-15,0 27 16,0 0-16,0-54 16,0-1-16,0-138 15,0 55-15,0-55 16,28-28-16,-28 28 16,0-27-16,0 27 15,0-83-15,0 83 16,0-27-1,0 27-15,0-56 16,0-26-16,27 27 16,-27-28-16,0 0 15,55 55-15,-55-27 16,0 28-16,0-29 16,0 57-16,0-29 15,0-27-15,0 55 16,28-28-16,-28-55 15,28 1-15,-28-29 16,27 1-16,-27 0 16,0-1 15,0 28 0,28 1-15,-1-56 31,1 0-32,0 0 1,27 0-16,55 0 16,29 0-16,26 0 15,167 0 1,-84 0-16,56 55 15,-83 0-15,0-27 16,-27-28-16,-56 27 16,-28 1-16,-27-28 15,0 0-15,0 0 16,0 0-16,55 83 16,-28-83-16,56 27 15,83-27-15,-111 0 16,-55 0-16,-28 0 15,0 0-15,28 0 16,-28 0 0,-27 0-16,27 0 15,28-27-15,-55 27 16,27 0 156,111 0-157,82 0-15,29 0 16,26 0-16,-109 0 16,-111 0-16,-28 0 15,-28-28 79,-27 0-78,0 1-16,0-28 15</inkml:trace>
  <inkml:trace contextRef="#ctx0" brushRef="#br0" timeOffset="24764.97">28259 7068 0,'0'-28'15,"56"28"17,82 0-32,-83 0 15,166 0-15,-28-27 16,1 27-16,137-28 15,-27 28-15,-28 0 16,56 0-16,-1 0 16,-55 0-16,-55 0 15,-82 0-15,54 0 16,0-83-16,1 56 16,-84 27-16,28 0 15,-55 0-15,-55-28 16,55 28-1,-1-27-15,-54 27 16,0 0 0,-1 0-16,1 0 15,0 0 1,-1 0 0,28 0-16,-27 0 15,0 0-15,27 0 16,-27 0-16,-1 0 15,1 0 32,27 0-31,0 55-16,1-28 16,-29 1-16,56 0 15,-55-28-15,27 27 16,-27 1 46</inkml:trace>
  <inkml:trace contextRef="#ctx0" brushRef="#br0" timeOffset="105200.26">22624 15047 0,'-28'0'15,"1"0"1,-1 0-16,-55 0 15,0 28-15,28-28 16,-55 0-16,-28 27 16,-56-27-16,1 55 15,-83 1-15,27-56 16,-27 0-16,55 0 16,-55 27-16,110 1 15,138-28-15,-27 0 16</inkml:trace>
  <inkml:trace contextRef="#ctx0" brushRef="#br0" timeOffset="105880.06">20193 14798 0,'-27'28'15,"-29"27"1,-137 28-16,82-28 15,-27 28-15,138-55 16,-83 27-16,56-27 16,-1-1-1,1 1 1,54-1 15,84-27-15,27 0-1,0 56-15,0-29 16,0 56-16,-83-55 16,28-28-16,28 55 15,-28-27-15,-28-1 16,0-27-16,28 28 16,-55-28-1,54 0 1</inkml:trace>
  <inkml:trace contextRef="#ctx0" brushRef="#br0" timeOffset="115039.05">19143 9967 0,'56'0'47,"82"0"-47,0 0 0,-28 0 16,1 0-1,27 0-15,0 0 16,-55 0-16,0 0 16,-55 0-16,-1 0 15,1 0 17,-1 0-17,29 0-15,54 0 16,-55 0-1,28 0-15,55-28 16,-82 28 0,-29 0-16,-27-27 62</inkml:trace>
  <inkml:trace contextRef="#ctx0" brushRef="#br0" timeOffset="116216.74">19364 9608 0,'0'28'31,"-55"27"-15,0-28-16,0 1 16,-1 27-16,1-27 15,0 27-15,27-27 16,-27-1-16,27 1 15,1 0 1,27-1 93,27 28-93,56 1-16,28-1 16,-1-28-1,-54-27-15,26 56 16,-54-56 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1CB84-D0B3-C44D-BDDA-E6DD29AD4414}"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E0804-BAAB-D942-A332-52AA6138B38D}" type="slidenum">
              <a:rPr lang="en-US" smtClean="0"/>
              <a:t>‹#›</a:t>
            </a:fld>
            <a:endParaRPr lang="en-US"/>
          </a:p>
        </p:txBody>
      </p:sp>
    </p:spTree>
    <p:extLst>
      <p:ext uri="{BB962C8B-B14F-4D97-AF65-F5344CB8AC3E}">
        <p14:creationId xmlns:p14="http://schemas.microsoft.com/office/powerpoint/2010/main" val="12598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77E0804-BAAB-D942-A332-52AA6138B38D}" type="slidenum">
              <a:rPr lang="en-US" smtClean="0"/>
              <a:t>1</a:t>
            </a:fld>
            <a:endParaRPr lang="en-US"/>
          </a:p>
        </p:txBody>
      </p:sp>
    </p:spTree>
    <p:extLst>
      <p:ext uri="{BB962C8B-B14F-4D97-AF65-F5344CB8AC3E}">
        <p14:creationId xmlns:p14="http://schemas.microsoft.com/office/powerpoint/2010/main" val="1132774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34483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C1AFA0CC-D6D2-5619-032A-CB4B1CEB906A}"/>
            </a:ext>
          </a:extLst>
        </p:cNvPr>
        <p:cNvGrpSpPr/>
        <p:nvPr/>
      </p:nvGrpSpPr>
      <p:grpSpPr>
        <a:xfrm>
          <a:off x="0" y="0"/>
          <a:ext cx="0" cy="0"/>
          <a:chOff x="0" y="0"/>
          <a:chExt cx="0" cy="0"/>
        </a:xfrm>
      </p:grpSpPr>
      <p:sp>
        <p:nvSpPr>
          <p:cNvPr id="103" name="Google Shape;103;p2:notes">
            <a:extLst>
              <a:ext uri="{FF2B5EF4-FFF2-40B4-BE49-F238E27FC236}">
                <a16:creationId xmlns:a16="http://schemas.microsoft.com/office/drawing/2014/main" id="{311C601F-7205-D042-ED8C-2EED526F6D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p2:notes">
            <a:extLst>
              <a:ext uri="{FF2B5EF4-FFF2-40B4-BE49-F238E27FC236}">
                <a16:creationId xmlns:a16="http://schemas.microsoft.com/office/drawing/2014/main" id="{5D86376E-43F2-7E67-3097-828BE978B9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74485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Impurities values for blended samples are higher than pure samples, probably due to improved solubility of these impurities from the bio-oil distillates in the presence of MFO (the distillates themselves cant really dissolve well in our current ICP-OES solvent for analysis)</a:t>
            </a:r>
            <a:br>
              <a:rPr lang="en-US" dirty="0"/>
            </a:br>
            <a:br>
              <a:rPr lang="en-US" dirty="0"/>
            </a:br>
            <a:r>
              <a:rPr lang="en-US" dirty="0"/>
              <a:t>The heavy distillate fraction was estimated to consist predominantly of compounds within the carbon number range of approximately C10–C15. A distillation cut-off temperature of 180°C was selected as it is commonly regarded as the transition point between gasoline-range and kerosene-range fractions. Distillation was terminated at 190°C due to a significant reduction in distillation rate, which was attributed to coke and solid residue formation in the </a:t>
            </a:r>
            <a:r>
              <a:rPr lang="en-US" dirty="0" err="1"/>
              <a:t>undistilled</a:t>
            </a:r>
            <a:r>
              <a:rPr lang="en-US" dirty="0"/>
              <a:t> bottom phase within the flask. Future improvements may include the implementation of vacuum distillation to reduce thermal degradation and coke formation, or lowering the cut-off temperature to approximately 150°C to obtain a cleaner and more stable distillate fraction.</a:t>
            </a:r>
            <a:br>
              <a:rPr lang="en-US" dirty="0"/>
            </a:br>
            <a:br>
              <a:rPr lang="en-US" dirty="0"/>
            </a:br>
            <a:r>
              <a:rPr lang="en-US" dirty="0"/>
              <a:t>The higher moisture content and acid number observed in the light distillate (100–180 °C) can be directly related to its GC–MS profile, which shows a greater proportion of oxygenated compounds and fewer hydrocarbons compared to the heavier fraction. Oxygenated species such as organic acids, aldehydes, ketones, and low-molecular-weight phenolics are more polar and hygroscopic, meaning they tend to retain or associate with water more strongly, contributing to the higher measured moisture content. In addition, the enrichment of carboxylic acid–containing compounds in this fraction directly increases the acid number. In contrast, the heavy distillate (180–190 °C), being richer in hydrocarbons and more stable aromatic structures with fewer oxygenated functionalities, is less polar, less hygroscopic, and contains fewer acidic species, leading to lower moisture retention and a reduced acid number.</a:t>
            </a:r>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7247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A2E9-BD46-0A02-F13B-29C1AEBA3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649AF-EAC9-6D52-1AFB-80D78DF29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5ED03-4B7A-8918-04B4-0DE247B351E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3DFBFB4A-1FF2-1E34-17F9-8CBB50C943A4}"/>
              </a:ext>
            </a:extLst>
          </p:cNvPr>
          <p:cNvSpPr>
            <a:spLocks noGrp="1"/>
          </p:cNvSpPr>
          <p:nvPr>
            <p:ph type="sldNum" sz="quarter" idx="10"/>
          </p:nvPr>
        </p:nvSpPr>
        <p:spPr/>
        <p:txBody>
          <a:bodyPr/>
          <a:lstStyle/>
          <a:p>
            <a:fld id="{077E0804-BAAB-D942-A332-52AA6138B38D}" type="slidenum">
              <a:rPr lang="en-US" smtClean="0"/>
              <a:t>12</a:t>
            </a:fld>
            <a:endParaRPr lang="en-US"/>
          </a:p>
        </p:txBody>
      </p:sp>
    </p:spTree>
    <p:extLst>
      <p:ext uri="{BB962C8B-B14F-4D97-AF65-F5344CB8AC3E}">
        <p14:creationId xmlns:p14="http://schemas.microsoft.com/office/powerpoint/2010/main" val="2104091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077E0804-BAAB-D942-A332-52AA6138B38D}" type="slidenum">
              <a:rPr lang="en-US" smtClean="0"/>
              <a:t>19</a:t>
            </a:fld>
            <a:endParaRPr lang="en-US"/>
          </a:p>
        </p:txBody>
      </p:sp>
    </p:spTree>
    <p:extLst>
      <p:ext uri="{BB962C8B-B14F-4D97-AF65-F5344CB8AC3E}">
        <p14:creationId xmlns:p14="http://schemas.microsoft.com/office/powerpoint/2010/main" val="952950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77E0804-BAAB-D942-A332-52AA6138B38D}" type="slidenum">
              <a:rPr lang="en-US" smtClean="0"/>
              <a:t>26</a:t>
            </a:fld>
            <a:endParaRPr lang="en-US"/>
          </a:p>
        </p:txBody>
      </p:sp>
    </p:spTree>
    <p:extLst>
      <p:ext uri="{BB962C8B-B14F-4D97-AF65-F5344CB8AC3E}">
        <p14:creationId xmlns:p14="http://schemas.microsoft.com/office/powerpoint/2010/main" val="2487441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2E7F4-C608-84A0-B9A3-C79345C52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A1C3C-36E1-CB84-8E45-BCE7F871C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EEC0D-5882-D259-A94E-C4313D78194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352A4ED-53BC-D4D4-58F0-F524FFAE0623}"/>
              </a:ext>
            </a:extLst>
          </p:cNvPr>
          <p:cNvSpPr>
            <a:spLocks noGrp="1"/>
          </p:cNvSpPr>
          <p:nvPr>
            <p:ph type="sldNum" sz="quarter" idx="10"/>
          </p:nvPr>
        </p:nvSpPr>
        <p:spPr/>
        <p:txBody>
          <a:bodyPr/>
          <a:lstStyle/>
          <a:p>
            <a:fld id="{077E0804-BAAB-D942-A332-52AA6138B38D}" type="slidenum">
              <a:rPr lang="en-US" smtClean="0"/>
              <a:t>36</a:t>
            </a:fld>
            <a:endParaRPr lang="en-US"/>
          </a:p>
        </p:txBody>
      </p:sp>
    </p:spTree>
    <p:extLst>
      <p:ext uri="{BB962C8B-B14F-4D97-AF65-F5344CB8AC3E}">
        <p14:creationId xmlns:p14="http://schemas.microsoft.com/office/powerpoint/2010/main" val="1493560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DB39A-BC39-C30B-F4D6-AE2A770F6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8964A-DF7C-2F6F-F3E1-CDEE18C0B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3930C-336A-B627-9E0E-FDCCD195026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0B5B084-88A6-27E3-87B4-8FE25940FFB2}"/>
              </a:ext>
            </a:extLst>
          </p:cNvPr>
          <p:cNvSpPr>
            <a:spLocks noGrp="1"/>
          </p:cNvSpPr>
          <p:nvPr>
            <p:ph type="sldNum" sz="quarter" idx="10"/>
          </p:nvPr>
        </p:nvSpPr>
        <p:spPr/>
        <p:txBody>
          <a:bodyPr/>
          <a:lstStyle/>
          <a:p>
            <a:fld id="{077E0804-BAAB-D942-A332-52AA6138B38D}" type="slidenum">
              <a:rPr lang="en-US" smtClean="0"/>
              <a:t>43</a:t>
            </a:fld>
            <a:endParaRPr lang="en-US"/>
          </a:p>
        </p:txBody>
      </p:sp>
    </p:spTree>
    <p:extLst>
      <p:ext uri="{BB962C8B-B14F-4D97-AF65-F5344CB8AC3E}">
        <p14:creationId xmlns:p14="http://schemas.microsoft.com/office/powerpoint/2010/main" val="3969254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77E0804-BAAB-D942-A332-52AA6138B38D}" type="slidenum">
              <a:rPr lang="en-US" smtClean="0"/>
              <a:t>44</a:t>
            </a:fld>
            <a:endParaRPr lang="en-US"/>
          </a:p>
        </p:txBody>
      </p:sp>
    </p:spTree>
    <p:extLst>
      <p:ext uri="{BB962C8B-B14F-4D97-AF65-F5344CB8AC3E}">
        <p14:creationId xmlns:p14="http://schemas.microsoft.com/office/powerpoint/2010/main" val="2780047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emf"/><Relationship Id="rId1" Type="http://schemas.openxmlformats.org/officeDocument/2006/relationships/slideMaster" Target="../slideMasters/slideMaster1.xml"/><Relationship Id="rId5" Type="http://schemas.openxmlformats.org/officeDocument/2006/relationships/image" Target="../media/image9.jpg"/><Relationship Id="rId4" Type="http://schemas.openxmlformats.org/officeDocument/2006/relationships/image" Target="../media/image8.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1.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image option 1">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11" name="Picture 10" descr="PPT templates-1-standard-FINAL.jpg"/>
          <p:cNvPicPr>
            <a:picLocks noChangeAspect="1"/>
          </p:cNvPicPr>
          <p:nvPr userDrawn="1"/>
        </p:nvPicPr>
        <p:blipFill rotWithShape="1">
          <a:blip r:embed="rId3">
            <a:extLst>
              <a:ext uri="{28A0092B-C50C-407E-A947-70E740481C1C}">
                <a14:useLocalDpi xmlns:a14="http://schemas.microsoft.com/office/drawing/2010/main" val="0"/>
              </a:ext>
            </a:extLst>
          </a:blip>
          <a:srcRect l="63055" r="3241"/>
          <a:stretch/>
        </p:blipFill>
        <p:spPr>
          <a:xfrm>
            <a:off x="8542871" y="0"/>
            <a:ext cx="3081867" cy="6858000"/>
          </a:xfrm>
          <a:prstGeom prst="rect">
            <a:avLst/>
          </a:prstGeom>
        </p:spPr>
      </p:pic>
    </p:spTree>
    <p:extLst>
      <p:ext uri="{BB962C8B-B14F-4D97-AF65-F5344CB8AC3E}">
        <p14:creationId xmlns:p14="http://schemas.microsoft.com/office/powerpoint/2010/main" val="1503124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image option 2">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r="64120" b="6369"/>
          <a:stretch/>
        </p:blipFill>
        <p:spPr>
          <a:xfrm>
            <a:off x="8610064" y="0"/>
            <a:ext cx="3014138" cy="6866467"/>
          </a:xfrm>
          <a:prstGeom prst="rect">
            <a:avLst/>
          </a:prstGeom>
        </p:spPr>
      </p:pic>
    </p:spTree>
    <p:extLst>
      <p:ext uri="{BB962C8B-B14F-4D97-AF65-F5344CB8AC3E}">
        <p14:creationId xmlns:p14="http://schemas.microsoft.com/office/powerpoint/2010/main" val="336025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_image option 3">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3" name="Picture 2"/>
          <p:cNvPicPr>
            <a:picLocks noChangeAspect="1"/>
          </p:cNvPicPr>
          <p:nvPr userDrawn="1"/>
        </p:nvPicPr>
        <p:blipFill rotWithShape="1">
          <a:blip r:embed="rId3">
            <a:extLst>
              <a:ext uri="{28A0092B-C50C-407E-A947-70E740481C1C}">
                <a14:useLocalDpi xmlns:a14="http://schemas.microsoft.com/office/drawing/2010/main" val="0"/>
              </a:ext>
            </a:extLst>
          </a:blip>
          <a:srcRect r="64112" b="6466"/>
          <a:stretch/>
        </p:blipFill>
        <p:spPr>
          <a:xfrm>
            <a:off x="8618530" y="0"/>
            <a:ext cx="3014139" cy="6858000"/>
          </a:xfrm>
          <a:prstGeom prst="rect">
            <a:avLst/>
          </a:prstGeom>
        </p:spPr>
      </p:pic>
    </p:spTree>
    <p:extLst>
      <p:ext uri="{BB962C8B-B14F-4D97-AF65-F5344CB8AC3E}">
        <p14:creationId xmlns:p14="http://schemas.microsoft.com/office/powerpoint/2010/main" val="283457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_image option 4">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sp>
        <p:nvSpPr>
          <p:cNvPr id="9" name="Freeform 8"/>
          <p:cNvSpPr/>
          <p:nvPr userDrawn="1"/>
        </p:nvSpPr>
        <p:spPr>
          <a:xfrm>
            <a:off x="8652398" y="2502"/>
            <a:ext cx="2926807" cy="6882646"/>
          </a:xfrm>
          <a:custGeom>
            <a:avLst/>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blipFill>
            <a:blip r:embed="rId3"/>
            <a:srcRect/>
            <a:stretch>
              <a:fillRect l="-2460" t="179" r="-31878" b="-557"/>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9455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py with subheadings_grey">
    <p:spTree>
      <p:nvGrpSpPr>
        <p:cNvPr id="1" name=""/>
        <p:cNvGrpSpPr/>
        <p:nvPr/>
      </p:nvGrpSpPr>
      <p:grpSpPr>
        <a:xfrm>
          <a:off x="0" y="0"/>
          <a:ext cx="0" cy="0"/>
          <a:chOff x="0" y="0"/>
          <a:chExt cx="0" cy="0"/>
        </a:xfrm>
      </p:grpSpPr>
      <p:sp>
        <p:nvSpPr>
          <p:cNvPr id="17" name="Freeform 16"/>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solidFill>
            <a:srgbClr val="D2D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2"/>
            <a:ext cx="7451725" cy="1729430"/>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sp>
        <p:nvSpPr>
          <p:cNvPr id="42" name="Text Placeholder 17"/>
          <p:cNvSpPr>
            <a:spLocks noGrp="1"/>
          </p:cNvSpPr>
          <p:nvPr>
            <p:ph type="body" sz="quarter" idx="17" hasCustomPrompt="1"/>
          </p:nvPr>
        </p:nvSpPr>
        <p:spPr>
          <a:xfrm>
            <a:off x="300211" y="4111606"/>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2 (20PT, ARIAL NARROW, UPPER CASE)</a:t>
            </a:r>
          </a:p>
        </p:txBody>
      </p:sp>
      <p:sp>
        <p:nvSpPr>
          <p:cNvPr id="43" name="Text Placeholder 17"/>
          <p:cNvSpPr>
            <a:spLocks noGrp="1"/>
          </p:cNvSpPr>
          <p:nvPr>
            <p:ph type="body" sz="quarter" idx="18" hasCustomPrompt="1"/>
          </p:nvPr>
        </p:nvSpPr>
        <p:spPr>
          <a:xfrm>
            <a:off x="294362" y="4513254"/>
            <a:ext cx="7451725" cy="1729430"/>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6246" y="6319350"/>
            <a:ext cx="1262009" cy="367200"/>
          </a:xfrm>
          <a:prstGeom prst="rect">
            <a:avLst/>
          </a:prstGeom>
        </p:spPr>
      </p:pic>
    </p:spTree>
    <p:extLst>
      <p:ext uri="{BB962C8B-B14F-4D97-AF65-F5344CB8AC3E}">
        <p14:creationId xmlns:p14="http://schemas.microsoft.com/office/powerpoint/2010/main" val="411859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py with subheadings_blue">
    <p:spTree>
      <p:nvGrpSpPr>
        <p:cNvPr id="1" name=""/>
        <p:cNvGrpSpPr/>
        <p:nvPr/>
      </p:nvGrpSpPr>
      <p:grpSpPr>
        <a:xfrm>
          <a:off x="0" y="0"/>
          <a:ext cx="0" cy="0"/>
          <a:chOff x="0" y="0"/>
          <a:chExt cx="0" cy="0"/>
        </a:xfrm>
      </p:grpSpPr>
      <p:sp>
        <p:nvSpPr>
          <p:cNvPr id="17" name="Freeform 16"/>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solidFill>
            <a:srgbClr val="006D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2"/>
            <a:ext cx="7451725" cy="1729430"/>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sp>
        <p:nvSpPr>
          <p:cNvPr id="42" name="Text Placeholder 17"/>
          <p:cNvSpPr>
            <a:spLocks noGrp="1"/>
          </p:cNvSpPr>
          <p:nvPr>
            <p:ph type="body" sz="quarter" idx="17" hasCustomPrompt="1"/>
          </p:nvPr>
        </p:nvSpPr>
        <p:spPr>
          <a:xfrm>
            <a:off x="300211" y="4111606"/>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2 (20PT, ARIAL NARROW, UPPER CASE)</a:t>
            </a:r>
          </a:p>
        </p:txBody>
      </p:sp>
      <p:sp>
        <p:nvSpPr>
          <p:cNvPr id="43" name="Text Placeholder 17"/>
          <p:cNvSpPr>
            <a:spLocks noGrp="1"/>
          </p:cNvSpPr>
          <p:nvPr>
            <p:ph type="body" sz="quarter" idx="18" hasCustomPrompt="1"/>
          </p:nvPr>
        </p:nvSpPr>
        <p:spPr>
          <a:xfrm>
            <a:off x="294362" y="4513254"/>
            <a:ext cx="7451725" cy="1729430"/>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Tree>
    <p:extLst>
      <p:ext uri="{BB962C8B-B14F-4D97-AF65-F5344CB8AC3E}">
        <p14:creationId xmlns:p14="http://schemas.microsoft.com/office/powerpoint/2010/main" val="2193092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ed list with texture">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25" name="Text Placeholder 17"/>
          <p:cNvSpPr>
            <a:spLocks noGrp="1"/>
          </p:cNvSpPr>
          <p:nvPr>
            <p:ph type="body" sz="quarter" idx="14" hasCustomPrompt="1"/>
          </p:nvPr>
        </p:nvSpPr>
        <p:spPr>
          <a:xfrm>
            <a:off x="306060" y="1729723"/>
            <a:ext cx="7451725" cy="401647"/>
          </a:xfrm>
          <a:prstGeom prst="rect">
            <a:avLst/>
          </a:prstGeom>
        </p:spPr>
        <p:txBody>
          <a:bodyPr/>
          <a:lstStyle>
            <a:lvl1pPr>
              <a:defRPr sz="2000" b="1" baseline="0">
                <a:solidFill>
                  <a:schemeClr val="tx1"/>
                </a:solidFill>
              </a:defRPr>
            </a:lvl1pPr>
          </a:lstStyle>
          <a:p>
            <a:r>
              <a:rPr lang="en-AU" dirty="0"/>
              <a:t>INTRO HEADING 1 (20PT, ARIAL NARROW, UPPER CASE)</a:t>
            </a:r>
          </a:p>
        </p:txBody>
      </p:sp>
      <p:sp>
        <p:nvSpPr>
          <p:cNvPr id="26" name="Text Placeholder 17"/>
          <p:cNvSpPr>
            <a:spLocks noGrp="1"/>
          </p:cNvSpPr>
          <p:nvPr>
            <p:ph type="body" sz="quarter" idx="16" hasCustomPrompt="1"/>
          </p:nvPr>
        </p:nvSpPr>
        <p:spPr>
          <a:xfrm>
            <a:off x="300211" y="2131371"/>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stStyle>
          <a:p>
            <a:r>
              <a:rPr lang="en-AU" dirty="0"/>
              <a:t>Bullet list, one column (20pt, Arial)</a:t>
            </a:r>
          </a:p>
          <a:p>
            <a:endParaRPr lang="en-AU" dirty="0"/>
          </a:p>
          <a:p>
            <a:endParaRPr lang="en-AU" dirty="0"/>
          </a:p>
          <a:p>
            <a:endParaRPr lang="en-AU" dirty="0"/>
          </a:p>
        </p:txBody>
      </p:sp>
      <p:sp>
        <p:nvSpPr>
          <p:cNvPr id="27" name="Text Placeholder 17"/>
          <p:cNvSpPr>
            <a:spLocks noGrp="1"/>
          </p:cNvSpPr>
          <p:nvPr>
            <p:ph type="body" sz="quarter" idx="17" hasCustomPrompt="1"/>
          </p:nvPr>
        </p:nvSpPr>
        <p:spPr>
          <a:xfrm>
            <a:off x="300211" y="4111606"/>
            <a:ext cx="7451725" cy="401647"/>
          </a:xfrm>
          <a:prstGeom prst="rect">
            <a:avLst/>
          </a:prstGeom>
        </p:spPr>
        <p:txBody>
          <a:bodyPr/>
          <a:lstStyle>
            <a:lvl1pPr>
              <a:defRPr sz="2000" b="1" baseline="0">
                <a:solidFill>
                  <a:schemeClr val="tx1"/>
                </a:solidFill>
              </a:defRPr>
            </a:lvl1pPr>
          </a:lstStyle>
          <a:p>
            <a:r>
              <a:rPr lang="en-AU" dirty="0"/>
              <a:t>INTRO HEADING 2 (20PT, ARIAL NARROW, UPPER CASE)</a:t>
            </a:r>
          </a:p>
        </p:txBody>
      </p:sp>
      <p:sp>
        <p:nvSpPr>
          <p:cNvPr id="28" name="Text Placeholder 17"/>
          <p:cNvSpPr>
            <a:spLocks noGrp="1"/>
          </p:cNvSpPr>
          <p:nvPr>
            <p:ph type="body" sz="quarter" idx="18" hasCustomPrompt="1"/>
          </p:nvPr>
        </p:nvSpPr>
        <p:spPr>
          <a:xfrm>
            <a:off x="294362" y="4513254"/>
            <a:ext cx="7451725" cy="1729430"/>
          </a:xfrm>
          <a:prstGeom prst="rect">
            <a:avLst/>
          </a:prstGeom>
        </p:spPr>
        <p:txBody>
          <a:bodyPr numCol="2"/>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000" b="0" baseline="0">
                <a:solidFill>
                  <a:schemeClr val="tx1"/>
                </a:solidFill>
                <a:latin typeface="Arial" panose="020B0604020202020204" pitchFamily="34" charset="0"/>
                <a:cs typeface="Arial" panose="020B0604020202020204" pitchFamily="34" charset="0"/>
              </a:defRPr>
            </a:lvl1pPr>
          </a:lstStyle>
          <a:p>
            <a:r>
              <a:rPr lang="en-AU" dirty="0"/>
              <a:t>Bullet list, two column (20pt, Arial) </a:t>
            </a:r>
          </a:p>
          <a:p>
            <a:endParaRPr lang="en-AU" dirty="0"/>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AU" dirty="0"/>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AU" dirty="0"/>
              <a:t>Bullet list, two column (20pt, Arial) </a:t>
            </a:r>
          </a:p>
          <a:p>
            <a:endParaRPr lang="en-AU" dirty="0"/>
          </a:p>
        </p:txBody>
      </p:sp>
      <p:sp>
        <p:nvSpPr>
          <p:cNvPr id="29" name="Freeform 28"/>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blipFill dpi="0" rotWithShape="1">
            <a:blip r:embed="rId3"/>
            <a:srcRect/>
            <a:tile tx="1270000" ty="0" sx="80000" sy="8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Tree>
    <p:extLst>
      <p:ext uri="{BB962C8B-B14F-4D97-AF65-F5344CB8AC3E}">
        <p14:creationId xmlns:p14="http://schemas.microsoft.com/office/powerpoint/2010/main" val="3596422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py with two images">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18" name="Text Placeholder 17"/>
          <p:cNvSpPr>
            <a:spLocks noGrp="1"/>
          </p:cNvSpPr>
          <p:nvPr>
            <p:ph type="body" sz="quarter" idx="11" hasCustomPrompt="1"/>
          </p:nvPr>
        </p:nvSpPr>
        <p:spPr>
          <a:xfrm>
            <a:off x="306060" y="1046138"/>
            <a:ext cx="7451725" cy="466468"/>
          </a:xfrm>
          <a:prstGeom prst="rect">
            <a:avLst/>
          </a:prstGeom>
        </p:spPr>
        <p:txBody>
          <a:bodyPr/>
          <a:lstStyle>
            <a:lvl1pPr>
              <a:defRPr sz="2400">
                <a:solidFill>
                  <a:schemeClr val="tx1"/>
                </a:solidFill>
              </a:defRPr>
            </a:lvl1pPr>
          </a:lstStyle>
          <a:p>
            <a:r>
              <a:rPr lang="en-AU" dirty="0"/>
              <a:t>SUB HEADING (24PT, UPPER CASE)</a:t>
            </a:r>
            <a:endParaRPr lang="en-US" dirty="0"/>
          </a:p>
        </p:txBody>
      </p:sp>
      <p:sp>
        <p:nvSpPr>
          <p:cNvPr id="19" name="Text Placeholder 22"/>
          <p:cNvSpPr>
            <a:spLocks noGrp="1"/>
          </p:cNvSpPr>
          <p:nvPr>
            <p:ph type="body" sz="quarter" idx="13" hasCustomPrompt="1"/>
          </p:nvPr>
        </p:nvSpPr>
        <p:spPr>
          <a:xfrm>
            <a:off x="306060" y="359998"/>
            <a:ext cx="7452026" cy="736956"/>
          </a:xfrm>
          <a:prstGeom prst="rect">
            <a:avLst/>
          </a:prstGeom>
        </p:spPr>
        <p:txBody>
          <a:bodyPr/>
          <a:lstStyle>
            <a:lvl1pPr>
              <a:defRPr sz="4200" b="1" baseline="0">
                <a:solidFill>
                  <a:schemeClr val="tx1"/>
                </a:solidFill>
              </a:defRPr>
            </a:lvl1pPr>
          </a:lstStyle>
          <a:p>
            <a:pPr lvl="0"/>
            <a:r>
              <a:rPr lang="en-US" dirty="0"/>
              <a:t>HEADING (42PT, UPPER CASE)</a:t>
            </a:r>
          </a:p>
        </p:txBody>
      </p:sp>
      <p:sp>
        <p:nvSpPr>
          <p:cNvPr id="23" name="Text Placeholder 17"/>
          <p:cNvSpPr>
            <a:spLocks noGrp="1"/>
          </p:cNvSpPr>
          <p:nvPr>
            <p:ph type="body" sz="quarter" idx="14" hasCustomPrompt="1"/>
          </p:nvPr>
        </p:nvSpPr>
        <p:spPr>
          <a:xfrm>
            <a:off x="306060" y="1763411"/>
            <a:ext cx="7451725" cy="401647"/>
          </a:xfrm>
          <a:prstGeom prst="rect">
            <a:avLst/>
          </a:prstGeom>
        </p:spPr>
        <p:txBody>
          <a:bodyPr/>
          <a:lstStyle>
            <a:lvl1pPr>
              <a:defRPr sz="2000" b="1" baseline="0">
                <a:solidFill>
                  <a:schemeClr val="tx1"/>
                </a:solidFill>
              </a:defRPr>
            </a:lvl1pPr>
          </a:lstStyle>
          <a:p>
            <a:r>
              <a:rPr lang="en-AU" dirty="0"/>
              <a:t>INTRO HEADING (20PT, ARIAL NARROW, UPPER CASE)</a:t>
            </a:r>
          </a:p>
        </p:txBody>
      </p:sp>
      <p:sp>
        <p:nvSpPr>
          <p:cNvPr id="24" name="Text Placeholder 17"/>
          <p:cNvSpPr>
            <a:spLocks noGrp="1"/>
          </p:cNvSpPr>
          <p:nvPr>
            <p:ph type="body" sz="quarter" idx="16" hasCustomPrompt="1"/>
          </p:nvPr>
        </p:nvSpPr>
        <p:spPr>
          <a:xfrm>
            <a:off x="300212" y="2131371"/>
            <a:ext cx="4352700" cy="3976132"/>
          </a:xfrm>
          <a:prstGeom prst="rect">
            <a:avLst/>
          </a:prstGeom>
        </p:spPr>
        <p:txBody>
          <a:bodyPr/>
          <a:lstStyle>
            <a:lvl1pPr>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30" name="Picture 2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
        <p:nvSpPr>
          <p:cNvPr id="25" name="Picture Placeholder 17"/>
          <p:cNvSpPr>
            <a:spLocks noGrp="1"/>
          </p:cNvSpPr>
          <p:nvPr>
            <p:ph type="pic" sz="quarter" idx="17"/>
          </p:nvPr>
        </p:nvSpPr>
        <p:spPr>
          <a:xfrm>
            <a:off x="7380288" y="2520000"/>
            <a:ext cx="4027879" cy="2267900"/>
          </a:xfrm>
          <a:prstGeom prst="rect">
            <a:avLst/>
          </a:prstGeom>
          <a:blipFill dpi="0" rotWithShape="1">
            <a:blip r:embed="rId4"/>
            <a:srcRect/>
            <a:tile tx="0" ty="0" sx="40000" sy="40000" flip="none" algn="ctr"/>
          </a:blipFill>
        </p:spPr>
        <p:txBody>
          <a:bodyPr/>
          <a:lstStyle/>
          <a:p>
            <a:endParaRPr lang="en-AU" dirty="0"/>
          </a:p>
        </p:txBody>
      </p:sp>
      <p:sp>
        <p:nvSpPr>
          <p:cNvPr id="26" name="Picture Placeholder 19"/>
          <p:cNvSpPr>
            <a:spLocks noGrp="1"/>
          </p:cNvSpPr>
          <p:nvPr>
            <p:ph type="pic" sz="quarter" idx="18"/>
          </p:nvPr>
        </p:nvSpPr>
        <p:spPr>
          <a:xfrm>
            <a:off x="4960507" y="2519363"/>
            <a:ext cx="2281237" cy="2268537"/>
          </a:xfrm>
          <a:prstGeom prst="rect">
            <a:avLst/>
          </a:prstGeom>
          <a:blipFill dpi="0" rotWithShape="1">
            <a:blip r:embed="rId5"/>
            <a:srcRect/>
            <a:tile tx="0" ty="0" sx="40000" sy="40000" flip="none" algn="b"/>
          </a:blipFill>
        </p:spPr>
        <p:txBody>
          <a:bodyPr/>
          <a:lstStyle/>
          <a:p>
            <a:endParaRPr lang="en-AU"/>
          </a:p>
        </p:txBody>
      </p:sp>
    </p:spTree>
    <p:extLst>
      <p:ext uri="{BB962C8B-B14F-4D97-AF65-F5344CB8AC3E}">
        <p14:creationId xmlns:p14="http://schemas.microsoft.com/office/powerpoint/2010/main" val="183164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slide image with caption">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a:xfrm>
            <a:off x="0" y="-8466"/>
            <a:ext cx="10371666" cy="6866466"/>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1666" h="6866466">
                <a:moveTo>
                  <a:pt x="0" y="8466"/>
                </a:moveTo>
                <a:lnTo>
                  <a:pt x="9245601" y="0"/>
                </a:lnTo>
                <a:lnTo>
                  <a:pt x="10371666" y="6849533"/>
                </a:lnTo>
                <a:lnTo>
                  <a:pt x="0" y="6866466"/>
                </a:lnTo>
                <a:lnTo>
                  <a:pt x="0" y="8466"/>
                </a:lnTo>
                <a:close/>
              </a:path>
            </a:pathLst>
          </a:custGeom>
          <a:blipFill dpi="0" rotWithShape="1">
            <a:blip r:embed="rId2"/>
            <a:srcRect/>
            <a:tile tx="0" ty="0" sx="100000" sy="100000" flip="none" algn="b"/>
          </a:blipFill>
        </p:spPr>
        <p:txBody>
          <a:bodyPr/>
          <a:lstStyle/>
          <a:p>
            <a:endParaRPr lang="en-AU"/>
          </a:p>
        </p:txBody>
      </p:sp>
      <p:pic>
        <p:nvPicPr>
          <p:cNvPr id="22" name="Picture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13" name="Text Placeholder 17"/>
          <p:cNvSpPr>
            <a:spLocks noGrp="1"/>
          </p:cNvSpPr>
          <p:nvPr>
            <p:ph type="body" sz="quarter" idx="14" hasCustomPrompt="1"/>
          </p:nvPr>
        </p:nvSpPr>
        <p:spPr>
          <a:xfrm>
            <a:off x="9689170" y="332573"/>
            <a:ext cx="2309631" cy="1302845"/>
          </a:xfrm>
          <a:prstGeom prst="rect">
            <a:avLst/>
          </a:prstGeom>
          <a:noFill/>
        </p:spPr>
        <p:txBody>
          <a:bodyPr/>
          <a:lstStyle>
            <a:lvl1pPr>
              <a:defRPr sz="2000" b="1" baseline="0">
                <a:solidFill>
                  <a:schemeClr val="tx1"/>
                </a:solidFill>
              </a:defRPr>
            </a:lvl1pPr>
          </a:lstStyle>
          <a:p>
            <a:r>
              <a:rPr lang="en-AU" dirty="0"/>
              <a:t>Image caption (title case)</a:t>
            </a:r>
          </a:p>
        </p:txBody>
      </p:sp>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30328" y="6329169"/>
            <a:ext cx="1262009" cy="367200"/>
          </a:xfrm>
          <a:prstGeom prst="rect">
            <a:avLst/>
          </a:prstGeom>
        </p:spPr>
      </p:pic>
    </p:spTree>
    <p:extLst>
      <p:ext uri="{BB962C8B-B14F-4D97-AF65-F5344CB8AC3E}">
        <p14:creationId xmlns:p14="http://schemas.microsoft.com/office/powerpoint/2010/main" val="3764260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5" name="Freeform 4"/>
          <p:cNvSpPr/>
          <p:nvPr userDrawn="1"/>
        </p:nvSpPr>
        <p:spPr>
          <a:xfrm>
            <a:off x="-19050" y="-9525"/>
            <a:ext cx="9420225" cy="6867525"/>
          </a:xfrm>
          <a:custGeom>
            <a:avLst/>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875" h="6896100">
                <a:moveTo>
                  <a:pt x="9525" y="0"/>
                </a:moveTo>
                <a:lnTo>
                  <a:pt x="4724400" y="0"/>
                </a:lnTo>
                <a:lnTo>
                  <a:pt x="8905875" y="6896100"/>
                </a:lnTo>
                <a:lnTo>
                  <a:pt x="0" y="6896100"/>
                </a:lnTo>
                <a:lnTo>
                  <a:pt x="9525" y="0"/>
                </a:lnTo>
                <a:close/>
              </a:path>
            </a:pathLst>
          </a:custGeom>
          <a:solidFill>
            <a:srgbClr val="006DA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29" name="Text Placeholder 22"/>
          <p:cNvSpPr>
            <a:spLocks noGrp="1"/>
          </p:cNvSpPr>
          <p:nvPr>
            <p:ph type="body" sz="quarter" idx="13" hasCustomPrompt="1"/>
          </p:nvPr>
        </p:nvSpPr>
        <p:spPr>
          <a:xfrm>
            <a:off x="138368" y="1741593"/>
            <a:ext cx="5757606" cy="3435594"/>
          </a:xfrm>
          <a:prstGeom prst="rect">
            <a:avLst/>
          </a:prstGeom>
        </p:spPr>
        <p:txBody>
          <a:bodyPr wrap="square"/>
          <a:lstStyle>
            <a:lvl1pPr algn="r">
              <a:defRPr sz="4400" b="1" baseline="0">
                <a:solidFill>
                  <a:schemeClr val="bg1"/>
                </a:solidFill>
              </a:defRPr>
            </a:lvl1pPr>
          </a:lstStyle>
          <a:p>
            <a:pPr lvl="0"/>
            <a:r>
              <a:rPr lang="en-US" dirty="0"/>
              <a:t>SECTION DIVIDER OR PULL-OUT QUOTE (UPPER CASE)</a:t>
            </a:r>
          </a:p>
        </p:txBody>
      </p:sp>
      <p:pic>
        <p:nvPicPr>
          <p:cNvPr id="31" name="Picture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62921" y="6319350"/>
            <a:ext cx="1262009" cy="367200"/>
          </a:xfrm>
          <a:prstGeom prst="rect">
            <a:avLst/>
          </a:prstGeom>
        </p:spPr>
      </p:pic>
      <p:sp>
        <p:nvSpPr>
          <p:cNvPr id="3" name="Picture Placeholder 2"/>
          <p:cNvSpPr>
            <a:spLocks noGrp="1"/>
          </p:cNvSpPr>
          <p:nvPr>
            <p:ph type="pic" sz="quarter" idx="14"/>
          </p:nvPr>
        </p:nvSpPr>
        <p:spPr>
          <a:xfrm>
            <a:off x="6091492" y="1733018"/>
            <a:ext cx="5438775" cy="3435350"/>
          </a:xfrm>
          <a:custGeom>
            <a:avLst/>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8775" h="3435350">
                <a:moveTo>
                  <a:pt x="0" y="0"/>
                </a:moveTo>
                <a:lnTo>
                  <a:pt x="5438775" y="0"/>
                </a:lnTo>
                <a:lnTo>
                  <a:pt x="5438775" y="3435350"/>
                </a:lnTo>
                <a:lnTo>
                  <a:pt x="2247900" y="3435350"/>
                </a:lnTo>
                <a:lnTo>
                  <a:pt x="0" y="0"/>
                </a:lnTo>
                <a:close/>
              </a:path>
            </a:pathLst>
          </a:custGeom>
          <a:blipFill dpi="0" rotWithShape="1">
            <a:blip r:embed="rId4"/>
            <a:srcRect/>
            <a:tile tx="0" ty="0" sx="100000" sy="100000" flip="none" algn="l"/>
          </a:blipFill>
        </p:spPr>
        <p:txBody>
          <a:bodyPr/>
          <a:lstStyle/>
          <a:p>
            <a:endParaRPr lang="en-AU"/>
          </a:p>
        </p:txBody>
      </p:sp>
    </p:spTree>
    <p:extLst>
      <p:ext uri="{BB962C8B-B14F-4D97-AF65-F5344CB8AC3E}">
        <p14:creationId xmlns:p14="http://schemas.microsoft.com/office/powerpoint/2010/main" val="410736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slide copy_grey">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1"/>
            <a:ext cx="10815464" cy="3299167"/>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sp>
        <p:nvSpPr>
          <p:cNvPr id="5" name="Rectangle 4"/>
          <p:cNvSpPr/>
          <p:nvPr userDrawn="1"/>
        </p:nvSpPr>
        <p:spPr>
          <a:xfrm>
            <a:off x="0" y="6006108"/>
            <a:ext cx="12192000" cy="870942"/>
          </a:xfrm>
          <a:prstGeom prst="rect">
            <a:avLst/>
          </a:prstGeom>
          <a:solidFill>
            <a:srgbClr val="D2D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Tree>
    <p:extLst>
      <p:ext uri="{BB962C8B-B14F-4D97-AF65-F5344CB8AC3E}">
        <p14:creationId xmlns:p14="http://schemas.microsoft.com/office/powerpoint/2010/main" val="3240752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slide copy_texture">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1"/>
            <a:ext cx="10815464" cy="3299167"/>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sp>
        <p:nvSpPr>
          <p:cNvPr id="5" name="Rectangle 4"/>
          <p:cNvSpPr/>
          <p:nvPr userDrawn="1"/>
        </p:nvSpPr>
        <p:spPr>
          <a:xfrm>
            <a:off x="0" y="6006108"/>
            <a:ext cx="12192000" cy="87094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Tree>
    <p:extLst>
      <p:ext uri="{BB962C8B-B14F-4D97-AF65-F5344CB8AC3E}">
        <p14:creationId xmlns:p14="http://schemas.microsoft.com/office/powerpoint/2010/main" val="141559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slide copy_texture option 2">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1"/>
            <a:ext cx="10815464" cy="3853585"/>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sp>
        <p:nvSpPr>
          <p:cNvPr id="19" name="Rectangle 18"/>
          <p:cNvSpPr/>
          <p:nvPr userDrawn="1"/>
        </p:nvSpPr>
        <p:spPr>
          <a:xfrm>
            <a:off x="9993085" y="-19049"/>
            <a:ext cx="123825" cy="11909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0914" y="6404379"/>
            <a:ext cx="1267288" cy="368735"/>
          </a:xfrm>
          <a:prstGeom prst="rect">
            <a:avLst/>
          </a:prstGeom>
        </p:spPr>
      </p:pic>
      <p:sp>
        <p:nvSpPr>
          <p:cNvPr id="21" name="Isosceles Triangle 20"/>
          <p:cNvSpPr/>
          <p:nvPr userDrawn="1"/>
        </p:nvSpPr>
        <p:spPr>
          <a:xfrm rot="16200000" flipH="1">
            <a:off x="8957587" y="-680357"/>
            <a:ext cx="2562223" cy="3884848"/>
          </a:xfrm>
          <a:prstGeom prst="triangle">
            <a:avLst>
              <a:gd name="adj" fmla="val 0"/>
            </a:avLst>
          </a:prstGeom>
          <a:blipFill dpi="0" rotWithShape="0">
            <a:blip r:embed="rId3"/>
            <a:srcRect/>
            <a:tile tx="76200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6" name="Picture 2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Tree>
    <p:extLst>
      <p:ext uri="{BB962C8B-B14F-4D97-AF65-F5344CB8AC3E}">
        <p14:creationId xmlns:p14="http://schemas.microsoft.com/office/powerpoint/2010/main" val="3390464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slide copy_texture option 3">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1"/>
            <a:ext cx="10815464" cy="3853585"/>
          </a:xfrm>
          <a:prstGeom prst="rect">
            <a:avLst/>
          </a:prstGeom>
        </p:spPr>
        <p:txBody>
          <a:bodyPr/>
          <a:lstStyle>
            <a:lvl1pPr marL="0" indent="0">
              <a:buNone/>
              <a:defRPr sz="2000" b="0" baseline="0">
                <a:solidFill>
                  <a:schemeClr val="tx1"/>
                </a:solidFill>
                <a:latin typeface="Arial" panose="020B0604020202020204" pitchFamily="34" charset="0"/>
                <a:cs typeface="Arial" panose="020B0604020202020204" pitchFamily="34" charset="0"/>
              </a:defRPr>
            </a:lvl1pPr>
          </a:lstStyle>
          <a:p>
            <a:r>
              <a:rPr lang="en-AU" dirty="0"/>
              <a:t>Body copy (20pt, Arial) </a:t>
            </a:r>
          </a:p>
          <a:p>
            <a:endParaRPr lang="en-AU" dirty="0"/>
          </a:p>
          <a:p>
            <a:endParaRPr lang="en-AU" dirty="0"/>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0914" y="6404379"/>
            <a:ext cx="1267288" cy="368735"/>
          </a:xfrm>
          <a:prstGeom prst="rect">
            <a:avLst/>
          </a:prstGeom>
        </p:spPr>
      </p:pic>
      <p:sp>
        <p:nvSpPr>
          <p:cNvPr id="21" name="Isosceles Triangle 20"/>
          <p:cNvSpPr/>
          <p:nvPr userDrawn="1"/>
        </p:nvSpPr>
        <p:spPr>
          <a:xfrm rot="16200000" flipV="1">
            <a:off x="558815" y="4317983"/>
            <a:ext cx="2000250" cy="3117884"/>
          </a:xfrm>
          <a:prstGeom prst="triangle">
            <a:avLst>
              <a:gd name="adj" fmla="val 0"/>
            </a:avLst>
          </a:prstGeom>
          <a:blipFill dpi="0" rotWithShape="0">
            <a:blip r:embed="rId3"/>
            <a:srcRect/>
            <a:tile tx="762000" ty="0" sx="50000" sy="50000" flip="none" algn="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Freeform 24"/>
          <p:cNvSpPr/>
          <p:nvPr userDrawn="1"/>
        </p:nvSpPr>
        <p:spPr>
          <a:xfrm flipH="1">
            <a:off x="-1" y="4876800"/>
            <a:ext cx="1176335" cy="1962472"/>
          </a:xfrm>
          <a:custGeom>
            <a:avLst/>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36" h="9592694">
                <a:moveTo>
                  <a:pt x="0" y="3742485"/>
                </a:moveTo>
                <a:lnTo>
                  <a:pt x="1691986" y="0"/>
                </a:lnTo>
                <a:lnTo>
                  <a:pt x="1711036" y="9509516"/>
                </a:lnTo>
                <a:lnTo>
                  <a:pt x="1701511" y="9592694"/>
                </a:lnTo>
                <a:lnTo>
                  <a:pt x="0" y="3742485"/>
                </a:lnTo>
                <a:close/>
              </a:path>
            </a:pathLst>
          </a:custGeom>
          <a:solidFill>
            <a:srgbClr val="006CAB">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6" name="Picture 2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Tree>
    <p:extLst>
      <p:ext uri="{BB962C8B-B14F-4D97-AF65-F5344CB8AC3E}">
        <p14:creationId xmlns:p14="http://schemas.microsoft.com/office/powerpoint/2010/main" val="3970509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8"/>
        <p:cNvGrpSpPr/>
        <p:nvPr/>
      </p:nvGrpSpPr>
      <p:grpSpPr>
        <a:xfrm>
          <a:off x="0" y="0"/>
          <a:ext cx="0" cy="0"/>
          <a:chOff x="0" y="0"/>
          <a:chExt cx="0" cy="0"/>
        </a:xfrm>
      </p:grpSpPr>
      <p:sp>
        <p:nvSpPr>
          <p:cNvPr id="19" name="Google Shape;19;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730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193973"/>
      </p:ext>
    </p:extLst>
  </p:cSld>
  <p:clrMap bg1="lt1" tx1="dk1" bg2="lt2" tx2="dk2" accent1="accent1" accent2="accent2" accent3="accent3" accent4="accent4" accent5="accent5" accent6="accent6" hlink="hlink" folHlink="folHlink"/>
  <p:sldLayoutIdLst>
    <p:sldLayoutId id="2147483901" r:id="rId1"/>
    <p:sldLayoutId id="2147483931" r:id="rId2"/>
    <p:sldLayoutId id="2147483932" r:id="rId3"/>
    <p:sldLayoutId id="2147483933" r:id="rId4"/>
    <p:sldLayoutId id="2147483913" r:id="rId5"/>
    <p:sldLayoutId id="2147483934" r:id="rId6"/>
    <p:sldLayoutId id="2147483923" r:id="rId7"/>
    <p:sldLayoutId id="2147483919" r:id="rId8"/>
    <p:sldLayoutId id="2147483920" r:id="rId9"/>
    <p:sldLayoutId id="2147483918" r:id="rId10"/>
    <p:sldLayoutId id="2147483915" r:id="rId11"/>
    <p:sldLayoutId id="2147483935" r:id="rId12"/>
    <p:sldLayoutId id="2147483916" r:id="rId13"/>
    <p:sldLayoutId id="2147483921" r:id="rId14"/>
    <p:sldLayoutId id="2147483936" r:id="rId15"/>
  </p:sldLayoutIdLst>
  <p:hf hdr="0" ftr="0" dt="0"/>
  <p:txStyles>
    <p:titleStyle>
      <a:lvl1pPr algn="l" defTabSz="914400" rtl="0" eaLnBrk="1" latinLnBrk="0" hangingPunct="1">
        <a:lnSpc>
          <a:spcPct val="90000"/>
        </a:lnSpc>
        <a:spcBef>
          <a:spcPct val="0"/>
        </a:spcBef>
        <a:buNone/>
        <a:defRPr sz="3400" b="1" i="0" kern="1200">
          <a:solidFill>
            <a:schemeClr val="bg1"/>
          </a:solidFill>
          <a:latin typeface="Arial Narrow" charset="0"/>
          <a:ea typeface="Arial Narrow" charset="0"/>
          <a:cs typeface="Arial Narrow" charset="0"/>
        </a:defRPr>
      </a:lvl1pPr>
    </p:titleStyle>
    <p:bodyStyle>
      <a:lvl1pPr marL="0" indent="0" algn="l" defTabSz="914400" rtl="0" eaLnBrk="1" latinLnBrk="0" hangingPunct="1">
        <a:lnSpc>
          <a:spcPct val="90000"/>
        </a:lnSpc>
        <a:spcBef>
          <a:spcPts val="1000"/>
        </a:spcBef>
        <a:buFont typeface="Arial"/>
        <a:buNone/>
        <a:defRPr sz="2200" kern="1200">
          <a:solidFill>
            <a:schemeClr val="bg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5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hyperlink" Target="https://www.sciencedirect.com/science/article/pii/S1364032115016871" TargetMode="External"/><Relationship Id="rId3" Type="http://schemas.openxmlformats.org/officeDocument/2006/relationships/hyperlink" Target="https://pubs.rsc.org/en/content/articlelanding/2011/ee/c0ee00523a" TargetMode="External"/><Relationship Id="rId7" Type="http://schemas.openxmlformats.org/officeDocument/2006/relationships/hyperlink" Target="https://pubs.acs.org/doi/10.1021/acsomega.3c05007" TargetMode="External"/><Relationship Id="rId2" Type="http://schemas.openxmlformats.org/officeDocument/2006/relationships/hyperlink" Target="https://www.sciencedirect.com/science/article/pii/S0016236123030879" TargetMode="External"/><Relationship Id="rId1" Type="http://schemas.openxmlformats.org/officeDocument/2006/relationships/slideLayout" Target="../slideLayouts/slideLayout14.xml"/><Relationship Id="rId6" Type="http://schemas.openxmlformats.org/officeDocument/2006/relationships/hyperlink" Target="https://www.sciencedirect.com/science/article/pii/S1876610219312305" TargetMode="External"/><Relationship Id="rId11" Type="http://schemas.openxmlformats.org/officeDocument/2006/relationships/hyperlink" Target="https://www.researchgate.net/publication/250764772_Experimental_study_of_the_effect_of_acid-wash_pretreatment_on_biomass_pyrolysis" TargetMode="External"/><Relationship Id="rId5" Type="http://schemas.openxmlformats.org/officeDocument/2006/relationships/hyperlink" Target="https://pubs.acs.org/doi/10.1021/acs.energyfuels.5c06144" TargetMode="External"/><Relationship Id="rId10" Type="http://schemas.openxmlformats.org/officeDocument/2006/relationships/hyperlink" Target="https://www.sciencedirect.com/science/article/pii/S0165237021000139" TargetMode="External"/><Relationship Id="rId4" Type="http://schemas.openxmlformats.org/officeDocument/2006/relationships/hyperlink" Target="https://www.sciencedirect.com/science/article/pii/S2211339815000568" TargetMode="External"/><Relationship Id="rId9" Type="http://schemas.openxmlformats.org/officeDocument/2006/relationships/hyperlink" Target="https://www.sciencedirect.com/science/article/pii/S001623611300160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simple.wikipedia.org/wiki/Fractional_distillation" TargetMode="External"/><Relationship Id="rId2" Type="http://schemas.openxmlformats.org/officeDocument/2006/relationships/image" Target="../media/image35.sv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379112" y="3580098"/>
            <a:ext cx="6012163" cy="678126"/>
          </a:xfrm>
        </p:spPr>
        <p:txBody>
          <a:bodyPr/>
          <a:lstStyle/>
          <a:p>
            <a:r>
              <a:rPr lang="en-AU" dirty="0"/>
              <a:t>Kong Yue Xuan</a:t>
            </a:r>
          </a:p>
        </p:txBody>
      </p:sp>
      <p:sp>
        <p:nvSpPr>
          <p:cNvPr id="3" name="Text Placeholder 2"/>
          <p:cNvSpPr>
            <a:spLocks noGrp="1"/>
          </p:cNvSpPr>
          <p:nvPr>
            <p:ph type="body" sz="quarter" idx="12"/>
          </p:nvPr>
        </p:nvSpPr>
        <p:spPr/>
        <p:txBody>
          <a:bodyPr/>
          <a:lstStyle/>
          <a:p>
            <a:r>
              <a:rPr lang="en-AU" dirty="0"/>
              <a:t>21/05/2026 9am</a:t>
            </a:r>
          </a:p>
        </p:txBody>
      </p:sp>
      <p:sp>
        <p:nvSpPr>
          <p:cNvPr id="4" name="Text Placeholder 3"/>
          <p:cNvSpPr>
            <a:spLocks noGrp="1"/>
          </p:cNvSpPr>
          <p:nvPr>
            <p:ph type="body" sz="quarter" idx="13"/>
          </p:nvPr>
        </p:nvSpPr>
        <p:spPr>
          <a:xfrm>
            <a:off x="379112" y="1604889"/>
            <a:ext cx="7998276" cy="1180231"/>
          </a:xfrm>
        </p:spPr>
        <p:txBody>
          <a:bodyPr/>
          <a:lstStyle/>
          <a:p>
            <a:r>
              <a:rPr lang="en-US" dirty="0"/>
              <a:t>Valorization of Pyrolysis Oil towards Marine Fuel and Asphalt Utilization</a:t>
            </a:r>
            <a:endParaRPr lang="en-AU" dirty="0"/>
          </a:p>
        </p:txBody>
      </p:sp>
      <p:sp>
        <p:nvSpPr>
          <p:cNvPr id="5" name="Text Placeholder 4"/>
          <p:cNvSpPr>
            <a:spLocks noGrp="1"/>
          </p:cNvSpPr>
          <p:nvPr>
            <p:ph type="body" sz="quarter" idx="14"/>
          </p:nvPr>
        </p:nvSpPr>
        <p:spPr/>
        <p:txBody>
          <a:bodyPr/>
          <a:lstStyle/>
          <a:p>
            <a:r>
              <a:rPr lang="en-AU" dirty="0"/>
              <a:t>GRS Meeting and Presentation</a:t>
            </a:r>
          </a:p>
        </p:txBody>
      </p:sp>
      <p:sp>
        <p:nvSpPr>
          <p:cNvPr id="6" name="Slide Number Placeholder 3">
            <a:extLst>
              <a:ext uri="{FF2B5EF4-FFF2-40B4-BE49-F238E27FC236}">
                <a16:creationId xmlns:a16="http://schemas.microsoft.com/office/drawing/2014/main" id="{C9D1AFA2-79F0-553F-399A-C04FF2C13CC1}"/>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F1F12AE4-32B8-5742-3A18-F97CFC28E870}"/>
              </a:ext>
            </a:extLst>
          </p:cNvPr>
          <p:cNvGrpSpPr/>
          <p:nvPr/>
        </p:nvGrpSpPr>
        <p:grpSpPr>
          <a:xfrm>
            <a:off x="2983078" y="352517"/>
            <a:ext cx="1796393" cy="774699"/>
            <a:chOff x="5342217" y="1473060"/>
            <a:chExt cx="3054298" cy="1317173"/>
          </a:xfrm>
        </p:grpSpPr>
        <p:pic>
          <p:nvPicPr>
            <p:cNvPr id="9" name="Picture 8">
              <a:extLst>
                <a:ext uri="{FF2B5EF4-FFF2-40B4-BE49-F238E27FC236}">
                  <a16:creationId xmlns:a16="http://schemas.microsoft.com/office/drawing/2014/main" id="{5AC55F60-2362-BB67-32D9-BDEA3EAB3850}"/>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11" name="Straight Connector 10">
              <a:extLst>
                <a:ext uri="{FF2B5EF4-FFF2-40B4-BE49-F238E27FC236}">
                  <a16:creationId xmlns:a16="http://schemas.microsoft.com/office/drawing/2014/main" id="{D22B4852-0F9E-4CD4-437E-7F381F8F7F02}"/>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0260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CDC6E-A451-D716-DD8E-9E6EC3208A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8584A1E-4BD8-80A4-CA87-DD05BFEC2281}"/>
              </a:ext>
            </a:extLst>
          </p:cNvPr>
          <p:cNvSpPr>
            <a:spLocks noGrp="1"/>
          </p:cNvSpPr>
          <p:nvPr>
            <p:ph type="body" sz="quarter" idx="11"/>
          </p:nvPr>
        </p:nvSpPr>
        <p:spPr/>
        <p:txBody>
          <a:bodyPr/>
          <a:lstStyle/>
          <a:p>
            <a:r>
              <a:rPr lang="en-AU" dirty="0"/>
              <a:t>Decarbonization</a:t>
            </a:r>
          </a:p>
        </p:txBody>
      </p:sp>
      <p:sp>
        <p:nvSpPr>
          <p:cNvPr id="3" name="Text Placeholder 2">
            <a:extLst>
              <a:ext uri="{FF2B5EF4-FFF2-40B4-BE49-F238E27FC236}">
                <a16:creationId xmlns:a16="http://schemas.microsoft.com/office/drawing/2014/main" id="{25365C32-1610-2E82-592A-875258989AF6}"/>
              </a:ext>
            </a:extLst>
          </p:cNvPr>
          <p:cNvSpPr>
            <a:spLocks noGrp="1"/>
          </p:cNvSpPr>
          <p:nvPr>
            <p:ph type="body" sz="quarter" idx="13"/>
          </p:nvPr>
        </p:nvSpPr>
        <p:spPr/>
        <p:txBody>
          <a:bodyPr/>
          <a:lstStyle/>
          <a:p>
            <a:r>
              <a:rPr lang="en-AU" dirty="0"/>
              <a:t>Introduction</a:t>
            </a:r>
          </a:p>
        </p:txBody>
      </p:sp>
      <p:sp>
        <p:nvSpPr>
          <p:cNvPr id="5" name="Text Placeholder 4">
            <a:extLst>
              <a:ext uri="{FF2B5EF4-FFF2-40B4-BE49-F238E27FC236}">
                <a16:creationId xmlns:a16="http://schemas.microsoft.com/office/drawing/2014/main" id="{DE9A77C3-F7D5-F470-E364-6EC8F9026A3C}"/>
              </a:ext>
            </a:extLst>
          </p:cNvPr>
          <p:cNvSpPr>
            <a:spLocks noGrp="1"/>
          </p:cNvSpPr>
          <p:nvPr>
            <p:ph type="body" sz="quarter" idx="16"/>
          </p:nvPr>
        </p:nvSpPr>
        <p:spPr>
          <a:xfrm>
            <a:off x="300211" y="1524001"/>
            <a:ext cx="10815464" cy="4427266"/>
          </a:xfrm>
        </p:spPr>
        <p:txBody>
          <a:bodyPr/>
          <a:lstStyle/>
          <a:p>
            <a:pPr marL="342900" indent="-342900">
              <a:buFont typeface="Arial" panose="020B0604020202020204" pitchFamily="34" charset="0"/>
              <a:buChar char="•"/>
            </a:pPr>
            <a:r>
              <a:rPr lang="en-AU" dirty="0">
                <a:latin typeface="+mj-lt"/>
              </a:rPr>
              <a:t>Alternative energy sources (wind, solar, hydro)</a:t>
            </a:r>
          </a:p>
          <a:p>
            <a:pPr marL="1028700" lvl="1" indent="-342900">
              <a:buFont typeface="Arial" panose="020B0604020202020204" pitchFamily="34" charset="0"/>
              <a:buChar char="•"/>
            </a:pPr>
            <a:r>
              <a:rPr lang="en-AU" sz="2000" dirty="0">
                <a:latin typeface="+mj-lt"/>
                <a:cs typeface="Arial" panose="020B0604020202020204" pitchFamily="34" charset="0"/>
              </a:rPr>
              <a:t>Generally suitable for electrifying</a:t>
            </a:r>
          </a:p>
          <a:p>
            <a:pPr marL="1028700" lvl="1" indent="-342900">
              <a:buFont typeface="Arial" panose="020B0604020202020204" pitchFamily="34" charset="0"/>
              <a:buChar char="•"/>
            </a:pPr>
            <a:r>
              <a:rPr lang="en-AU" sz="2000" dirty="0">
                <a:latin typeface="+mj-lt"/>
                <a:cs typeface="Arial" panose="020B0604020202020204" pitchFamily="34" charset="0"/>
              </a:rPr>
              <a:t>Lack of energy density despite advances in battery technology (around 1 MJ/kg)</a:t>
            </a:r>
          </a:p>
          <a:p>
            <a:pPr marL="342900" indent="-342900">
              <a:buFont typeface="Arial" panose="020B0604020202020204" pitchFamily="34" charset="0"/>
              <a:buChar char="•"/>
            </a:pPr>
            <a:r>
              <a:rPr lang="en-AU" dirty="0">
                <a:latin typeface="+mj-lt"/>
              </a:rPr>
              <a:t>Marine Fuel Oil</a:t>
            </a:r>
          </a:p>
          <a:p>
            <a:pPr marL="1028700" lvl="1" indent="-342900">
              <a:buFont typeface="Arial" panose="020B0604020202020204" pitchFamily="34" charset="0"/>
              <a:buChar char="•"/>
            </a:pPr>
            <a:r>
              <a:rPr lang="en-AU" sz="2000" dirty="0">
                <a:latin typeface="+mj-lt"/>
              </a:rPr>
              <a:t>Requires energy dense fuel (40 MJ/kg)</a:t>
            </a:r>
          </a:p>
          <a:p>
            <a:pPr marL="1028700" lvl="1" indent="-342900">
              <a:buFont typeface="Arial" panose="020B0604020202020204" pitchFamily="34" charset="0"/>
              <a:buChar char="•"/>
            </a:pPr>
            <a:r>
              <a:rPr lang="en-AU" sz="2000" dirty="0">
                <a:latin typeface="+mj-lt"/>
              </a:rPr>
              <a:t>Produced from fossil fuel distillate residue</a:t>
            </a:r>
          </a:p>
          <a:p>
            <a:pPr marL="342900" indent="-342900">
              <a:buFont typeface="Arial" panose="020B0604020202020204" pitchFamily="34" charset="0"/>
              <a:buChar char="•"/>
            </a:pPr>
            <a:r>
              <a:rPr lang="en-AU" dirty="0">
                <a:latin typeface="+mj-lt"/>
              </a:rPr>
              <a:t>Alternative carbon source</a:t>
            </a:r>
          </a:p>
          <a:p>
            <a:pPr marL="1028700" lvl="1" indent="-342900">
              <a:buFont typeface="Arial" panose="020B0604020202020204" pitchFamily="34" charset="0"/>
              <a:buChar char="•"/>
            </a:pPr>
            <a:r>
              <a:rPr lang="en-AU" sz="2000" dirty="0">
                <a:latin typeface="+mj-lt"/>
              </a:rPr>
              <a:t>Converts hard to store “electrifying” energy into storable “fuel”</a:t>
            </a:r>
          </a:p>
        </p:txBody>
      </p:sp>
      <p:sp>
        <p:nvSpPr>
          <p:cNvPr id="6" name="Slide Number Placeholder 3">
            <a:extLst>
              <a:ext uri="{FF2B5EF4-FFF2-40B4-BE49-F238E27FC236}">
                <a16:creationId xmlns:a16="http://schemas.microsoft.com/office/drawing/2014/main" id="{0F677382-337A-C807-0C41-C953E993AF4A}"/>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a:t>
            </a:fld>
            <a:endParaRPr lang="en-MY" sz="1600" dirty="0">
              <a:latin typeface="Arial Narrow" panose="020B0606020202030204" pitchFamily="34" charset="0"/>
            </a:endParaRPr>
          </a:p>
        </p:txBody>
      </p:sp>
    </p:spTree>
    <p:extLst>
      <p:ext uri="{BB962C8B-B14F-4D97-AF65-F5344CB8AC3E}">
        <p14:creationId xmlns:p14="http://schemas.microsoft.com/office/powerpoint/2010/main" val="3260936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603B1-1DAE-9F92-D39F-A7F31BC2A9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D119E0B-31C9-305C-754F-5305B5108CE2}"/>
              </a:ext>
            </a:extLst>
          </p:cNvPr>
          <p:cNvSpPr>
            <a:spLocks noGrp="1"/>
          </p:cNvSpPr>
          <p:nvPr>
            <p:ph type="body" sz="quarter" idx="11"/>
          </p:nvPr>
        </p:nvSpPr>
        <p:spPr/>
        <p:txBody>
          <a:bodyPr/>
          <a:lstStyle/>
          <a:p>
            <a:r>
              <a:rPr lang="en-AU" dirty="0"/>
              <a:t>Pyrolysis Oil (Py-Oil) from Palm Biomass</a:t>
            </a:r>
          </a:p>
        </p:txBody>
      </p:sp>
      <p:sp>
        <p:nvSpPr>
          <p:cNvPr id="3" name="Text Placeholder 2">
            <a:extLst>
              <a:ext uri="{FF2B5EF4-FFF2-40B4-BE49-F238E27FC236}">
                <a16:creationId xmlns:a16="http://schemas.microsoft.com/office/drawing/2014/main" id="{28CF588D-B3A5-C2F9-9BDF-887B88110E8E}"/>
              </a:ext>
            </a:extLst>
          </p:cNvPr>
          <p:cNvSpPr>
            <a:spLocks noGrp="1"/>
          </p:cNvSpPr>
          <p:nvPr>
            <p:ph type="body" sz="quarter" idx="13"/>
          </p:nvPr>
        </p:nvSpPr>
        <p:spPr/>
        <p:txBody>
          <a:bodyPr/>
          <a:lstStyle/>
          <a:p>
            <a:r>
              <a:rPr lang="en-AU" dirty="0"/>
              <a:t>Introduction</a:t>
            </a:r>
          </a:p>
        </p:txBody>
      </p:sp>
      <p:sp>
        <p:nvSpPr>
          <p:cNvPr id="5" name="Text Placeholder 4">
            <a:extLst>
              <a:ext uri="{FF2B5EF4-FFF2-40B4-BE49-F238E27FC236}">
                <a16:creationId xmlns:a16="http://schemas.microsoft.com/office/drawing/2014/main" id="{752D9CEF-82B5-4A12-38CE-89154A5FD9F8}"/>
              </a:ext>
            </a:extLst>
          </p:cNvPr>
          <p:cNvSpPr>
            <a:spLocks noGrp="1"/>
          </p:cNvSpPr>
          <p:nvPr>
            <p:ph type="body" sz="quarter" idx="16"/>
          </p:nvPr>
        </p:nvSpPr>
        <p:spPr/>
        <p:txBody>
          <a:bodyPr/>
          <a:lstStyle/>
          <a:p>
            <a:pPr marL="342900" indent="-342900">
              <a:buFont typeface="Arial" panose="020B0604020202020204" pitchFamily="34" charset="0"/>
              <a:buChar char="•"/>
            </a:pPr>
            <a:r>
              <a:rPr lang="en-AU" dirty="0"/>
              <a:t>Abundant quantities of palm biomass in Malaysia</a:t>
            </a:r>
          </a:p>
          <a:p>
            <a:pPr marL="342900" indent="-342900">
              <a:buFont typeface="Arial" panose="020B0604020202020204" pitchFamily="34" charset="0"/>
              <a:buChar char="•"/>
            </a:pPr>
            <a:r>
              <a:rPr lang="en-AU" dirty="0"/>
              <a:t>A significant byproduct in production of biochar</a:t>
            </a:r>
          </a:p>
          <a:p>
            <a:pPr marL="342900" indent="-342900">
              <a:buFont typeface="Arial" panose="020B0604020202020204" pitchFamily="34" charset="0"/>
              <a:buChar char="•"/>
            </a:pPr>
            <a:r>
              <a:rPr lang="en-AU" dirty="0"/>
              <a:t>A concentrated source of carbon</a:t>
            </a:r>
          </a:p>
        </p:txBody>
      </p:sp>
      <p:sp>
        <p:nvSpPr>
          <p:cNvPr id="6" name="Slide Number Placeholder 3">
            <a:extLst>
              <a:ext uri="{FF2B5EF4-FFF2-40B4-BE49-F238E27FC236}">
                <a16:creationId xmlns:a16="http://schemas.microsoft.com/office/drawing/2014/main" id="{AD167F79-65E2-6DB7-B5B7-877559CE9857}"/>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3</a:t>
            </a:fld>
            <a:endParaRPr lang="en-MY" sz="1600" dirty="0">
              <a:latin typeface="Arial Narrow" panose="020B0606020202030204" pitchFamily="34" charset="0"/>
            </a:endParaRPr>
          </a:p>
        </p:txBody>
      </p:sp>
      <p:pic>
        <p:nvPicPr>
          <p:cNvPr id="12" name="Picture 11">
            <a:extLst>
              <a:ext uri="{FF2B5EF4-FFF2-40B4-BE49-F238E27FC236}">
                <a16:creationId xmlns:a16="http://schemas.microsoft.com/office/drawing/2014/main" id="{3B71B297-C5BD-17AA-5CE5-26CA90220D79}"/>
              </a:ext>
            </a:extLst>
          </p:cNvPr>
          <p:cNvPicPr>
            <a:picLocks noChangeAspect="1"/>
          </p:cNvPicPr>
          <p:nvPr/>
        </p:nvPicPr>
        <p:blipFill>
          <a:blip r:embed="rId2"/>
          <a:stretch>
            <a:fillRect/>
          </a:stretch>
        </p:blipFill>
        <p:spPr>
          <a:xfrm>
            <a:off x="6755529" y="694787"/>
            <a:ext cx="3302872" cy="5871773"/>
          </a:xfrm>
          <a:prstGeom prst="rect">
            <a:avLst/>
          </a:prstGeom>
        </p:spPr>
      </p:pic>
    </p:spTree>
    <p:extLst>
      <p:ext uri="{BB962C8B-B14F-4D97-AF65-F5344CB8AC3E}">
        <p14:creationId xmlns:p14="http://schemas.microsoft.com/office/powerpoint/2010/main" val="306887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E893-3AD0-DB73-8FA4-FEA76254648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F892AAC-D7F9-D856-023B-D9DC10641539}"/>
              </a:ext>
            </a:extLst>
          </p:cNvPr>
          <p:cNvSpPr>
            <a:spLocks noGrp="1"/>
          </p:cNvSpPr>
          <p:nvPr>
            <p:ph type="body" sz="quarter" idx="13"/>
          </p:nvPr>
        </p:nvSpPr>
        <p:spPr>
          <a:xfrm>
            <a:off x="306059" y="326309"/>
            <a:ext cx="9467205" cy="736956"/>
          </a:xfrm>
        </p:spPr>
        <p:txBody>
          <a:bodyPr/>
          <a:lstStyle/>
          <a:p>
            <a:r>
              <a:rPr lang="en-AU" dirty="0"/>
              <a:t>Biomass Py-Oil: Bottlenecks to Adoption</a:t>
            </a:r>
          </a:p>
        </p:txBody>
      </p:sp>
      <p:sp>
        <p:nvSpPr>
          <p:cNvPr id="6" name="Slide Number Placeholder 3">
            <a:extLst>
              <a:ext uri="{FF2B5EF4-FFF2-40B4-BE49-F238E27FC236}">
                <a16:creationId xmlns:a16="http://schemas.microsoft.com/office/drawing/2014/main" id="{E9A6B2AB-A6C9-2DAA-C904-E4312B3003EE}"/>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a:t>
            </a:fld>
            <a:endParaRPr lang="en-MY" sz="1600" dirty="0">
              <a:latin typeface="Arial Narrow" panose="020B0606020202030204" pitchFamily="34" charset="0"/>
            </a:endParaRPr>
          </a:p>
        </p:txBody>
      </p:sp>
      <p:graphicFrame>
        <p:nvGraphicFramePr>
          <p:cNvPr id="9" name="Table 8">
            <a:extLst>
              <a:ext uri="{FF2B5EF4-FFF2-40B4-BE49-F238E27FC236}">
                <a16:creationId xmlns:a16="http://schemas.microsoft.com/office/drawing/2014/main" id="{893C3C9F-2EF5-2393-3C21-C493BC675BE4}"/>
              </a:ext>
            </a:extLst>
          </p:cNvPr>
          <p:cNvGraphicFramePr>
            <a:graphicFrameLocks noGrp="1"/>
          </p:cNvGraphicFramePr>
          <p:nvPr>
            <p:extLst>
              <p:ext uri="{D42A27DB-BD31-4B8C-83A1-F6EECF244321}">
                <p14:modId xmlns:p14="http://schemas.microsoft.com/office/powerpoint/2010/main" val="3360726634"/>
              </p:ext>
            </p:extLst>
          </p:nvPr>
        </p:nvGraphicFramePr>
        <p:xfrm>
          <a:off x="1274915" y="1076482"/>
          <a:ext cx="8970298" cy="3797765"/>
        </p:xfrm>
        <a:graphic>
          <a:graphicData uri="http://schemas.openxmlformats.org/drawingml/2006/table">
            <a:tbl>
              <a:tblPr firstRow="1" bandRow="1">
                <a:tableStyleId>{5C22544A-7EE6-4342-B048-85BDC9FD1C3A}</a:tableStyleId>
              </a:tblPr>
              <a:tblGrid>
                <a:gridCol w="4485149">
                  <a:extLst>
                    <a:ext uri="{9D8B030D-6E8A-4147-A177-3AD203B41FA5}">
                      <a16:colId xmlns:a16="http://schemas.microsoft.com/office/drawing/2014/main" val="1760646362"/>
                    </a:ext>
                  </a:extLst>
                </a:gridCol>
                <a:gridCol w="4485149">
                  <a:extLst>
                    <a:ext uri="{9D8B030D-6E8A-4147-A177-3AD203B41FA5}">
                      <a16:colId xmlns:a16="http://schemas.microsoft.com/office/drawing/2014/main" val="1872919196"/>
                    </a:ext>
                  </a:extLst>
                </a:gridCol>
              </a:tblGrid>
              <a:tr h="479137">
                <a:tc>
                  <a:txBody>
                    <a:bodyPr/>
                    <a:lstStyle/>
                    <a:p>
                      <a:r>
                        <a:rPr lang="en-US" sz="2000" dirty="0"/>
                        <a:t>Property</a:t>
                      </a:r>
                      <a:endParaRPr lang="en-IE" sz="2000" dirty="0"/>
                    </a:p>
                  </a:txBody>
                  <a:tcPr/>
                </a:tc>
                <a:tc>
                  <a:txBody>
                    <a:bodyPr/>
                    <a:lstStyle/>
                    <a:p>
                      <a:r>
                        <a:rPr lang="en-US" sz="2000" dirty="0"/>
                        <a:t>Problem</a:t>
                      </a:r>
                      <a:endParaRPr lang="en-IE" sz="2000" dirty="0"/>
                    </a:p>
                  </a:txBody>
                  <a:tcPr/>
                </a:tc>
                <a:extLst>
                  <a:ext uri="{0D108BD9-81ED-4DB2-BD59-A6C34878D82A}">
                    <a16:rowId xmlns:a16="http://schemas.microsoft.com/office/drawing/2014/main" val="3605586376"/>
                  </a:ext>
                </a:extLst>
              </a:tr>
              <a:tr h="479137">
                <a:tc>
                  <a:txBody>
                    <a:bodyPr/>
                    <a:lstStyle/>
                    <a:p>
                      <a:r>
                        <a:rPr lang="en-US" sz="2000" dirty="0"/>
                        <a:t>Highly polar, high water content</a:t>
                      </a:r>
                      <a:endParaRPr lang="en-IE" sz="2000" dirty="0"/>
                    </a:p>
                  </a:txBody>
                  <a:tcPr/>
                </a:tc>
                <a:tc>
                  <a:txBody>
                    <a:bodyPr/>
                    <a:lstStyle/>
                    <a:p>
                      <a:r>
                        <a:rPr lang="en-US" sz="2000" dirty="0"/>
                        <a:t>Poorly miscible with nonpolar fuels</a:t>
                      </a:r>
                      <a:endParaRPr lang="en-IE" sz="2000" dirty="0"/>
                    </a:p>
                  </a:txBody>
                  <a:tcPr/>
                </a:tc>
                <a:extLst>
                  <a:ext uri="{0D108BD9-81ED-4DB2-BD59-A6C34878D82A}">
                    <a16:rowId xmlns:a16="http://schemas.microsoft.com/office/drawing/2014/main" val="1112739462"/>
                  </a:ext>
                </a:extLst>
              </a:tr>
              <a:tr h="479137">
                <a:tc>
                  <a:txBody>
                    <a:bodyPr/>
                    <a:lstStyle/>
                    <a:p>
                      <a:r>
                        <a:rPr lang="en-US" sz="2000" dirty="0"/>
                        <a:t>Highly acidic (TAN* &gt; 70)</a:t>
                      </a:r>
                      <a:endParaRPr lang="en-IE" sz="2000" dirty="0"/>
                    </a:p>
                  </a:txBody>
                  <a:tcPr/>
                </a:tc>
                <a:tc>
                  <a:txBody>
                    <a:bodyPr/>
                    <a:lstStyle/>
                    <a:p>
                      <a:r>
                        <a:rPr lang="en-US" sz="2000" dirty="0"/>
                        <a:t>Corrosive to engines</a:t>
                      </a:r>
                      <a:endParaRPr lang="en-IE" sz="2000" dirty="0"/>
                    </a:p>
                  </a:txBody>
                  <a:tcPr/>
                </a:tc>
                <a:extLst>
                  <a:ext uri="{0D108BD9-81ED-4DB2-BD59-A6C34878D82A}">
                    <a16:rowId xmlns:a16="http://schemas.microsoft.com/office/drawing/2014/main" val="2662647300"/>
                  </a:ext>
                </a:extLst>
              </a:tr>
              <a:tr h="479137">
                <a:tc>
                  <a:txBody>
                    <a:bodyPr/>
                    <a:lstStyle/>
                    <a:p>
                      <a:r>
                        <a:rPr lang="en-US" sz="2000" dirty="0"/>
                        <a:t>Presence of active functional groups</a:t>
                      </a:r>
                      <a:endParaRPr lang="en-IE" sz="2000" dirty="0"/>
                    </a:p>
                  </a:txBody>
                  <a:tcPr/>
                </a:tc>
                <a:tc>
                  <a:txBody>
                    <a:bodyPr/>
                    <a:lstStyle/>
                    <a:p>
                      <a:r>
                        <a:rPr lang="en-US" sz="2000" dirty="0"/>
                        <a:t>Unstable with poor shelf life</a:t>
                      </a:r>
                      <a:endParaRPr lang="en-IE" sz="2000" dirty="0"/>
                    </a:p>
                  </a:txBody>
                  <a:tcPr/>
                </a:tc>
                <a:extLst>
                  <a:ext uri="{0D108BD9-81ED-4DB2-BD59-A6C34878D82A}">
                    <a16:rowId xmlns:a16="http://schemas.microsoft.com/office/drawing/2014/main" val="2711751077"/>
                  </a:ext>
                </a:extLst>
              </a:tr>
              <a:tr h="479137">
                <a:tc>
                  <a:txBody>
                    <a:bodyPr/>
                    <a:lstStyle/>
                    <a:p>
                      <a:r>
                        <a:rPr lang="en-US" sz="2000" dirty="0"/>
                        <a:t>Presence of oxygenated compounds</a:t>
                      </a:r>
                      <a:endParaRPr lang="en-IE" sz="2000" dirty="0"/>
                    </a:p>
                  </a:txBody>
                  <a:tcPr/>
                </a:tc>
                <a:tc>
                  <a:txBody>
                    <a:bodyPr/>
                    <a:lstStyle/>
                    <a:p>
                      <a:r>
                        <a:rPr lang="en-US" sz="2000" dirty="0"/>
                        <a:t>Low calorific value</a:t>
                      </a:r>
                      <a:endParaRPr lang="en-IE" sz="2000" dirty="0"/>
                    </a:p>
                  </a:txBody>
                  <a:tcPr/>
                </a:tc>
                <a:extLst>
                  <a:ext uri="{0D108BD9-81ED-4DB2-BD59-A6C34878D82A}">
                    <a16:rowId xmlns:a16="http://schemas.microsoft.com/office/drawing/2014/main" val="4021841103"/>
                  </a:ext>
                </a:extLst>
              </a:tr>
              <a:tr h="479137">
                <a:tc>
                  <a:txBody>
                    <a:bodyPr/>
                    <a:lstStyle/>
                    <a:p>
                      <a:r>
                        <a:rPr lang="en-US" sz="2000" dirty="0"/>
                        <a:t>Presence of tar, wax and highly polymerized components</a:t>
                      </a:r>
                      <a:endParaRPr lang="en-IE" sz="2000" dirty="0"/>
                    </a:p>
                  </a:txBody>
                  <a:tcPr/>
                </a:tc>
                <a:tc>
                  <a:txBody>
                    <a:bodyPr/>
                    <a:lstStyle/>
                    <a:p>
                      <a:r>
                        <a:rPr lang="en-US" sz="2000" dirty="0"/>
                        <a:t>Poor engine performance, inconsistent viscosity</a:t>
                      </a:r>
                      <a:endParaRPr lang="en-IE" sz="2000" dirty="0"/>
                    </a:p>
                  </a:txBody>
                  <a:tcPr/>
                </a:tc>
                <a:extLst>
                  <a:ext uri="{0D108BD9-81ED-4DB2-BD59-A6C34878D82A}">
                    <a16:rowId xmlns:a16="http://schemas.microsoft.com/office/drawing/2014/main" val="2698778035"/>
                  </a:ext>
                </a:extLst>
              </a:tr>
              <a:tr h="479137">
                <a:tc>
                  <a:txBody>
                    <a:bodyPr/>
                    <a:lstStyle/>
                    <a:p>
                      <a:r>
                        <a:rPr lang="en-US" sz="2000" dirty="0"/>
                        <a:t>Presence of Polycyclic Aromatic Compounds (PACs)</a:t>
                      </a:r>
                      <a:endParaRPr lang="en-IE" sz="2000" dirty="0"/>
                    </a:p>
                  </a:txBody>
                  <a:tcPr/>
                </a:tc>
                <a:tc>
                  <a:txBody>
                    <a:bodyPr/>
                    <a:lstStyle/>
                    <a:p>
                      <a:r>
                        <a:rPr lang="en-US" sz="2000" dirty="0"/>
                        <a:t>Carcinogenic</a:t>
                      </a:r>
                      <a:endParaRPr lang="en-IE" sz="2000" dirty="0"/>
                    </a:p>
                  </a:txBody>
                  <a:tcPr/>
                </a:tc>
                <a:extLst>
                  <a:ext uri="{0D108BD9-81ED-4DB2-BD59-A6C34878D82A}">
                    <a16:rowId xmlns:a16="http://schemas.microsoft.com/office/drawing/2014/main" val="2226226897"/>
                  </a:ext>
                </a:extLst>
              </a:tr>
            </a:tbl>
          </a:graphicData>
        </a:graphic>
      </p:graphicFrame>
      <p:sp>
        <p:nvSpPr>
          <p:cNvPr id="10" name="TextBox 9">
            <a:extLst>
              <a:ext uri="{FF2B5EF4-FFF2-40B4-BE49-F238E27FC236}">
                <a16:creationId xmlns:a16="http://schemas.microsoft.com/office/drawing/2014/main" id="{ED34539B-DA9D-837F-EABC-C47714610210}"/>
              </a:ext>
            </a:extLst>
          </p:cNvPr>
          <p:cNvSpPr txBox="1"/>
          <p:nvPr/>
        </p:nvSpPr>
        <p:spPr>
          <a:xfrm>
            <a:off x="2175242" y="6086170"/>
            <a:ext cx="8301760" cy="338554"/>
          </a:xfrm>
          <a:prstGeom prst="rect">
            <a:avLst/>
          </a:prstGeom>
          <a:noFill/>
        </p:spPr>
        <p:txBody>
          <a:bodyPr wrap="none" rtlCol="0">
            <a:spAutoFit/>
          </a:bodyPr>
          <a:lstStyle/>
          <a:p>
            <a:r>
              <a:rPr lang="en-US" sz="1600" dirty="0"/>
              <a:t>*Total Acid Number (TAN) is a measure of fuel acidity, in mg KOH to neutralize 1 g of fuel.</a:t>
            </a:r>
            <a:endParaRPr lang="en-IE" sz="1600" dirty="0"/>
          </a:p>
        </p:txBody>
      </p:sp>
    </p:spTree>
    <p:extLst>
      <p:ext uri="{BB962C8B-B14F-4D97-AF65-F5344CB8AC3E}">
        <p14:creationId xmlns:p14="http://schemas.microsoft.com/office/powerpoint/2010/main" val="1499727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DA50-CFE5-2AED-21BD-70E3D4D6DE1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D893899-9679-3F53-B0FE-09F4D5C9B49C}"/>
              </a:ext>
            </a:extLst>
          </p:cNvPr>
          <p:cNvSpPr>
            <a:spLocks noGrp="1"/>
          </p:cNvSpPr>
          <p:nvPr>
            <p:ph type="body" sz="quarter" idx="11"/>
          </p:nvPr>
        </p:nvSpPr>
        <p:spPr/>
        <p:txBody>
          <a:bodyPr/>
          <a:lstStyle/>
          <a:p>
            <a:endParaRPr lang="en-AU" dirty="0"/>
          </a:p>
        </p:txBody>
      </p:sp>
      <p:sp>
        <p:nvSpPr>
          <p:cNvPr id="3" name="Text Placeholder 2">
            <a:extLst>
              <a:ext uri="{FF2B5EF4-FFF2-40B4-BE49-F238E27FC236}">
                <a16:creationId xmlns:a16="http://schemas.microsoft.com/office/drawing/2014/main" id="{A873349B-FB62-A2C6-FBF1-E006627FFBCB}"/>
              </a:ext>
            </a:extLst>
          </p:cNvPr>
          <p:cNvSpPr>
            <a:spLocks noGrp="1"/>
          </p:cNvSpPr>
          <p:nvPr>
            <p:ph type="body" sz="quarter" idx="13"/>
          </p:nvPr>
        </p:nvSpPr>
        <p:spPr/>
        <p:txBody>
          <a:bodyPr/>
          <a:lstStyle/>
          <a:p>
            <a:r>
              <a:rPr lang="en-AU" dirty="0"/>
              <a:t>Biomass Py-Oil: Upgrading</a:t>
            </a:r>
          </a:p>
        </p:txBody>
      </p:sp>
      <p:sp>
        <p:nvSpPr>
          <p:cNvPr id="6" name="Slide Number Placeholder 3">
            <a:extLst>
              <a:ext uri="{FF2B5EF4-FFF2-40B4-BE49-F238E27FC236}">
                <a16:creationId xmlns:a16="http://schemas.microsoft.com/office/drawing/2014/main" id="{F9F9A8FC-3C6A-98A2-0F6D-BA79B797CC60}"/>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5</a:t>
            </a:fld>
            <a:endParaRPr lang="en-MY" sz="1600" dirty="0">
              <a:latin typeface="Arial Narrow" panose="020B0606020202030204" pitchFamily="34" charset="0"/>
            </a:endParaRPr>
          </a:p>
        </p:txBody>
      </p:sp>
      <p:graphicFrame>
        <p:nvGraphicFramePr>
          <p:cNvPr id="7" name="Table 6">
            <a:extLst>
              <a:ext uri="{FF2B5EF4-FFF2-40B4-BE49-F238E27FC236}">
                <a16:creationId xmlns:a16="http://schemas.microsoft.com/office/drawing/2014/main" id="{C2E6B0EB-AF92-1E75-2549-17528DE6D423}"/>
              </a:ext>
            </a:extLst>
          </p:cNvPr>
          <p:cNvGraphicFramePr>
            <a:graphicFrameLocks noGrp="1"/>
          </p:cNvGraphicFramePr>
          <p:nvPr>
            <p:extLst>
              <p:ext uri="{D42A27DB-BD31-4B8C-83A1-F6EECF244321}">
                <p14:modId xmlns:p14="http://schemas.microsoft.com/office/powerpoint/2010/main" val="2590418464"/>
              </p:ext>
            </p:extLst>
          </p:nvPr>
        </p:nvGraphicFramePr>
        <p:xfrm>
          <a:off x="394550" y="1445229"/>
          <a:ext cx="11256676" cy="3892897"/>
        </p:xfrm>
        <a:graphic>
          <a:graphicData uri="http://schemas.openxmlformats.org/drawingml/2006/table">
            <a:tbl>
              <a:tblPr firstRow="1" bandRow="1">
                <a:tableStyleId>{5C22544A-7EE6-4342-B048-85BDC9FD1C3A}</a:tableStyleId>
              </a:tblPr>
              <a:tblGrid>
                <a:gridCol w="3294086">
                  <a:extLst>
                    <a:ext uri="{9D8B030D-6E8A-4147-A177-3AD203B41FA5}">
                      <a16:colId xmlns:a16="http://schemas.microsoft.com/office/drawing/2014/main" val="1760646362"/>
                    </a:ext>
                  </a:extLst>
                </a:gridCol>
                <a:gridCol w="3981295">
                  <a:extLst>
                    <a:ext uri="{9D8B030D-6E8A-4147-A177-3AD203B41FA5}">
                      <a16:colId xmlns:a16="http://schemas.microsoft.com/office/drawing/2014/main" val="1872919196"/>
                    </a:ext>
                  </a:extLst>
                </a:gridCol>
                <a:gridCol w="3981295">
                  <a:extLst>
                    <a:ext uri="{9D8B030D-6E8A-4147-A177-3AD203B41FA5}">
                      <a16:colId xmlns:a16="http://schemas.microsoft.com/office/drawing/2014/main" val="721173151"/>
                    </a:ext>
                  </a:extLst>
                </a:gridCol>
              </a:tblGrid>
              <a:tr h="479137">
                <a:tc>
                  <a:txBody>
                    <a:bodyPr/>
                    <a:lstStyle/>
                    <a:p>
                      <a:r>
                        <a:rPr lang="en-US" sz="2000" dirty="0"/>
                        <a:t>Method</a:t>
                      </a:r>
                      <a:endParaRPr lang="en-IE" sz="2000" dirty="0"/>
                    </a:p>
                  </a:txBody>
                  <a:tcPr/>
                </a:tc>
                <a:tc>
                  <a:txBody>
                    <a:bodyPr/>
                    <a:lstStyle/>
                    <a:p>
                      <a:r>
                        <a:rPr lang="en-US" sz="2000" dirty="0"/>
                        <a:t>Effect on Fuel</a:t>
                      </a:r>
                      <a:endParaRPr lang="en-IE" sz="2000" dirty="0"/>
                    </a:p>
                  </a:txBody>
                  <a:tcPr/>
                </a:tc>
                <a:tc>
                  <a:txBody>
                    <a:bodyPr/>
                    <a:lstStyle/>
                    <a:p>
                      <a:r>
                        <a:rPr lang="en-US" sz="2000" dirty="0"/>
                        <a:t>Bottleneck</a:t>
                      </a:r>
                      <a:endParaRPr lang="en-IE" sz="2000" dirty="0"/>
                    </a:p>
                  </a:txBody>
                  <a:tcPr/>
                </a:tc>
                <a:extLst>
                  <a:ext uri="{0D108BD9-81ED-4DB2-BD59-A6C34878D82A}">
                    <a16:rowId xmlns:a16="http://schemas.microsoft.com/office/drawing/2014/main" val="3605586376"/>
                  </a:ext>
                </a:extLst>
              </a:tr>
              <a:tr h="479137">
                <a:tc>
                  <a:txBody>
                    <a:bodyPr/>
                    <a:lstStyle/>
                    <a:p>
                      <a:r>
                        <a:rPr lang="en-US" sz="2000" dirty="0"/>
                        <a:t>Hydrodeoxygenation and catalytic cracking</a:t>
                      </a:r>
                    </a:p>
                    <a:p>
                      <a:r>
                        <a:rPr lang="en-US" sz="2000" dirty="0"/>
                        <a:t>[</a:t>
                      </a:r>
                      <a:r>
                        <a:rPr lang="en-US" sz="2000" dirty="0">
                          <a:hlinkClick r:id="rId2"/>
                        </a:rPr>
                        <a:t>1</a:t>
                      </a:r>
                      <a:r>
                        <a:rPr lang="en-US" sz="2000" dirty="0"/>
                        <a:t>][</a:t>
                      </a:r>
                      <a:r>
                        <a:rPr lang="en-US" sz="2000" dirty="0">
                          <a:hlinkClick r:id="rId3"/>
                        </a:rPr>
                        <a:t>2</a:t>
                      </a:r>
                      <a:r>
                        <a:rPr lang="en-US" sz="2000" dirty="0"/>
                        <a:t>][</a:t>
                      </a:r>
                      <a:r>
                        <a:rPr lang="en-US" sz="2000" dirty="0">
                          <a:hlinkClick r:id="rId4"/>
                        </a:rPr>
                        <a:t>3</a:t>
                      </a:r>
                      <a:r>
                        <a:rPr lang="en-US" sz="2000" dirty="0"/>
                        <a:t>]</a:t>
                      </a:r>
                      <a:endParaRPr lang="en-IE" sz="2000" dirty="0"/>
                    </a:p>
                  </a:txBody>
                  <a:tcPr/>
                </a:tc>
                <a:tc>
                  <a:txBody>
                    <a:bodyPr/>
                    <a:lstStyle/>
                    <a:p>
                      <a:r>
                        <a:rPr lang="en-US" sz="2000" dirty="0"/>
                        <a:t>Removes oxygen, reduces acidity and increases stability and energy density</a:t>
                      </a:r>
                      <a:endParaRPr lang="en-IE" sz="2000" dirty="0"/>
                    </a:p>
                  </a:txBody>
                  <a:tcPr/>
                </a:tc>
                <a:tc>
                  <a:txBody>
                    <a:bodyPr/>
                    <a:lstStyle/>
                    <a:p>
                      <a:r>
                        <a:rPr lang="en-US" sz="2000" dirty="0"/>
                        <a:t>Severe coke formation, harsh conditions, hydrogen requirement</a:t>
                      </a:r>
                      <a:endParaRPr lang="en-IE" sz="2000" dirty="0"/>
                    </a:p>
                  </a:txBody>
                  <a:tcPr/>
                </a:tc>
                <a:extLst>
                  <a:ext uri="{0D108BD9-81ED-4DB2-BD59-A6C34878D82A}">
                    <a16:rowId xmlns:a16="http://schemas.microsoft.com/office/drawing/2014/main" val="1112739462"/>
                  </a:ext>
                </a:extLst>
              </a:tr>
              <a:tr h="479137">
                <a:tc>
                  <a:txBody>
                    <a:bodyPr/>
                    <a:lstStyle/>
                    <a:p>
                      <a:r>
                        <a:rPr lang="en-US" sz="2000" dirty="0"/>
                        <a:t>Esterification [</a:t>
                      </a:r>
                      <a:r>
                        <a:rPr lang="en-US" sz="2000" dirty="0">
                          <a:hlinkClick r:id="rId5"/>
                        </a:rPr>
                        <a:t>4</a:t>
                      </a:r>
                      <a:r>
                        <a:rPr lang="en-US" sz="2000" dirty="0"/>
                        <a:t>][</a:t>
                      </a:r>
                      <a:r>
                        <a:rPr lang="en-US" sz="2000" dirty="0">
                          <a:hlinkClick r:id="rId6"/>
                        </a:rPr>
                        <a:t>5</a:t>
                      </a:r>
                      <a:r>
                        <a:rPr lang="en-US" sz="2000" dirty="0"/>
                        <a:t>][</a:t>
                      </a:r>
                      <a:r>
                        <a:rPr lang="en-US" sz="2000" dirty="0">
                          <a:hlinkClick r:id="rId7"/>
                        </a:rPr>
                        <a:t>6</a:t>
                      </a:r>
                      <a:r>
                        <a:rPr lang="en-US" sz="2000" dirty="0"/>
                        <a:t>]</a:t>
                      </a:r>
                      <a:endParaRPr lang="en-IE" sz="2000" dirty="0"/>
                    </a:p>
                  </a:txBody>
                  <a:tcPr/>
                </a:tc>
                <a:tc>
                  <a:txBody>
                    <a:bodyPr/>
                    <a:lstStyle/>
                    <a:p>
                      <a:r>
                        <a:rPr lang="en-US" sz="2000" dirty="0"/>
                        <a:t>Reduces acidity, increases energy density and increases stability</a:t>
                      </a:r>
                      <a:endParaRPr lang="en-IE" sz="2000" dirty="0"/>
                    </a:p>
                  </a:txBody>
                  <a:tcPr/>
                </a:tc>
                <a:tc>
                  <a:txBody>
                    <a:bodyPr/>
                    <a:lstStyle/>
                    <a:p>
                      <a:r>
                        <a:rPr lang="en-US" sz="2000" dirty="0"/>
                        <a:t>Heavy wastewater generation, catalyst deactivation, recovery and regeneration, water inhibition</a:t>
                      </a:r>
                      <a:endParaRPr lang="en-IE" sz="2000" dirty="0"/>
                    </a:p>
                  </a:txBody>
                  <a:tcPr/>
                </a:tc>
                <a:extLst>
                  <a:ext uri="{0D108BD9-81ED-4DB2-BD59-A6C34878D82A}">
                    <a16:rowId xmlns:a16="http://schemas.microsoft.com/office/drawing/2014/main" val="2662647300"/>
                  </a:ext>
                </a:extLst>
              </a:tr>
              <a:tr h="479137">
                <a:tc>
                  <a:txBody>
                    <a:bodyPr/>
                    <a:lstStyle/>
                    <a:p>
                      <a:r>
                        <a:rPr lang="en-US" sz="2000" dirty="0"/>
                        <a:t>Blending with emulsions and surfactants [</a:t>
                      </a:r>
                      <a:r>
                        <a:rPr lang="en-US" sz="2000" dirty="0">
                          <a:hlinkClick r:id="rId8"/>
                        </a:rPr>
                        <a:t>7</a:t>
                      </a:r>
                      <a:r>
                        <a:rPr lang="en-US" sz="2000" dirty="0"/>
                        <a:t>][</a:t>
                      </a:r>
                      <a:r>
                        <a:rPr lang="en-US" sz="2000" dirty="0">
                          <a:hlinkClick r:id="rId9"/>
                        </a:rPr>
                        <a:t>8</a:t>
                      </a:r>
                      <a:r>
                        <a:rPr lang="en-US" sz="2000" dirty="0"/>
                        <a:t>]</a:t>
                      </a:r>
                      <a:endParaRPr lang="en-IE" sz="2000" dirty="0"/>
                    </a:p>
                  </a:txBody>
                  <a:tcPr/>
                </a:tc>
                <a:tc>
                  <a:txBody>
                    <a:bodyPr/>
                    <a:lstStyle/>
                    <a:p>
                      <a:r>
                        <a:rPr lang="en-US" sz="2000" dirty="0"/>
                        <a:t>Reduction of impurities via dilution</a:t>
                      </a:r>
                      <a:endParaRPr lang="en-IE" sz="2000" dirty="0"/>
                    </a:p>
                  </a:txBody>
                  <a:tcPr/>
                </a:tc>
                <a:tc>
                  <a:txBody>
                    <a:bodyPr/>
                    <a:lstStyle/>
                    <a:p>
                      <a:r>
                        <a:rPr lang="en-US" sz="2000" dirty="0"/>
                        <a:t>Fuel downgrading and stability</a:t>
                      </a:r>
                      <a:endParaRPr lang="en-IE" sz="2000" dirty="0"/>
                    </a:p>
                  </a:txBody>
                  <a:tcPr/>
                </a:tc>
                <a:extLst>
                  <a:ext uri="{0D108BD9-81ED-4DB2-BD59-A6C34878D82A}">
                    <a16:rowId xmlns:a16="http://schemas.microsoft.com/office/drawing/2014/main" val="2711751077"/>
                  </a:ext>
                </a:extLst>
              </a:tr>
              <a:tr h="470095">
                <a:tc>
                  <a:txBody>
                    <a:bodyPr/>
                    <a:lstStyle/>
                    <a:p>
                      <a:r>
                        <a:rPr lang="en-US" sz="2000" dirty="0"/>
                        <a:t>Acid-Base Wash [</a:t>
                      </a:r>
                      <a:r>
                        <a:rPr lang="en-US" sz="2000" dirty="0">
                          <a:hlinkClick r:id="rId10"/>
                        </a:rPr>
                        <a:t>9</a:t>
                      </a:r>
                      <a:r>
                        <a:rPr lang="en-US" sz="2000" dirty="0"/>
                        <a:t>][</a:t>
                      </a:r>
                      <a:r>
                        <a:rPr lang="en-US" sz="2000" dirty="0">
                          <a:hlinkClick r:id="rId11"/>
                        </a:rPr>
                        <a:t>10</a:t>
                      </a:r>
                      <a:r>
                        <a:rPr lang="en-US" sz="2000" dirty="0"/>
                        <a:t>]</a:t>
                      </a:r>
                      <a:endParaRPr lang="en-IE" sz="2000" dirty="0"/>
                    </a:p>
                  </a:txBody>
                  <a:tcPr/>
                </a:tc>
                <a:tc>
                  <a:txBody>
                    <a:bodyPr/>
                    <a:lstStyle/>
                    <a:p>
                      <a:r>
                        <a:rPr lang="en-US" sz="2000" dirty="0"/>
                        <a:t>Removes trace impurities and tar, removes acidity</a:t>
                      </a:r>
                      <a:endParaRPr lang="en-IE" sz="2000" dirty="0"/>
                    </a:p>
                  </a:txBody>
                  <a:tcPr/>
                </a:tc>
                <a:tc>
                  <a:txBody>
                    <a:bodyPr/>
                    <a:lstStyle/>
                    <a:p>
                      <a:r>
                        <a:rPr lang="en-US" sz="2000" dirty="0"/>
                        <a:t>Water and chemical waste generation</a:t>
                      </a:r>
                      <a:endParaRPr lang="en-IE" sz="2000" dirty="0"/>
                    </a:p>
                  </a:txBody>
                  <a:tcPr/>
                </a:tc>
                <a:extLst>
                  <a:ext uri="{0D108BD9-81ED-4DB2-BD59-A6C34878D82A}">
                    <a16:rowId xmlns:a16="http://schemas.microsoft.com/office/drawing/2014/main" val="4021841103"/>
                  </a:ext>
                </a:extLst>
              </a:tr>
            </a:tbl>
          </a:graphicData>
        </a:graphic>
      </p:graphicFrame>
    </p:spTree>
    <p:extLst>
      <p:ext uri="{BB962C8B-B14F-4D97-AF65-F5344CB8AC3E}">
        <p14:creationId xmlns:p14="http://schemas.microsoft.com/office/powerpoint/2010/main" val="3009161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AU" dirty="0"/>
              <a:t>The Gap</a:t>
            </a:r>
          </a:p>
        </p:txBody>
      </p:sp>
      <p:sp>
        <p:nvSpPr>
          <p:cNvPr id="5" name="Text Placeholder 4"/>
          <p:cNvSpPr>
            <a:spLocks noGrp="1"/>
          </p:cNvSpPr>
          <p:nvPr>
            <p:ph type="body" sz="quarter" idx="16"/>
          </p:nvPr>
        </p:nvSpPr>
        <p:spPr/>
        <p:txBody>
          <a:bodyPr/>
          <a:lstStyle/>
          <a:p>
            <a:r>
              <a:rPr lang="en-AU" dirty="0"/>
              <a:t>No published literature discusses the direct fractionation of pyrolysis oil, coupled with blending with marine fuel oil. </a:t>
            </a:r>
          </a:p>
        </p:txBody>
      </p:sp>
      <p:sp>
        <p:nvSpPr>
          <p:cNvPr id="6" name="Slide Number Placeholder 3">
            <a:extLst>
              <a:ext uri="{FF2B5EF4-FFF2-40B4-BE49-F238E27FC236}">
                <a16:creationId xmlns:a16="http://schemas.microsoft.com/office/drawing/2014/main" id="{621AA8CC-CBBF-8A40-247A-C39FFE26CA78}"/>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6</a:t>
            </a:fld>
            <a:endParaRPr lang="en-MY" sz="1600" dirty="0">
              <a:latin typeface="Arial Narrow" panose="020B0606020202030204" pitchFamily="34" charset="0"/>
            </a:endParaRPr>
          </a:p>
        </p:txBody>
      </p:sp>
    </p:spTree>
    <p:extLst>
      <p:ext uri="{BB962C8B-B14F-4D97-AF65-F5344CB8AC3E}">
        <p14:creationId xmlns:p14="http://schemas.microsoft.com/office/powerpoint/2010/main" val="170265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AU" dirty="0"/>
              <a:t>Setup and process</a:t>
            </a:r>
          </a:p>
        </p:txBody>
      </p:sp>
      <p:sp>
        <p:nvSpPr>
          <p:cNvPr id="9" name="Slide Number Placeholder 3">
            <a:extLst>
              <a:ext uri="{FF2B5EF4-FFF2-40B4-BE49-F238E27FC236}">
                <a16:creationId xmlns:a16="http://schemas.microsoft.com/office/drawing/2014/main" id="{2AC6EA29-E2C8-7138-43D5-464D2810E498}"/>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7</a:t>
            </a:fld>
            <a:endParaRPr lang="en-MY" sz="1600" dirty="0">
              <a:latin typeface="Arial Narrow" panose="020B0606020202030204" pitchFamily="34" charset="0"/>
            </a:endParaRPr>
          </a:p>
        </p:txBody>
      </p:sp>
      <p:grpSp>
        <p:nvGrpSpPr>
          <p:cNvPr id="15" name="Group 14">
            <a:extLst>
              <a:ext uri="{FF2B5EF4-FFF2-40B4-BE49-F238E27FC236}">
                <a16:creationId xmlns:a16="http://schemas.microsoft.com/office/drawing/2014/main" id="{4838B60D-5008-1525-5B22-1B1ACEB14B3C}"/>
              </a:ext>
            </a:extLst>
          </p:cNvPr>
          <p:cNvGrpSpPr/>
          <p:nvPr/>
        </p:nvGrpSpPr>
        <p:grpSpPr>
          <a:xfrm>
            <a:off x="158163" y="1156836"/>
            <a:ext cx="4895649" cy="5311457"/>
            <a:chOff x="336227" y="962087"/>
            <a:chExt cx="4895649" cy="5311457"/>
          </a:xfrm>
        </p:grpSpPr>
        <p:pic>
          <p:nvPicPr>
            <p:cNvPr id="16" name="Picture 15">
              <a:extLst>
                <a:ext uri="{FF2B5EF4-FFF2-40B4-BE49-F238E27FC236}">
                  <a16:creationId xmlns:a16="http://schemas.microsoft.com/office/drawing/2014/main" id="{4BE911A8-EB7D-F75F-A999-BA2BF3FB80F6}"/>
                </a:ext>
              </a:extLst>
            </p:cNvPr>
            <p:cNvPicPr>
              <a:picLocks noChangeAspect="1"/>
            </p:cNvPicPr>
            <p:nvPr/>
          </p:nvPicPr>
          <p:blipFill rotWithShape="1">
            <a:blip r:embed="rId2"/>
            <a:srcRect t="13405"/>
            <a:stretch/>
          </p:blipFill>
          <p:spPr>
            <a:xfrm>
              <a:off x="1058944" y="962087"/>
              <a:ext cx="3450215" cy="5311457"/>
            </a:xfrm>
            <a:prstGeom prst="rect">
              <a:avLst/>
            </a:prstGeom>
          </p:spPr>
        </p:pic>
        <p:sp>
          <p:nvSpPr>
            <p:cNvPr id="17" name="TextBox 16">
              <a:extLst>
                <a:ext uri="{FF2B5EF4-FFF2-40B4-BE49-F238E27FC236}">
                  <a16:creationId xmlns:a16="http://schemas.microsoft.com/office/drawing/2014/main" id="{659E3BF5-3521-7130-08A8-AE4425FFE483}"/>
                </a:ext>
              </a:extLst>
            </p:cNvPr>
            <p:cNvSpPr txBox="1"/>
            <p:nvPr/>
          </p:nvSpPr>
          <p:spPr>
            <a:xfrm>
              <a:off x="4073515" y="3398943"/>
              <a:ext cx="960883" cy="246221"/>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Heating mantle</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B8A0EA1-1ACB-9DD3-FF58-051E06A0846B}"/>
                </a:ext>
              </a:extLst>
            </p:cNvPr>
            <p:cNvSpPr txBox="1"/>
            <p:nvPr/>
          </p:nvSpPr>
          <p:spPr>
            <a:xfrm>
              <a:off x="4073515" y="2165434"/>
              <a:ext cx="1158361" cy="400110"/>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Vigreux column with heat insulation</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3A78662C-2039-D299-3C73-61620B221417}"/>
                </a:ext>
              </a:extLst>
            </p:cNvPr>
            <p:cNvSpPr txBox="1"/>
            <p:nvPr/>
          </p:nvSpPr>
          <p:spPr>
            <a:xfrm>
              <a:off x="2074407" y="1316966"/>
              <a:ext cx="1158361" cy="246221"/>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Condenser</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8EA2983C-A5A3-3F9E-C542-36DA0CDF28ED}"/>
                </a:ext>
              </a:extLst>
            </p:cNvPr>
            <p:cNvSpPr txBox="1"/>
            <p:nvPr/>
          </p:nvSpPr>
          <p:spPr>
            <a:xfrm>
              <a:off x="3034237" y="5541034"/>
              <a:ext cx="1158361" cy="246221"/>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Chiller circulator</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AE5C4D9C-A6AD-6E52-5BF7-8689581D887E}"/>
                </a:ext>
              </a:extLst>
            </p:cNvPr>
            <p:cNvSpPr txBox="1"/>
            <p:nvPr/>
          </p:nvSpPr>
          <p:spPr>
            <a:xfrm>
              <a:off x="336227" y="1900219"/>
              <a:ext cx="1158361" cy="246221"/>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Sampling point</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DEB06E68-7561-8D1A-F9BE-4322C703A20C}"/>
                </a:ext>
              </a:extLst>
            </p:cNvPr>
            <p:cNvSpPr txBox="1"/>
            <p:nvPr/>
          </p:nvSpPr>
          <p:spPr>
            <a:xfrm>
              <a:off x="4073515" y="1184359"/>
              <a:ext cx="1158361" cy="400110"/>
            </a:xfrm>
            <a:prstGeom prst="rect">
              <a:avLst/>
            </a:prstGeom>
            <a:solidFill>
              <a:schemeClr val="bg1"/>
            </a:solid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Vapor temperature measurement</a:t>
              </a:r>
              <a:endParaRPr lang="en-US" sz="1000" dirty="0">
                <a:solidFill>
                  <a:schemeClr val="tx1"/>
                </a:solidFill>
                <a:latin typeface="Arial Narrow" panose="020B0606020202030204" pitchFamily="34" charset="0"/>
                <a:cs typeface="Times New Roman" panose="02020603050405020304" pitchFamily="18" charset="0"/>
              </a:endParaRPr>
            </a:p>
          </p:txBody>
        </p:sp>
      </p:grpSp>
      <p:graphicFrame>
        <p:nvGraphicFramePr>
          <p:cNvPr id="23" name="Table 22">
            <a:extLst>
              <a:ext uri="{FF2B5EF4-FFF2-40B4-BE49-F238E27FC236}">
                <a16:creationId xmlns:a16="http://schemas.microsoft.com/office/drawing/2014/main" id="{E6B87B83-79E0-4559-154E-67CEF9E2B1A2}"/>
              </a:ext>
            </a:extLst>
          </p:cNvPr>
          <p:cNvGraphicFramePr>
            <a:graphicFrameLocks noGrp="1"/>
          </p:cNvGraphicFramePr>
          <p:nvPr>
            <p:extLst>
              <p:ext uri="{D42A27DB-BD31-4B8C-83A1-F6EECF244321}">
                <p14:modId xmlns:p14="http://schemas.microsoft.com/office/powerpoint/2010/main" val="487068785"/>
              </p:ext>
            </p:extLst>
          </p:nvPr>
        </p:nvGraphicFramePr>
        <p:xfrm>
          <a:off x="5349444" y="3935925"/>
          <a:ext cx="5596178" cy="1524000"/>
        </p:xfrm>
        <a:graphic>
          <a:graphicData uri="http://schemas.openxmlformats.org/drawingml/2006/table">
            <a:tbl>
              <a:tblPr firstRow="1" bandRow="1">
                <a:tableStyleId>{073A0DAA-6AF3-43AB-8588-CEC1D06C72B9}</a:tableStyleId>
              </a:tblPr>
              <a:tblGrid>
                <a:gridCol w="553451">
                  <a:extLst>
                    <a:ext uri="{9D8B030D-6E8A-4147-A177-3AD203B41FA5}">
                      <a16:colId xmlns:a16="http://schemas.microsoft.com/office/drawing/2014/main" val="1765515960"/>
                    </a:ext>
                  </a:extLst>
                </a:gridCol>
                <a:gridCol w="1456683">
                  <a:extLst>
                    <a:ext uri="{9D8B030D-6E8A-4147-A177-3AD203B41FA5}">
                      <a16:colId xmlns:a16="http://schemas.microsoft.com/office/drawing/2014/main" val="533668622"/>
                    </a:ext>
                  </a:extLst>
                </a:gridCol>
                <a:gridCol w="2197681">
                  <a:extLst>
                    <a:ext uri="{9D8B030D-6E8A-4147-A177-3AD203B41FA5}">
                      <a16:colId xmlns:a16="http://schemas.microsoft.com/office/drawing/2014/main" val="2813072446"/>
                    </a:ext>
                  </a:extLst>
                </a:gridCol>
                <a:gridCol w="1388363">
                  <a:extLst>
                    <a:ext uri="{9D8B030D-6E8A-4147-A177-3AD203B41FA5}">
                      <a16:colId xmlns:a16="http://schemas.microsoft.com/office/drawing/2014/main" val="2290787876"/>
                    </a:ext>
                  </a:extLst>
                </a:gridCol>
              </a:tblGrid>
              <a:tr h="0">
                <a:tc>
                  <a:txBody>
                    <a:bodyPr/>
                    <a:lstStyle/>
                    <a:p>
                      <a:pPr algn="ctr"/>
                      <a:r>
                        <a:rPr lang="en-US" sz="1400" dirty="0">
                          <a:latin typeface="Arial Narrow" panose="020B0606020202030204" pitchFamily="34" charset="0"/>
                        </a:rPr>
                        <a:t>No.</a:t>
                      </a:r>
                    </a:p>
                  </a:txBody>
                  <a:tcPr anchor="ctr"/>
                </a:tc>
                <a:tc>
                  <a:txBody>
                    <a:bodyPr/>
                    <a:lstStyle/>
                    <a:p>
                      <a:pPr algn="ctr"/>
                      <a:r>
                        <a:rPr lang="en-US" sz="1400" dirty="0">
                          <a:latin typeface="Arial Narrow" panose="020B0606020202030204" pitchFamily="34" charset="0"/>
                        </a:rPr>
                        <a:t>Fraction</a:t>
                      </a:r>
                    </a:p>
                  </a:txBody>
                  <a:tcPr anchor="ctr"/>
                </a:tc>
                <a:tc>
                  <a:txBody>
                    <a:bodyPr/>
                    <a:lstStyle/>
                    <a:p>
                      <a:pPr algn="ctr"/>
                      <a:r>
                        <a:rPr lang="en-US" sz="1400" dirty="0">
                          <a:latin typeface="Arial Narrow" panose="020B0606020202030204" pitchFamily="34" charset="0"/>
                        </a:rPr>
                        <a:t>Vapor temperature (°C)</a:t>
                      </a:r>
                    </a:p>
                  </a:txBody>
                  <a:tcPr anchor="ctr"/>
                </a:tc>
                <a:tc>
                  <a:txBody>
                    <a:bodyPr/>
                    <a:lstStyle/>
                    <a:p>
                      <a:pPr algn="ctr"/>
                      <a:r>
                        <a:rPr lang="en-US" sz="1400" dirty="0">
                          <a:latin typeface="Arial Narrow" panose="020B0606020202030204" pitchFamily="34" charset="0"/>
                        </a:rPr>
                        <a:t>Volume (%)</a:t>
                      </a:r>
                    </a:p>
                  </a:txBody>
                  <a:tcPr anchor="ctr"/>
                </a:tc>
                <a:extLst>
                  <a:ext uri="{0D108BD9-81ED-4DB2-BD59-A6C34878D82A}">
                    <a16:rowId xmlns:a16="http://schemas.microsoft.com/office/drawing/2014/main" val="1770381580"/>
                  </a:ext>
                </a:extLst>
              </a:tr>
              <a:tr h="0">
                <a:tc>
                  <a:txBody>
                    <a:bodyPr/>
                    <a:lstStyle/>
                    <a:p>
                      <a:pPr algn="ctr"/>
                      <a:r>
                        <a:rPr lang="en-US" sz="1400" dirty="0">
                          <a:latin typeface="Arial Narrow" panose="020B0606020202030204" pitchFamily="34" charset="0"/>
                        </a:rPr>
                        <a:t>1</a:t>
                      </a:r>
                    </a:p>
                  </a:txBody>
                  <a:tcPr anchor="ctr"/>
                </a:tc>
                <a:tc>
                  <a:txBody>
                    <a:bodyPr/>
                    <a:lstStyle/>
                    <a:p>
                      <a:pPr algn="ctr"/>
                      <a:r>
                        <a:rPr lang="en-US" sz="1400" dirty="0">
                          <a:latin typeface="Arial Narrow" panose="020B0606020202030204" pitchFamily="34" charset="0"/>
                        </a:rPr>
                        <a:t>Water phase</a:t>
                      </a:r>
                    </a:p>
                  </a:txBody>
                  <a:tcPr anchor="ctr"/>
                </a:tc>
                <a:tc>
                  <a:txBody>
                    <a:bodyPr/>
                    <a:lstStyle/>
                    <a:p>
                      <a:pPr algn="ctr"/>
                      <a:r>
                        <a:rPr lang="en-US" sz="1400" dirty="0">
                          <a:latin typeface="Arial Narrow" panose="020B0606020202030204" pitchFamily="34" charset="0"/>
                        </a:rPr>
                        <a:t>≤ 100</a:t>
                      </a:r>
                    </a:p>
                  </a:txBody>
                  <a:tcPr anchor="ctr"/>
                </a:tc>
                <a:tc>
                  <a:txBody>
                    <a:bodyPr/>
                    <a:lstStyle/>
                    <a:p>
                      <a:pPr algn="ctr"/>
                      <a:r>
                        <a:rPr lang="en-US" sz="1400" dirty="0">
                          <a:latin typeface="Arial Narrow" panose="020B0606020202030204" pitchFamily="34" charset="0"/>
                        </a:rPr>
                        <a:t>7.0</a:t>
                      </a:r>
                    </a:p>
                  </a:txBody>
                  <a:tcPr anchor="ctr"/>
                </a:tc>
                <a:extLst>
                  <a:ext uri="{0D108BD9-81ED-4DB2-BD59-A6C34878D82A}">
                    <a16:rowId xmlns:a16="http://schemas.microsoft.com/office/drawing/2014/main" val="2952653135"/>
                  </a:ext>
                </a:extLst>
              </a:tr>
              <a:tr h="0">
                <a:tc>
                  <a:txBody>
                    <a:bodyPr/>
                    <a:lstStyle/>
                    <a:p>
                      <a:pPr algn="ctr"/>
                      <a:r>
                        <a:rPr lang="en-US" sz="1400" b="1" dirty="0">
                          <a:latin typeface="Arial Narrow" panose="020B0606020202030204" pitchFamily="34" charset="0"/>
                        </a:rPr>
                        <a:t>2</a:t>
                      </a:r>
                    </a:p>
                  </a:txBody>
                  <a:tcPr anchor="ctr"/>
                </a:tc>
                <a:tc>
                  <a:txBody>
                    <a:bodyPr/>
                    <a:lstStyle/>
                    <a:p>
                      <a:pPr algn="ctr"/>
                      <a:r>
                        <a:rPr lang="en-US" sz="1400" b="1" dirty="0">
                          <a:latin typeface="Arial Narrow" panose="020B0606020202030204" pitchFamily="34" charset="0"/>
                        </a:rPr>
                        <a:t>Light distillate</a:t>
                      </a:r>
                    </a:p>
                  </a:txBody>
                  <a:tcPr anchor="ctr"/>
                </a:tc>
                <a:tc>
                  <a:txBody>
                    <a:bodyPr/>
                    <a:lstStyle/>
                    <a:p>
                      <a:pPr algn="ctr"/>
                      <a:r>
                        <a:rPr lang="en-US" sz="1400" b="1" dirty="0">
                          <a:latin typeface="Arial Narrow" panose="020B0606020202030204" pitchFamily="34" charset="0"/>
                        </a:rPr>
                        <a:t>100 – 180 </a:t>
                      </a:r>
                    </a:p>
                  </a:txBody>
                  <a:tcPr anchor="ctr"/>
                </a:tc>
                <a:tc>
                  <a:txBody>
                    <a:bodyPr/>
                    <a:lstStyle/>
                    <a:p>
                      <a:pPr algn="ctr"/>
                      <a:r>
                        <a:rPr lang="en-US" sz="1400" b="1" dirty="0">
                          <a:latin typeface="Arial Narrow" panose="020B0606020202030204" pitchFamily="34" charset="0"/>
                        </a:rPr>
                        <a:t>11.18</a:t>
                      </a:r>
                    </a:p>
                  </a:txBody>
                  <a:tcPr anchor="ctr"/>
                </a:tc>
                <a:extLst>
                  <a:ext uri="{0D108BD9-81ED-4DB2-BD59-A6C34878D82A}">
                    <a16:rowId xmlns:a16="http://schemas.microsoft.com/office/drawing/2014/main" val="1945254178"/>
                  </a:ext>
                </a:extLst>
              </a:tr>
              <a:tr h="0">
                <a:tc>
                  <a:txBody>
                    <a:bodyPr/>
                    <a:lstStyle/>
                    <a:p>
                      <a:pPr algn="ctr"/>
                      <a:r>
                        <a:rPr lang="en-US" sz="1400" b="1" dirty="0">
                          <a:latin typeface="Arial Narrow" panose="020B0606020202030204" pitchFamily="34" charset="0"/>
                        </a:rPr>
                        <a:t>3</a:t>
                      </a:r>
                    </a:p>
                  </a:txBody>
                  <a:tcPr anchor="ctr"/>
                </a:tc>
                <a:tc>
                  <a:txBody>
                    <a:bodyPr/>
                    <a:lstStyle/>
                    <a:p>
                      <a:pPr algn="ctr"/>
                      <a:r>
                        <a:rPr lang="en-US" sz="1400" b="1" dirty="0">
                          <a:latin typeface="Arial Narrow" panose="020B0606020202030204" pitchFamily="34" charset="0"/>
                        </a:rPr>
                        <a:t>Heavy distillate</a:t>
                      </a:r>
                    </a:p>
                  </a:txBody>
                  <a:tcPr anchor="ctr"/>
                </a:tc>
                <a:tc>
                  <a:txBody>
                    <a:bodyPr/>
                    <a:lstStyle/>
                    <a:p>
                      <a:pPr algn="ctr"/>
                      <a:r>
                        <a:rPr lang="en-US" sz="1400" b="1" dirty="0">
                          <a:latin typeface="Arial Narrow" panose="020B0606020202030204" pitchFamily="34" charset="0"/>
                        </a:rPr>
                        <a:t>180 – 190 </a:t>
                      </a:r>
                    </a:p>
                  </a:txBody>
                  <a:tcPr anchor="ctr"/>
                </a:tc>
                <a:tc>
                  <a:txBody>
                    <a:bodyPr/>
                    <a:lstStyle/>
                    <a:p>
                      <a:pPr algn="ctr"/>
                      <a:r>
                        <a:rPr lang="en-US" sz="1400" b="1" dirty="0">
                          <a:latin typeface="Arial Narrow" panose="020B0606020202030204" pitchFamily="34" charset="0"/>
                        </a:rPr>
                        <a:t>27.20</a:t>
                      </a:r>
                    </a:p>
                  </a:txBody>
                  <a:tcPr anchor="ctr"/>
                </a:tc>
                <a:extLst>
                  <a:ext uri="{0D108BD9-81ED-4DB2-BD59-A6C34878D82A}">
                    <a16:rowId xmlns:a16="http://schemas.microsoft.com/office/drawing/2014/main" val="3969417749"/>
                  </a:ext>
                </a:extLst>
              </a:tr>
              <a:tr h="0">
                <a:tc>
                  <a:txBody>
                    <a:bodyPr/>
                    <a:lstStyle/>
                    <a:p>
                      <a:pPr algn="ctr"/>
                      <a:r>
                        <a:rPr lang="en-US" sz="1400" dirty="0">
                          <a:latin typeface="Arial Narrow" panose="020B0606020202030204" pitchFamily="34" charset="0"/>
                        </a:rPr>
                        <a:t>4</a:t>
                      </a:r>
                    </a:p>
                  </a:txBody>
                  <a:tcPr anchor="ctr"/>
                </a:tc>
                <a:tc>
                  <a:txBody>
                    <a:bodyPr/>
                    <a:lstStyle/>
                    <a:p>
                      <a:pPr algn="ctr"/>
                      <a:r>
                        <a:rPr lang="en-US" sz="1400" dirty="0">
                          <a:latin typeface="Arial Narrow" panose="020B0606020202030204" pitchFamily="34" charset="0"/>
                        </a:rPr>
                        <a:t>Bottom phase</a:t>
                      </a:r>
                    </a:p>
                  </a:txBody>
                  <a:tcPr anchor="ctr"/>
                </a:tc>
                <a:tc>
                  <a:txBody>
                    <a:bodyPr/>
                    <a:lstStyle/>
                    <a:p>
                      <a:pPr algn="ctr"/>
                      <a:r>
                        <a:rPr lang="en-US" sz="1400" dirty="0">
                          <a:latin typeface="Arial Narrow" panose="020B0606020202030204" pitchFamily="34" charset="0"/>
                        </a:rPr>
                        <a:t>&gt; 190</a:t>
                      </a:r>
                    </a:p>
                  </a:txBody>
                  <a:tcPr anchor="ctr"/>
                </a:tc>
                <a:tc>
                  <a:txBody>
                    <a:bodyPr/>
                    <a:lstStyle/>
                    <a:p>
                      <a:pPr algn="ctr"/>
                      <a:r>
                        <a:rPr lang="en-US" sz="1400" dirty="0">
                          <a:latin typeface="Arial Narrow" panose="020B0606020202030204" pitchFamily="34" charset="0"/>
                        </a:rPr>
                        <a:t>54.62</a:t>
                      </a:r>
                    </a:p>
                  </a:txBody>
                  <a:tcPr anchor="ctr"/>
                </a:tc>
                <a:extLst>
                  <a:ext uri="{0D108BD9-81ED-4DB2-BD59-A6C34878D82A}">
                    <a16:rowId xmlns:a16="http://schemas.microsoft.com/office/drawing/2014/main" val="1116296646"/>
                  </a:ext>
                </a:extLst>
              </a:tr>
            </a:tbl>
          </a:graphicData>
        </a:graphic>
      </p:graphicFrame>
      <p:pic>
        <p:nvPicPr>
          <p:cNvPr id="24" name="Picture 23">
            <a:extLst>
              <a:ext uri="{FF2B5EF4-FFF2-40B4-BE49-F238E27FC236}">
                <a16:creationId xmlns:a16="http://schemas.microsoft.com/office/drawing/2014/main" id="{8EF0C4F2-C5CC-D66D-7963-14C0F5804C1C}"/>
              </a:ext>
            </a:extLst>
          </p:cNvPr>
          <p:cNvPicPr>
            <a:picLocks noChangeAspect="1"/>
          </p:cNvPicPr>
          <p:nvPr/>
        </p:nvPicPr>
        <p:blipFill>
          <a:blip r:embed="rId3"/>
          <a:stretch>
            <a:fillRect/>
          </a:stretch>
        </p:blipFill>
        <p:spPr>
          <a:xfrm>
            <a:off x="5462779" y="404907"/>
            <a:ext cx="4987021" cy="2806805"/>
          </a:xfrm>
          <a:prstGeom prst="rect">
            <a:avLst/>
          </a:prstGeom>
        </p:spPr>
      </p:pic>
      <p:sp>
        <p:nvSpPr>
          <p:cNvPr id="25" name="Right Brace 24">
            <a:extLst>
              <a:ext uri="{FF2B5EF4-FFF2-40B4-BE49-F238E27FC236}">
                <a16:creationId xmlns:a16="http://schemas.microsoft.com/office/drawing/2014/main" id="{66A1F066-F6F4-829A-3F55-691561F4BF48}"/>
              </a:ext>
            </a:extLst>
          </p:cNvPr>
          <p:cNvSpPr/>
          <p:nvPr/>
        </p:nvSpPr>
        <p:spPr>
          <a:xfrm rot="5400000">
            <a:off x="6976892" y="2458828"/>
            <a:ext cx="224414" cy="825985"/>
          </a:xfrm>
          <a:prstGeom prst="rightBrace">
            <a:avLst>
              <a:gd name="adj1" fmla="val 8333"/>
              <a:gd name="adj2" fmla="val 5110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26" name="Right Brace 25">
            <a:extLst>
              <a:ext uri="{FF2B5EF4-FFF2-40B4-BE49-F238E27FC236}">
                <a16:creationId xmlns:a16="http://schemas.microsoft.com/office/drawing/2014/main" id="{C2FABC5E-FBF0-FFB3-6164-7B764D281719}"/>
              </a:ext>
            </a:extLst>
          </p:cNvPr>
          <p:cNvSpPr/>
          <p:nvPr/>
        </p:nvSpPr>
        <p:spPr>
          <a:xfrm rot="5400000">
            <a:off x="8264857" y="2103873"/>
            <a:ext cx="132877" cy="1403022"/>
          </a:xfrm>
          <a:prstGeom prst="rightBrace">
            <a:avLst>
              <a:gd name="adj1" fmla="val 8333"/>
              <a:gd name="adj2" fmla="val 5110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27" name="TextBox 26">
            <a:extLst>
              <a:ext uri="{FF2B5EF4-FFF2-40B4-BE49-F238E27FC236}">
                <a16:creationId xmlns:a16="http://schemas.microsoft.com/office/drawing/2014/main" id="{5B1EDA0C-9333-D4DB-31D2-9BDB2D96B748}"/>
              </a:ext>
            </a:extLst>
          </p:cNvPr>
          <p:cNvSpPr txBox="1"/>
          <p:nvPr/>
        </p:nvSpPr>
        <p:spPr>
          <a:xfrm>
            <a:off x="6676106" y="3027756"/>
            <a:ext cx="825986" cy="246221"/>
          </a:xfrm>
          <a:prstGeom prst="rect">
            <a:avLst/>
          </a:prstGeom>
          <a:no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Fraction 2</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28" name="TextBox 27">
            <a:extLst>
              <a:ext uri="{FF2B5EF4-FFF2-40B4-BE49-F238E27FC236}">
                <a16:creationId xmlns:a16="http://schemas.microsoft.com/office/drawing/2014/main" id="{49659E7B-D28F-FE31-01D6-DB21A0E76552}"/>
              </a:ext>
            </a:extLst>
          </p:cNvPr>
          <p:cNvSpPr txBox="1"/>
          <p:nvPr/>
        </p:nvSpPr>
        <p:spPr>
          <a:xfrm>
            <a:off x="7918302" y="2950540"/>
            <a:ext cx="825986" cy="246221"/>
          </a:xfrm>
          <a:prstGeom prst="rect">
            <a:avLst/>
          </a:prstGeom>
          <a:no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Fraction 3</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38821BA6-FE83-5463-CADC-B9B7547FCFD0}"/>
              </a:ext>
            </a:extLst>
          </p:cNvPr>
          <p:cNvSpPr txBox="1"/>
          <p:nvPr/>
        </p:nvSpPr>
        <p:spPr>
          <a:xfrm>
            <a:off x="5786274" y="2880231"/>
            <a:ext cx="825986" cy="246221"/>
          </a:xfrm>
          <a:prstGeom prst="rect">
            <a:avLst/>
          </a:prstGeom>
          <a:no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Fraction 1</a:t>
            </a:r>
            <a:endParaRPr lang="en-US" sz="1000" dirty="0">
              <a:solidFill>
                <a:schemeClr val="tx1"/>
              </a:solidFill>
              <a:latin typeface="Arial Narrow" panose="020B0606020202030204" pitchFamily="34" charset="0"/>
              <a:cs typeface="Times New Roman" panose="02020603050405020304" pitchFamily="18" charset="0"/>
            </a:endParaRPr>
          </a:p>
        </p:txBody>
      </p:sp>
      <p:pic>
        <p:nvPicPr>
          <p:cNvPr id="30" name="Picture 29">
            <a:extLst>
              <a:ext uri="{FF2B5EF4-FFF2-40B4-BE49-F238E27FC236}">
                <a16:creationId xmlns:a16="http://schemas.microsoft.com/office/drawing/2014/main" id="{D4EA2D2F-1E36-68F7-769A-36A5A71514A8}"/>
              </a:ext>
            </a:extLst>
          </p:cNvPr>
          <p:cNvPicPr>
            <a:picLocks noChangeAspect="1"/>
          </p:cNvPicPr>
          <p:nvPr/>
        </p:nvPicPr>
        <p:blipFill>
          <a:blip r:embed="rId4"/>
          <a:srcRect t="22080" b="38397"/>
          <a:stretch>
            <a:fillRect/>
          </a:stretch>
        </p:blipFill>
        <p:spPr>
          <a:xfrm rot="6334036">
            <a:off x="9575006" y="946544"/>
            <a:ext cx="1212628" cy="889884"/>
          </a:xfrm>
          <a:prstGeom prst="rect">
            <a:avLst/>
          </a:prstGeom>
        </p:spPr>
      </p:pic>
      <p:sp>
        <p:nvSpPr>
          <p:cNvPr id="31" name="Google Shape;107;p2">
            <a:extLst>
              <a:ext uri="{FF2B5EF4-FFF2-40B4-BE49-F238E27FC236}">
                <a16:creationId xmlns:a16="http://schemas.microsoft.com/office/drawing/2014/main" id="{B6B0519B-3AD5-4B04-057E-3C8E38022CFF}"/>
              </a:ext>
            </a:extLst>
          </p:cNvPr>
          <p:cNvSpPr txBox="1">
            <a:spLocks/>
          </p:cNvSpPr>
          <p:nvPr/>
        </p:nvSpPr>
        <p:spPr>
          <a:xfrm>
            <a:off x="6327486" y="3283058"/>
            <a:ext cx="3665051" cy="3272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pPr marL="0" indent="0" algn="ctr">
              <a:spcBef>
                <a:spcPts val="0"/>
              </a:spcBef>
              <a:buSzPts val="2800"/>
              <a:buNone/>
            </a:pPr>
            <a:r>
              <a:rPr lang="en-US" sz="1200" dirty="0">
                <a:latin typeface="Arial Narrow" panose="020B0606020202030204" pitchFamily="34" charset="0"/>
                <a:cs typeface="Times New Roman" panose="02020603050405020304" pitchFamily="18" charset="0"/>
              </a:rPr>
              <a:t>Fractionation of bio-oil</a:t>
            </a:r>
          </a:p>
        </p:txBody>
      </p:sp>
      <p:sp>
        <p:nvSpPr>
          <p:cNvPr id="32" name="Google Shape;107;p2">
            <a:extLst>
              <a:ext uri="{FF2B5EF4-FFF2-40B4-BE49-F238E27FC236}">
                <a16:creationId xmlns:a16="http://schemas.microsoft.com/office/drawing/2014/main" id="{F8F6FD8E-0B1E-57F5-3406-6903CE7AEC2C}"/>
              </a:ext>
            </a:extLst>
          </p:cNvPr>
          <p:cNvSpPr txBox="1">
            <a:spLocks/>
          </p:cNvSpPr>
          <p:nvPr/>
        </p:nvSpPr>
        <p:spPr>
          <a:xfrm>
            <a:off x="6062632" y="3638656"/>
            <a:ext cx="4194757" cy="30549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pPr marL="0" indent="0" algn="ctr">
              <a:spcBef>
                <a:spcPts val="0"/>
              </a:spcBef>
              <a:buSzPts val="2800"/>
              <a:buNone/>
            </a:pPr>
            <a:r>
              <a:rPr lang="en-US" sz="1200" dirty="0">
                <a:latin typeface="Arial Narrow" panose="020B0606020202030204" pitchFamily="34" charset="0"/>
                <a:cs typeface="Times New Roman" panose="02020603050405020304" pitchFamily="18" charset="0"/>
              </a:rPr>
              <a:t>Temperature profile for different distillation fractions of bio-oil</a:t>
            </a:r>
          </a:p>
        </p:txBody>
      </p:sp>
      <p:sp>
        <p:nvSpPr>
          <p:cNvPr id="33" name="TextBox 32">
            <a:extLst>
              <a:ext uri="{FF2B5EF4-FFF2-40B4-BE49-F238E27FC236}">
                <a16:creationId xmlns:a16="http://schemas.microsoft.com/office/drawing/2014/main" id="{0FD4FD6A-2093-EB57-5082-6840377DC49F}"/>
              </a:ext>
            </a:extLst>
          </p:cNvPr>
          <p:cNvSpPr txBox="1"/>
          <p:nvPr/>
        </p:nvSpPr>
        <p:spPr>
          <a:xfrm>
            <a:off x="10570071" y="1870020"/>
            <a:ext cx="825986" cy="246221"/>
          </a:xfrm>
          <a:prstGeom prst="rect">
            <a:avLst/>
          </a:prstGeom>
          <a:noFill/>
          <a:ln>
            <a:solidFill>
              <a:schemeClr val="tx1"/>
            </a:solidFill>
          </a:ln>
        </p:spPr>
        <p:txBody>
          <a:bodyPr wrap="square" rtlCol="0">
            <a:spAutoFit/>
          </a:bodyPr>
          <a:lstStyle/>
          <a:p>
            <a:pPr algn="ctr"/>
            <a:r>
              <a:rPr lang="en-US" sz="1000" b="1" dirty="0">
                <a:solidFill>
                  <a:schemeClr val="tx1"/>
                </a:solidFill>
                <a:latin typeface="Arial Narrow" panose="020B0606020202030204" pitchFamily="34" charset="0"/>
                <a:cs typeface="Times New Roman" panose="02020603050405020304" pitchFamily="18" charset="0"/>
              </a:rPr>
              <a:t>Fraction 4</a:t>
            </a:r>
            <a:endParaRPr lang="en-US" sz="1000" dirty="0">
              <a:solidFill>
                <a:schemeClr val="tx1"/>
              </a:solidFill>
              <a:latin typeface="Arial Narrow" panose="020B0606020202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345B303F-FD69-86F7-8F09-A0DF959C24E1}"/>
              </a:ext>
            </a:extLst>
          </p:cNvPr>
          <p:cNvSpPr/>
          <p:nvPr/>
        </p:nvSpPr>
        <p:spPr>
          <a:xfrm>
            <a:off x="5864846" y="5594710"/>
            <a:ext cx="5446273" cy="5072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Tx/>
              <a:buFont typeface="Arial" panose="020B0604020202020204" pitchFamily="34" charset="0"/>
              <a:buChar char="•"/>
            </a:pPr>
            <a:r>
              <a:rPr lang="en-US" dirty="0">
                <a:solidFill>
                  <a:schemeClr val="tx1"/>
                </a:solidFill>
                <a:latin typeface="Arial Narrow" panose="020B0606020202030204" pitchFamily="34" charset="0"/>
              </a:rPr>
              <a:t>38.38% of distillate can be recovered</a:t>
            </a:r>
          </a:p>
          <a:p>
            <a:pPr marL="285750" indent="-285750" algn="ctr">
              <a:buClrTx/>
              <a:buFont typeface="Arial" panose="020B0604020202020204" pitchFamily="34" charset="0"/>
              <a:buChar char="•"/>
            </a:pPr>
            <a:r>
              <a:rPr lang="en-US" dirty="0">
                <a:solidFill>
                  <a:schemeClr val="tx1"/>
                </a:solidFill>
                <a:latin typeface="Arial Narrow" panose="020B0606020202030204" pitchFamily="34" charset="0"/>
              </a:rPr>
              <a:t>Potential improvement with vacuum distillation setup</a:t>
            </a:r>
          </a:p>
        </p:txBody>
      </p:sp>
    </p:spTree>
    <p:extLst>
      <p:ext uri="{BB962C8B-B14F-4D97-AF65-F5344CB8AC3E}">
        <p14:creationId xmlns:p14="http://schemas.microsoft.com/office/powerpoint/2010/main" val="1535755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E5332B4-87CB-469F-9895-D5597B0A93AE}"/>
              </a:ext>
            </a:extLst>
          </p:cNvPr>
          <p:cNvGraphicFramePr>
            <a:graphicFrameLocks noGrp="1"/>
          </p:cNvGraphicFramePr>
          <p:nvPr/>
        </p:nvGraphicFramePr>
        <p:xfrm>
          <a:off x="385581" y="714720"/>
          <a:ext cx="11409340" cy="4937760"/>
        </p:xfrm>
        <a:graphic>
          <a:graphicData uri="http://schemas.openxmlformats.org/drawingml/2006/table">
            <a:tbl>
              <a:tblPr firstRow="1" bandRow="1">
                <a:tableStyleId>{073A0DAA-6AF3-43AB-8588-CEC1D06C72B9}</a:tableStyleId>
              </a:tblPr>
              <a:tblGrid>
                <a:gridCol w="1875019">
                  <a:extLst>
                    <a:ext uri="{9D8B030D-6E8A-4147-A177-3AD203B41FA5}">
                      <a16:colId xmlns:a16="http://schemas.microsoft.com/office/drawing/2014/main" val="3028623430"/>
                    </a:ext>
                  </a:extLst>
                </a:gridCol>
                <a:gridCol w="601133">
                  <a:extLst>
                    <a:ext uri="{9D8B030D-6E8A-4147-A177-3AD203B41FA5}">
                      <a16:colId xmlns:a16="http://schemas.microsoft.com/office/drawing/2014/main" val="3271863834"/>
                    </a:ext>
                  </a:extLst>
                </a:gridCol>
                <a:gridCol w="702734">
                  <a:extLst>
                    <a:ext uri="{9D8B030D-6E8A-4147-A177-3AD203B41FA5}">
                      <a16:colId xmlns:a16="http://schemas.microsoft.com/office/drawing/2014/main" val="3714289886"/>
                    </a:ext>
                  </a:extLst>
                </a:gridCol>
                <a:gridCol w="651933">
                  <a:extLst>
                    <a:ext uri="{9D8B030D-6E8A-4147-A177-3AD203B41FA5}">
                      <a16:colId xmlns:a16="http://schemas.microsoft.com/office/drawing/2014/main" val="3351440661"/>
                    </a:ext>
                  </a:extLst>
                </a:gridCol>
                <a:gridCol w="643467">
                  <a:extLst>
                    <a:ext uri="{9D8B030D-6E8A-4147-A177-3AD203B41FA5}">
                      <a16:colId xmlns:a16="http://schemas.microsoft.com/office/drawing/2014/main" val="630246742"/>
                    </a:ext>
                  </a:extLst>
                </a:gridCol>
                <a:gridCol w="694266">
                  <a:extLst>
                    <a:ext uri="{9D8B030D-6E8A-4147-A177-3AD203B41FA5}">
                      <a16:colId xmlns:a16="http://schemas.microsoft.com/office/drawing/2014/main" val="3263568440"/>
                    </a:ext>
                  </a:extLst>
                </a:gridCol>
                <a:gridCol w="728134">
                  <a:extLst>
                    <a:ext uri="{9D8B030D-6E8A-4147-A177-3AD203B41FA5}">
                      <a16:colId xmlns:a16="http://schemas.microsoft.com/office/drawing/2014/main" val="1580788797"/>
                    </a:ext>
                  </a:extLst>
                </a:gridCol>
                <a:gridCol w="1159933">
                  <a:extLst>
                    <a:ext uri="{9D8B030D-6E8A-4147-A177-3AD203B41FA5}">
                      <a16:colId xmlns:a16="http://schemas.microsoft.com/office/drawing/2014/main" val="1260154556"/>
                    </a:ext>
                  </a:extLst>
                </a:gridCol>
                <a:gridCol w="1371600">
                  <a:extLst>
                    <a:ext uri="{9D8B030D-6E8A-4147-A177-3AD203B41FA5}">
                      <a16:colId xmlns:a16="http://schemas.microsoft.com/office/drawing/2014/main" val="698724007"/>
                    </a:ext>
                  </a:extLst>
                </a:gridCol>
                <a:gridCol w="1540933">
                  <a:extLst>
                    <a:ext uri="{9D8B030D-6E8A-4147-A177-3AD203B41FA5}">
                      <a16:colId xmlns:a16="http://schemas.microsoft.com/office/drawing/2014/main" val="454124951"/>
                    </a:ext>
                  </a:extLst>
                </a:gridCol>
                <a:gridCol w="1440188">
                  <a:extLst>
                    <a:ext uri="{9D8B030D-6E8A-4147-A177-3AD203B41FA5}">
                      <a16:colId xmlns:a16="http://schemas.microsoft.com/office/drawing/2014/main" val="1760342538"/>
                    </a:ext>
                  </a:extLst>
                </a:gridCol>
              </a:tblGrid>
              <a:tr h="222069">
                <a:tc>
                  <a:txBody>
                    <a:bodyPr/>
                    <a:lstStyle/>
                    <a:p>
                      <a:pPr algn="ctr"/>
                      <a:r>
                        <a:rPr lang="en-US" sz="1200" dirty="0">
                          <a:latin typeface="Arial Narrow" panose="020B0606020202030204" pitchFamily="34" charset="0"/>
                        </a:rPr>
                        <a:t>Parameter</a:t>
                      </a:r>
                    </a:p>
                  </a:txBody>
                  <a:tcPr/>
                </a:tc>
                <a:tc>
                  <a:txBody>
                    <a:bodyPr/>
                    <a:lstStyle/>
                    <a:p>
                      <a:pPr algn="ctr"/>
                      <a:r>
                        <a:rPr lang="en-US" sz="1200" dirty="0">
                          <a:latin typeface="Arial Narrow" panose="020B0606020202030204" pitchFamily="34" charset="0"/>
                        </a:rPr>
                        <a:t>Limit</a:t>
                      </a:r>
                    </a:p>
                  </a:txBody>
                  <a:tcPr/>
                </a:tc>
                <a:tc>
                  <a:txBody>
                    <a:bodyPr/>
                    <a:lstStyle/>
                    <a:p>
                      <a:pPr algn="ctr"/>
                      <a:r>
                        <a:rPr lang="en-US" sz="1200" dirty="0">
                          <a:latin typeface="Arial Narrow" panose="020B0606020202030204" pitchFamily="34" charset="0"/>
                        </a:rPr>
                        <a:t>RMG</a:t>
                      </a:r>
                    </a:p>
                  </a:txBody>
                  <a:tcPr/>
                </a:tc>
                <a:tc>
                  <a:txBody>
                    <a:bodyPr/>
                    <a:lstStyle/>
                    <a:p>
                      <a:pPr algn="ctr"/>
                      <a:r>
                        <a:rPr lang="en-US" sz="1200" dirty="0">
                          <a:latin typeface="Arial Narrow" panose="020B0606020202030204" pitchFamily="34" charset="0"/>
                        </a:rPr>
                        <a:t>RMK </a:t>
                      </a:r>
                    </a:p>
                  </a:txBody>
                  <a:tcPr/>
                </a:tc>
                <a:tc>
                  <a:txBody>
                    <a:bodyPr/>
                    <a:lstStyle/>
                    <a:p>
                      <a:pPr algn="ctr"/>
                      <a:r>
                        <a:rPr lang="en-US" sz="1200" dirty="0">
                          <a:latin typeface="Arial Narrow" panose="020B0606020202030204" pitchFamily="34" charset="0"/>
                        </a:rPr>
                        <a:t>B24</a:t>
                      </a:r>
                    </a:p>
                  </a:txBody>
                  <a:tcPr/>
                </a:tc>
                <a:tc>
                  <a:txBody>
                    <a:bodyPr/>
                    <a:lstStyle/>
                    <a:p>
                      <a:pPr algn="ctr"/>
                      <a:r>
                        <a:rPr lang="en-US" sz="1200" dirty="0">
                          <a:latin typeface="Arial Narrow" panose="020B0606020202030204" pitchFamily="34" charset="0"/>
                        </a:rPr>
                        <a:t>MFO</a:t>
                      </a:r>
                    </a:p>
                  </a:txBody>
                  <a:tcPr/>
                </a:tc>
                <a:tc>
                  <a:txBody>
                    <a:bodyPr/>
                    <a:lstStyle/>
                    <a:p>
                      <a:pPr algn="ctr"/>
                      <a:r>
                        <a:rPr lang="en-US" sz="1200" dirty="0">
                          <a:latin typeface="Arial Narrow" panose="020B0606020202030204" pitchFamily="34" charset="0"/>
                        </a:rPr>
                        <a:t>Bio-Oil</a:t>
                      </a:r>
                    </a:p>
                  </a:txBody>
                  <a:tcPr/>
                </a:tc>
                <a:tc>
                  <a:txBody>
                    <a:bodyPr/>
                    <a:lstStyle/>
                    <a:p>
                      <a:pPr algn="ctr"/>
                      <a:r>
                        <a:rPr lang="en-US" sz="1200" dirty="0">
                          <a:latin typeface="Arial Narrow" panose="020B0606020202030204" pitchFamily="34" charset="0"/>
                        </a:rPr>
                        <a:t>Light Distillate</a:t>
                      </a:r>
                    </a:p>
                  </a:txBody>
                  <a:tcPr/>
                </a:tc>
                <a:tc>
                  <a:txBody>
                    <a:bodyPr/>
                    <a:lstStyle/>
                    <a:p>
                      <a:pPr algn="ctr"/>
                      <a:r>
                        <a:rPr lang="en-US" sz="1200" dirty="0">
                          <a:latin typeface="Arial Narrow" panose="020B0606020202030204" pitchFamily="34" charset="0"/>
                        </a:rPr>
                        <a:t>Heavy Distillation</a:t>
                      </a:r>
                    </a:p>
                  </a:txBody>
                  <a:tcPr/>
                </a:tc>
                <a:tc>
                  <a:txBody>
                    <a:bodyPr/>
                    <a:lstStyle/>
                    <a:p>
                      <a:pPr algn="ctr"/>
                      <a:r>
                        <a:rPr lang="en-US" sz="1200" dirty="0">
                          <a:latin typeface="Arial Narrow" panose="020B0606020202030204" pitchFamily="34" charset="0"/>
                        </a:rPr>
                        <a:t>Light Distillate (D-7)</a:t>
                      </a:r>
                    </a:p>
                  </a:txBody>
                  <a:tcPr/>
                </a:tc>
                <a:tc>
                  <a:txBody>
                    <a:bodyPr/>
                    <a:lstStyle/>
                    <a:p>
                      <a:pPr algn="ctr"/>
                      <a:r>
                        <a:rPr lang="en-US" sz="1200" dirty="0">
                          <a:latin typeface="Arial Narrow" panose="020B0606020202030204" pitchFamily="34" charset="0"/>
                        </a:rPr>
                        <a:t>Heavy Distillate (D-7)</a:t>
                      </a:r>
                    </a:p>
                  </a:txBody>
                  <a:tcPr/>
                </a:tc>
                <a:extLst>
                  <a:ext uri="{0D108BD9-81ED-4DB2-BD59-A6C34878D82A}">
                    <a16:rowId xmlns:a16="http://schemas.microsoft.com/office/drawing/2014/main" val="467813828"/>
                  </a:ext>
                </a:extLst>
              </a:tr>
              <a:tr h="222069">
                <a:tc>
                  <a:txBody>
                    <a:bodyPr/>
                    <a:lstStyle/>
                    <a:p>
                      <a:pPr algn="ctr"/>
                      <a:r>
                        <a:rPr lang="en-US" sz="1200" dirty="0">
                          <a:latin typeface="Arial Narrow" panose="020B0606020202030204" pitchFamily="34" charset="0"/>
                        </a:rPr>
                        <a:t>Viscosity at 50 °C (cst)</a:t>
                      </a:r>
                    </a:p>
                  </a:txBody>
                  <a:tcPr/>
                </a:tc>
                <a:tc>
                  <a:txBody>
                    <a:bodyPr/>
                    <a:lstStyle/>
                    <a:p>
                      <a:pPr algn="ctr"/>
                      <a:r>
                        <a:rPr lang="en-US" sz="1200" dirty="0">
                          <a:latin typeface="Arial Narrow" panose="020B0606020202030204" pitchFamily="34" charset="0"/>
                        </a:rPr>
                        <a:t>Max</a:t>
                      </a:r>
                    </a:p>
                  </a:txBody>
                  <a:tcPr/>
                </a:tc>
                <a:tc>
                  <a:txBody>
                    <a:bodyPr/>
                    <a:lstStyle/>
                    <a:p>
                      <a:pPr algn="ctr"/>
                      <a:r>
                        <a:rPr lang="en-US" sz="1200" dirty="0">
                          <a:latin typeface="Arial Narrow" panose="020B0606020202030204" pitchFamily="34" charset="0"/>
                        </a:rPr>
                        <a:t>180-700</a:t>
                      </a:r>
                    </a:p>
                  </a:txBody>
                  <a:tcPr/>
                </a:tc>
                <a:tc>
                  <a:txBody>
                    <a:bodyPr/>
                    <a:lstStyle/>
                    <a:p>
                      <a:pPr algn="ctr"/>
                      <a:r>
                        <a:rPr lang="en-US" sz="1200" dirty="0">
                          <a:latin typeface="Arial Narrow" panose="020B0606020202030204" pitchFamily="34" charset="0"/>
                        </a:rPr>
                        <a:t>380-700</a:t>
                      </a:r>
                    </a:p>
                  </a:txBody>
                  <a:tcPr/>
                </a:tc>
                <a:tc>
                  <a:txBody>
                    <a:bodyPr/>
                    <a:lstStyle/>
                    <a:p>
                      <a:pPr algn="ctr"/>
                      <a:r>
                        <a:rPr lang="en-US" sz="1200" dirty="0">
                          <a:latin typeface="Arial Narrow" panose="020B0606020202030204" pitchFamily="34" charset="0"/>
                        </a:rPr>
                        <a:t>380</a:t>
                      </a:r>
                    </a:p>
                  </a:txBody>
                  <a:tcPr/>
                </a:tc>
                <a:tc>
                  <a:txBody>
                    <a:bodyPr/>
                    <a:lstStyle/>
                    <a:p>
                      <a:pPr algn="ctr"/>
                      <a:r>
                        <a:rPr lang="en-US" sz="1200" dirty="0">
                          <a:latin typeface="Arial Narrow" panose="020B0606020202030204" pitchFamily="34" charset="0"/>
                        </a:rPr>
                        <a:t>212</a:t>
                      </a:r>
                    </a:p>
                  </a:txBody>
                  <a:tcPr/>
                </a:tc>
                <a:tc>
                  <a:txBody>
                    <a:bodyPr/>
                    <a:lstStyle/>
                    <a:p>
                      <a:pPr algn="ctr"/>
                      <a:r>
                        <a:rPr lang="en-US" sz="1200" dirty="0">
                          <a:latin typeface="Arial Narrow" panose="020B0606020202030204" pitchFamily="34" charset="0"/>
                        </a:rPr>
                        <a:t>17</a:t>
                      </a:r>
                    </a:p>
                  </a:txBody>
                  <a:tcPr/>
                </a:tc>
                <a:tc>
                  <a:txBody>
                    <a:bodyPr/>
                    <a:lstStyle/>
                    <a:p>
                      <a:pPr algn="ctr"/>
                      <a:r>
                        <a:rPr lang="en-US" sz="1200" dirty="0">
                          <a:latin typeface="Arial Narrow" panose="020B0606020202030204" pitchFamily="34" charset="0"/>
                        </a:rPr>
                        <a:t>2.3</a:t>
                      </a:r>
                    </a:p>
                  </a:txBody>
                  <a:tcPr/>
                </a:tc>
                <a:tc>
                  <a:txBody>
                    <a:bodyPr/>
                    <a:lstStyle/>
                    <a:p>
                      <a:pPr algn="ctr"/>
                      <a:r>
                        <a:rPr lang="en-US" sz="1200" dirty="0">
                          <a:latin typeface="Arial Narrow" panose="020B0606020202030204" pitchFamily="34" charset="0"/>
                        </a:rPr>
                        <a:t>3.7</a:t>
                      </a:r>
                    </a:p>
                  </a:txBody>
                  <a:tcPr/>
                </a:tc>
                <a:tc>
                  <a:txBody>
                    <a:bodyPr/>
                    <a:lstStyle/>
                    <a:p>
                      <a:pPr algn="ctr"/>
                      <a:r>
                        <a:rPr lang="en-US" sz="1200" dirty="0">
                          <a:latin typeface="Arial Narrow" panose="020B0606020202030204" pitchFamily="34" charset="0"/>
                        </a:rPr>
                        <a:t>2.9</a:t>
                      </a:r>
                    </a:p>
                  </a:txBody>
                  <a:tcPr/>
                </a:tc>
                <a:tc>
                  <a:txBody>
                    <a:bodyPr/>
                    <a:lstStyle/>
                    <a:p>
                      <a:pPr algn="ctr"/>
                      <a:r>
                        <a:rPr lang="en-US" sz="1200" dirty="0">
                          <a:latin typeface="Arial Narrow" panose="020B0606020202030204" pitchFamily="34" charset="0"/>
                        </a:rPr>
                        <a:t>4.0</a:t>
                      </a:r>
                    </a:p>
                  </a:txBody>
                  <a:tcPr/>
                </a:tc>
                <a:extLst>
                  <a:ext uri="{0D108BD9-81ED-4DB2-BD59-A6C34878D82A}">
                    <a16:rowId xmlns:a16="http://schemas.microsoft.com/office/drawing/2014/main" val="3458744839"/>
                  </a:ext>
                </a:extLst>
              </a:tr>
              <a:tr h="222069">
                <a:tc>
                  <a:txBody>
                    <a:bodyPr/>
                    <a:lstStyle/>
                    <a:p>
                      <a:pPr algn="ctr"/>
                      <a:r>
                        <a:rPr lang="en-US" sz="1200" dirty="0">
                          <a:latin typeface="Arial Narrow" panose="020B0606020202030204" pitchFamily="34" charset="0"/>
                        </a:rPr>
                        <a:t>Density at 15 °C (kg/m</a:t>
                      </a:r>
                      <a:r>
                        <a:rPr lang="en-US" sz="1200" baseline="30000" dirty="0">
                          <a:latin typeface="Arial Narrow" panose="020B0606020202030204" pitchFamily="34" charset="0"/>
                        </a:rPr>
                        <a:t>3</a:t>
                      </a:r>
                      <a:r>
                        <a:rPr lang="en-US" sz="1200" dirty="0">
                          <a:latin typeface="Arial Narrow" panose="020B06060202020302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1010</a:t>
                      </a: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b="1" dirty="0">
                          <a:latin typeface="Arial Narrow" panose="020B0606020202030204" pitchFamily="34" charset="0"/>
                        </a:rPr>
                        <a:t>991*</a:t>
                      </a:r>
                    </a:p>
                  </a:txBody>
                  <a:tcPr/>
                </a:tc>
                <a:tc>
                  <a:txBody>
                    <a:bodyPr/>
                    <a:lstStyle/>
                    <a:p>
                      <a:pPr algn="ctr"/>
                      <a:r>
                        <a:rPr lang="en-US" sz="1200" b="1" dirty="0">
                          <a:solidFill>
                            <a:srgbClr val="FF0000"/>
                          </a:solidFill>
                          <a:latin typeface="Arial Narrow" panose="020B0606020202030204" pitchFamily="34" charset="0"/>
                        </a:rPr>
                        <a:t>1083</a:t>
                      </a:r>
                    </a:p>
                  </a:txBody>
                  <a:tcPr/>
                </a:tc>
                <a:tc>
                  <a:txBody>
                    <a:bodyPr/>
                    <a:lstStyle/>
                    <a:p>
                      <a:pPr algn="ctr"/>
                      <a:r>
                        <a:rPr lang="en-US" sz="1200" b="1" dirty="0">
                          <a:solidFill>
                            <a:srgbClr val="FF0000"/>
                          </a:solidFill>
                          <a:latin typeface="Arial Narrow" panose="020B0606020202030204" pitchFamily="34" charset="0"/>
                        </a:rPr>
                        <a:t>1044</a:t>
                      </a:r>
                    </a:p>
                  </a:txBody>
                  <a:tcPr/>
                </a:tc>
                <a:tc>
                  <a:txBody>
                    <a:bodyPr/>
                    <a:lstStyle/>
                    <a:p>
                      <a:pPr algn="ctr"/>
                      <a:r>
                        <a:rPr lang="en-US" sz="1200" b="1" dirty="0">
                          <a:solidFill>
                            <a:srgbClr val="FF0000"/>
                          </a:solidFill>
                          <a:latin typeface="Arial Narrow" panose="020B0606020202030204" pitchFamily="34" charset="0"/>
                        </a:rPr>
                        <a:t>1043</a:t>
                      </a:r>
                    </a:p>
                  </a:txBody>
                  <a:tcPr/>
                </a:tc>
                <a:tc>
                  <a:txBody>
                    <a:bodyPr/>
                    <a:lstStyle/>
                    <a:p>
                      <a:pPr algn="ctr"/>
                      <a:r>
                        <a:rPr lang="en-US" sz="1200" b="1" dirty="0">
                          <a:solidFill>
                            <a:srgbClr val="FF0000"/>
                          </a:solidFill>
                          <a:latin typeface="Arial Narrow" panose="020B0606020202030204" pitchFamily="34" charset="0"/>
                        </a:rPr>
                        <a:t>1045</a:t>
                      </a:r>
                    </a:p>
                  </a:txBody>
                  <a:tcPr/>
                </a:tc>
                <a:tc>
                  <a:txBody>
                    <a:bodyPr/>
                    <a:lstStyle/>
                    <a:p>
                      <a:pPr algn="ctr"/>
                      <a:r>
                        <a:rPr lang="en-US" sz="1200" b="1" dirty="0">
                          <a:solidFill>
                            <a:srgbClr val="FF0000"/>
                          </a:solidFill>
                          <a:latin typeface="Arial Narrow" panose="020B0606020202030204" pitchFamily="34" charset="0"/>
                        </a:rPr>
                        <a:t>1057</a:t>
                      </a:r>
                    </a:p>
                  </a:txBody>
                  <a:tcPr/>
                </a:tc>
                <a:extLst>
                  <a:ext uri="{0D108BD9-81ED-4DB2-BD59-A6C34878D82A}">
                    <a16:rowId xmlns:a16="http://schemas.microsoft.com/office/drawing/2014/main" val="4026830727"/>
                  </a:ext>
                </a:extLst>
              </a:tr>
              <a:tr h="222069">
                <a:tc>
                  <a:txBody>
                    <a:bodyPr/>
                    <a:lstStyle/>
                    <a:p>
                      <a:pPr algn="ctr"/>
                      <a:r>
                        <a:rPr lang="en-US" sz="1200" dirty="0">
                          <a:latin typeface="Arial Narrow" panose="020B0606020202030204" pitchFamily="34" charset="0"/>
                        </a:rPr>
                        <a:t>Aluminum + silicon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24</a:t>
                      </a:r>
                    </a:p>
                  </a:txBody>
                  <a:tcPr/>
                </a:tc>
                <a:tc>
                  <a:txBody>
                    <a:bodyPr/>
                    <a:lstStyle/>
                    <a:p>
                      <a:pPr algn="ctr"/>
                      <a:r>
                        <a:rPr lang="en-US" sz="1200" dirty="0">
                          <a:latin typeface="Arial Narrow" panose="020B0606020202030204" pitchFamily="34" charset="0"/>
                        </a:rPr>
                        <a:t>1.03</a:t>
                      </a:r>
                    </a:p>
                  </a:txBody>
                  <a:tcPr/>
                </a:tc>
                <a:tc>
                  <a:txBody>
                    <a:bodyPr/>
                    <a:lstStyle/>
                    <a:p>
                      <a:pPr algn="ctr"/>
                      <a:r>
                        <a:rPr lang="en-US" sz="1200" dirty="0">
                          <a:latin typeface="Arial Narrow" panose="020B0606020202030204" pitchFamily="34" charset="0"/>
                        </a:rPr>
                        <a:t>0.62</a:t>
                      </a:r>
                    </a:p>
                  </a:txBody>
                  <a:tcPr/>
                </a:tc>
                <a:tc>
                  <a:txBody>
                    <a:bodyPr/>
                    <a:lstStyle/>
                    <a:p>
                      <a:pPr algn="ctr"/>
                      <a:r>
                        <a:rPr lang="en-US" sz="1200" dirty="0">
                          <a:latin typeface="Arial Narrow" panose="020B0606020202030204" pitchFamily="34" charset="0"/>
                        </a:rPr>
                        <a:t>0.48</a:t>
                      </a:r>
                    </a:p>
                  </a:txBody>
                  <a:tcPr/>
                </a:tc>
                <a:tc>
                  <a:txBody>
                    <a:bodyPr/>
                    <a:lstStyle/>
                    <a:p>
                      <a:pPr algn="ctr"/>
                      <a:r>
                        <a:rPr lang="en-US" sz="1200" dirty="0">
                          <a:latin typeface="Arial Narrow" panose="020B0606020202030204" pitchFamily="34" charset="0"/>
                        </a:rPr>
                        <a:t>0.62</a:t>
                      </a:r>
                    </a:p>
                  </a:txBody>
                  <a:tcPr/>
                </a:tc>
                <a:tc>
                  <a:txBody>
                    <a:bodyPr/>
                    <a:lstStyle/>
                    <a:p>
                      <a:pPr algn="ctr"/>
                      <a:r>
                        <a:rPr lang="en-US" sz="1200" dirty="0">
                          <a:latin typeface="Arial Narrow" panose="020B0606020202030204" pitchFamily="34" charset="0"/>
                        </a:rPr>
                        <a:t>0.48</a:t>
                      </a:r>
                    </a:p>
                  </a:txBody>
                  <a:tcPr/>
                </a:tc>
                <a:extLst>
                  <a:ext uri="{0D108BD9-81ED-4DB2-BD59-A6C34878D82A}">
                    <a16:rowId xmlns:a16="http://schemas.microsoft.com/office/drawing/2014/main" val="3940457139"/>
                  </a:ext>
                </a:extLst>
              </a:tr>
              <a:tr h="222069">
                <a:tc>
                  <a:txBody>
                    <a:bodyPr/>
                    <a:lstStyle/>
                    <a:p>
                      <a:pPr algn="ctr"/>
                      <a:r>
                        <a:rPr lang="en-US" sz="1200" dirty="0">
                          <a:latin typeface="Arial Narrow" panose="020B0606020202030204" pitchFamily="34" charset="0"/>
                        </a:rPr>
                        <a:t>Sodium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27</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197068746"/>
                  </a:ext>
                </a:extLst>
              </a:tr>
              <a:tr h="222069">
                <a:tc>
                  <a:txBody>
                    <a:bodyPr/>
                    <a:lstStyle/>
                    <a:p>
                      <a:pPr algn="ctr"/>
                      <a:r>
                        <a:rPr lang="en-US" sz="1200" dirty="0">
                          <a:latin typeface="Arial Narrow" panose="020B0606020202030204" pitchFamily="34" charset="0"/>
                        </a:rPr>
                        <a:t>Vanadium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350</a:t>
                      </a:r>
                    </a:p>
                  </a:txBody>
                  <a:tcPr/>
                </a:tc>
                <a:tc>
                  <a:txBody>
                    <a:bodyPr/>
                    <a:lstStyle/>
                    <a:p>
                      <a:pPr algn="ctr"/>
                      <a:r>
                        <a:rPr lang="en-US" sz="1200" dirty="0">
                          <a:latin typeface="Arial Narrow" panose="020B0606020202030204" pitchFamily="34" charset="0"/>
                        </a:rPr>
                        <a:t>450</a:t>
                      </a:r>
                    </a:p>
                  </a:txBody>
                  <a:tcPr/>
                </a:tc>
                <a:tc>
                  <a:txBody>
                    <a:bodyPr/>
                    <a:lstStyle/>
                    <a:p>
                      <a:pPr algn="ctr"/>
                      <a:r>
                        <a:rPr lang="en-US" sz="1200" dirty="0">
                          <a:latin typeface="Arial Narrow" panose="020B0606020202030204" pitchFamily="34" charset="0"/>
                        </a:rPr>
                        <a:t>350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884561804"/>
                  </a:ext>
                </a:extLst>
              </a:tr>
              <a:tr h="222069">
                <a:tc>
                  <a:txBody>
                    <a:bodyPr/>
                    <a:lstStyle/>
                    <a:p>
                      <a:pPr algn="ctr"/>
                      <a:r>
                        <a:rPr lang="en-US" sz="1200" dirty="0">
                          <a:latin typeface="Arial Narrow" panose="020B0606020202030204" pitchFamily="34" charset="0"/>
                        </a:rPr>
                        <a:t>CCAI</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858</a:t>
                      </a:r>
                    </a:p>
                  </a:txBody>
                  <a:tcPr/>
                </a:tc>
                <a:tc>
                  <a:txBody>
                    <a:bodyPr/>
                    <a:lstStyle/>
                    <a:p>
                      <a:pPr algn="ctr"/>
                      <a:r>
                        <a:rPr lang="en-US" sz="1200" b="1" dirty="0">
                          <a:solidFill>
                            <a:srgbClr val="FF0000"/>
                          </a:solidFill>
                          <a:latin typeface="Arial Narrow" panose="020B0606020202030204" pitchFamily="34" charset="0"/>
                        </a:rPr>
                        <a:t>988</a:t>
                      </a:r>
                    </a:p>
                  </a:txBody>
                  <a:tcPr/>
                </a:tc>
                <a:tc>
                  <a:txBody>
                    <a:bodyPr/>
                    <a:lstStyle/>
                    <a:p>
                      <a:pPr algn="ctr"/>
                      <a:r>
                        <a:rPr lang="en-US" sz="1200" b="1" dirty="0">
                          <a:solidFill>
                            <a:srgbClr val="FF0000"/>
                          </a:solidFill>
                          <a:latin typeface="Arial Narrow" panose="020B0606020202030204" pitchFamily="34" charset="0"/>
                        </a:rPr>
                        <a:t>1005</a:t>
                      </a:r>
                    </a:p>
                  </a:txBody>
                  <a:tcPr/>
                </a:tc>
                <a:tc>
                  <a:txBody>
                    <a:bodyPr/>
                    <a:lstStyle/>
                    <a:p>
                      <a:pPr algn="ctr"/>
                      <a:r>
                        <a:rPr lang="en-US" sz="1200" b="1" dirty="0">
                          <a:solidFill>
                            <a:srgbClr val="FF0000"/>
                          </a:solidFill>
                          <a:latin typeface="Arial Narrow" panose="020B0606020202030204" pitchFamily="34" charset="0"/>
                        </a:rPr>
                        <a:t>987</a:t>
                      </a:r>
                    </a:p>
                  </a:txBody>
                  <a:tcPr/>
                </a:tc>
                <a:tc>
                  <a:txBody>
                    <a:bodyPr/>
                    <a:lstStyle/>
                    <a:p>
                      <a:pPr algn="ctr"/>
                      <a:r>
                        <a:rPr lang="en-US" sz="1200" b="1" dirty="0">
                          <a:solidFill>
                            <a:srgbClr val="FF0000"/>
                          </a:solidFill>
                          <a:latin typeface="Arial Narrow" panose="020B0606020202030204" pitchFamily="34" charset="0"/>
                        </a:rPr>
                        <a:t>998</a:t>
                      </a:r>
                    </a:p>
                  </a:txBody>
                  <a:tcPr/>
                </a:tc>
                <a:tc>
                  <a:txBody>
                    <a:bodyPr/>
                    <a:lstStyle/>
                    <a:p>
                      <a:pPr algn="ctr"/>
                      <a:r>
                        <a:rPr lang="en-US" sz="1200" b="1" dirty="0">
                          <a:solidFill>
                            <a:srgbClr val="FF0000"/>
                          </a:solidFill>
                          <a:latin typeface="Arial Narrow" panose="020B0606020202030204" pitchFamily="34" charset="0"/>
                        </a:rPr>
                        <a:t>999</a:t>
                      </a:r>
                    </a:p>
                  </a:txBody>
                  <a:tcPr/>
                </a:tc>
                <a:extLst>
                  <a:ext uri="{0D108BD9-81ED-4DB2-BD59-A6C34878D82A}">
                    <a16:rowId xmlns:a16="http://schemas.microsoft.com/office/drawing/2014/main" val="4039336865"/>
                  </a:ext>
                </a:extLst>
              </a:tr>
              <a:tr h="222069">
                <a:tc>
                  <a:txBody>
                    <a:bodyPr/>
                    <a:lstStyle/>
                    <a:p>
                      <a:pPr algn="ctr"/>
                      <a:r>
                        <a:rPr lang="en-US" sz="1200" dirty="0">
                          <a:latin typeface="Arial Narrow" panose="020B0606020202030204" pitchFamily="34" charset="0"/>
                        </a:rPr>
                        <a:t>Water (% V/V)</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0.36</a:t>
                      </a:r>
                    </a:p>
                  </a:txBody>
                  <a:tcPr/>
                </a:tc>
                <a:tc>
                  <a:txBody>
                    <a:bodyPr/>
                    <a:lstStyle/>
                    <a:p>
                      <a:pPr algn="ctr"/>
                      <a:r>
                        <a:rPr lang="en-US" sz="1200" b="1" dirty="0">
                          <a:solidFill>
                            <a:srgbClr val="FF0000"/>
                          </a:solidFill>
                          <a:latin typeface="Arial Narrow" panose="020B0606020202030204" pitchFamily="34" charset="0"/>
                        </a:rPr>
                        <a:t>7.79</a:t>
                      </a:r>
                    </a:p>
                  </a:txBody>
                  <a:tcPr/>
                </a:tc>
                <a:tc>
                  <a:txBody>
                    <a:bodyPr/>
                    <a:lstStyle/>
                    <a:p>
                      <a:pPr algn="ctr"/>
                      <a:r>
                        <a:rPr lang="en-US" sz="1200" b="1" dirty="0">
                          <a:solidFill>
                            <a:srgbClr val="FF0000"/>
                          </a:solidFill>
                          <a:latin typeface="Arial Narrow" panose="020B0606020202030204" pitchFamily="34" charset="0"/>
                        </a:rPr>
                        <a:t>11.02</a:t>
                      </a:r>
                    </a:p>
                  </a:txBody>
                  <a:tcPr/>
                </a:tc>
                <a:tc>
                  <a:txBody>
                    <a:bodyPr/>
                    <a:lstStyle/>
                    <a:p>
                      <a:pPr algn="ctr"/>
                      <a:r>
                        <a:rPr lang="en-US" sz="1200" b="1" dirty="0">
                          <a:solidFill>
                            <a:srgbClr val="FF0000"/>
                          </a:solidFill>
                          <a:latin typeface="Arial Narrow" panose="020B0606020202030204" pitchFamily="34" charset="0"/>
                        </a:rPr>
                        <a:t>6.07</a:t>
                      </a:r>
                    </a:p>
                  </a:txBody>
                  <a:tcPr/>
                </a:tc>
                <a:tc>
                  <a:txBody>
                    <a:bodyPr/>
                    <a:lstStyle/>
                    <a:p>
                      <a:pPr algn="ctr"/>
                      <a:r>
                        <a:rPr lang="en-US" sz="1200" b="1" dirty="0">
                          <a:solidFill>
                            <a:srgbClr val="FF0000"/>
                          </a:solidFill>
                          <a:latin typeface="Arial Narrow" panose="020B0606020202030204" pitchFamily="34" charset="0"/>
                        </a:rPr>
                        <a:t>10.91</a:t>
                      </a:r>
                    </a:p>
                  </a:txBody>
                  <a:tcPr/>
                </a:tc>
                <a:tc>
                  <a:txBody>
                    <a:bodyPr/>
                    <a:lstStyle/>
                    <a:p>
                      <a:pPr algn="ctr"/>
                      <a:r>
                        <a:rPr lang="en-US" sz="1200" b="1" dirty="0">
                          <a:solidFill>
                            <a:srgbClr val="FF0000"/>
                          </a:solidFill>
                          <a:latin typeface="Arial Narrow" panose="020B0606020202030204" pitchFamily="34" charset="0"/>
                        </a:rPr>
                        <a:t>6.61</a:t>
                      </a:r>
                    </a:p>
                  </a:txBody>
                  <a:tcPr/>
                </a:tc>
                <a:extLst>
                  <a:ext uri="{0D108BD9-81ED-4DB2-BD59-A6C34878D82A}">
                    <a16:rowId xmlns:a16="http://schemas.microsoft.com/office/drawing/2014/main" val="4288853695"/>
                  </a:ext>
                </a:extLst>
              </a:tr>
              <a:tr h="222069">
                <a:tc>
                  <a:txBody>
                    <a:bodyPr/>
                    <a:lstStyle/>
                    <a:p>
                      <a:pPr algn="ctr"/>
                      <a:r>
                        <a:rPr lang="en-US" sz="1200" dirty="0">
                          <a:latin typeface="Arial Narrow" panose="020B0606020202030204" pitchFamily="34" charset="0"/>
                        </a:rPr>
                        <a:t>Sulphur (% m/m)</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0.35</a:t>
                      </a:r>
                    </a:p>
                  </a:txBody>
                  <a:tcPr/>
                </a:tc>
                <a:tc>
                  <a:txBody>
                    <a:bodyPr/>
                    <a:lstStyle/>
                    <a:p>
                      <a:pPr algn="ctr"/>
                      <a:r>
                        <a:rPr lang="en-US" sz="1200" dirty="0">
                          <a:latin typeface="Arial Narrow" panose="020B0606020202030204" pitchFamily="34" charset="0"/>
                        </a:rPr>
                        <a:t>0.21</a:t>
                      </a:r>
                    </a:p>
                  </a:txBody>
                  <a:tcPr/>
                </a:tc>
                <a:tc>
                  <a:txBody>
                    <a:bodyPr/>
                    <a:lstStyle/>
                    <a:p>
                      <a:pPr algn="ctr"/>
                      <a:r>
                        <a:rPr lang="en-US" sz="1200" dirty="0">
                          <a:latin typeface="Arial Narrow" panose="020B0606020202030204" pitchFamily="34" charset="0"/>
                        </a:rPr>
                        <a:t>0.02</a:t>
                      </a:r>
                    </a:p>
                  </a:txBody>
                  <a:tcPr/>
                </a:tc>
                <a:tc>
                  <a:txBody>
                    <a:bodyPr/>
                    <a:lstStyle/>
                    <a:p>
                      <a:pPr algn="ctr"/>
                      <a:r>
                        <a:rPr lang="en-US" sz="1200" dirty="0">
                          <a:latin typeface="Arial Narrow" panose="020B0606020202030204" pitchFamily="34" charset="0"/>
                        </a:rPr>
                        <a:t>0.01</a:t>
                      </a:r>
                    </a:p>
                  </a:txBody>
                  <a:tcPr/>
                </a:tc>
                <a:tc>
                  <a:txBody>
                    <a:bodyPr/>
                    <a:lstStyle/>
                    <a:p>
                      <a:pPr algn="ctr"/>
                      <a:r>
                        <a:rPr lang="en-US" sz="1200" dirty="0">
                          <a:latin typeface="Arial Narrow" panose="020B0606020202030204" pitchFamily="34" charset="0"/>
                        </a:rPr>
                        <a:t>0.02</a:t>
                      </a:r>
                    </a:p>
                  </a:txBody>
                  <a:tcPr/>
                </a:tc>
                <a:tc>
                  <a:txBody>
                    <a:bodyPr/>
                    <a:lstStyle/>
                    <a:p>
                      <a:pPr algn="ctr"/>
                      <a:r>
                        <a:rPr lang="en-US" sz="1200" dirty="0">
                          <a:latin typeface="Arial Narrow" panose="020B0606020202030204" pitchFamily="34" charset="0"/>
                        </a:rPr>
                        <a:t>0.01</a:t>
                      </a:r>
                    </a:p>
                  </a:txBody>
                  <a:tcPr/>
                </a:tc>
                <a:extLst>
                  <a:ext uri="{0D108BD9-81ED-4DB2-BD59-A6C34878D82A}">
                    <a16:rowId xmlns:a16="http://schemas.microsoft.com/office/drawing/2014/main" val="17048947"/>
                  </a:ext>
                </a:extLst>
              </a:tr>
              <a:tr h="140286">
                <a:tc>
                  <a:txBody>
                    <a:bodyPr/>
                    <a:lstStyle/>
                    <a:p>
                      <a:pPr algn="ctr"/>
                      <a:r>
                        <a:rPr lang="en-US" sz="1200" dirty="0">
                          <a:latin typeface="Arial Narrow" panose="020B0606020202030204" pitchFamily="34" charset="0"/>
                        </a:rPr>
                        <a:t>Acid number (mg KOH/g)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dirty="0">
                          <a:latin typeface="Arial Narrow" panose="020B0606020202030204" pitchFamily="34" charset="0"/>
                        </a:rPr>
                        <a:t>1.13</a:t>
                      </a:r>
                    </a:p>
                  </a:txBody>
                  <a:tcPr/>
                </a:tc>
                <a:tc>
                  <a:txBody>
                    <a:bodyPr/>
                    <a:lstStyle/>
                    <a:p>
                      <a:pPr algn="ctr"/>
                      <a:r>
                        <a:rPr lang="en-US" sz="1200" b="1" dirty="0">
                          <a:solidFill>
                            <a:srgbClr val="FF0000"/>
                          </a:solidFill>
                          <a:latin typeface="Arial Narrow" panose="020B0606020202030204" pitchFamily="34" charset="0"/>
                        </a:rPr>
                        <a:t>74.6</a:t>
                      </a:r>
                    </a:p>
                  </a:txBody>
                  <a:tcPr/>
                </a:tc>
                <a:tc>
                  <a:txBody>
                    <a:bodyPr/>
                    <a:lstStyle/>
                    <a:p>
                      <a:pPr algn="ctr"/>
                      <a:r>
                        <a:rPr lang="en-US" sz="1200" b="1" dirty="0">
                          <a:solidFill>
                            <a:srgbClr val="FF0000"/>
                          </a:solidFill>
                          <a:latin typeface="Arial Narrow" panose="020B0606020202030204" pitchFamily="34" charset="0"/>
                        </a:rPr>
                        <a:t>247.7</a:t>
                      </a:r>
                    </a:p>
                  </a:txBody>
                  <a:tcPr/>
                </a:tc>
                <a:tc>
                  <a:txBody>
                    <a:bodyPr/>
                    <a:lstStyle/>
                    <a:p>
                      <a:pPr algn="ctr"/>
                      <a:r>
                        <a:rPr lang="en-US" sz="1200" b="1" dirty="0">
                          <a:solidFill>
                            <a:srgbClr val="FF0000"/>
                          </a:solidFill>
                          <a:latin typeface="Arial Narrow" panose="020B0606020202030204" pitchFamily="34" charset="0"/>
                        </a:rPr>
                        <a:t>20.2</a:t>
                      </a:r>
                    </a:p>
                  </a:txBody>
                  <a:tcPr/>
                </a:tc>
                <a:tc>
                  <a:txBody>
                    <a:bodyPr/>
                    <a:lstStyle/>
                    <a:p>
                      <a:pPr algn="ctr"/>
                      <a:r>
                        <a:rPr lang="en-US" sz="1200" b="1" dirty="0">
                          <a:solidFill>
                            <a:srgbClr val="FF0000"/>
                          </a:solidFill>
                          <a:latin typeface="Arial Narrow" panose="020B0606020202030204" pitchFamily="34" charset="0"/>
                        </a:rPr>
                        <a:t>220.5</a:t>
                      </a:r>
                    </a:p>
                  </a:txBody>
                  <a:tcPr/>
                </a:tc>
                <a:tc>
                  <a:txBody>
                    <a:bodyPr/>
                    <a:lstStyle/>
                    <a:p>
                      <a:pPr algn="ctr"/>
                      <a:r>
                        <a:rPr lang="en-US" sz="1200" b="1" dirty="0">
                          <a:solidFill>
                            <a:srgbClr val="FF0000"/>
                          </a:solidFill>
                          <a:latin typeface="Arial Narrow" panose="020B0606020202030204" pitchFamily="34" charset="0"/>
                        </a:rPr>
                        <a:t>19.8</a:t>
                      </a:r>
                    </a:p>
                  </a:txBody>
                  <a:tcPr/>
                </a:tc>
                <a:extLst>
                  <a:ext uri="{0D108BD9-81ED-4DB2-BD59-A6C34878D82A}">
                    <a16:rowId xmlns:a16="http://schemas.microsoft.com/office/drawing/2014/main" val="3670828557"/>
                  </a:ext>
                </a:extLst>
              </a:tr>
              <a:tr h="140286">
                <a:tc>
                  <a:txBody>
                    <a:bodyPr/>
                    <a:lstStyle/>
                    <a:p>
                      <a:pPr algn="ctr"/>
                      <a:r>
                        <a:rPr lang="en-US" sz="1200" dirty="0">
                          <a:latin typeface="Arial Narrow" panose="020B0606020202030204" pitchFamily="34" charset="0"/>
                        </a:rPr>
                        <a:t>Calcium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b="1" dirty="0">
                          <a:solidFill>
                            <a:schemeClr val="tx1"/>
                          </a:solidFill>
                          <a:latin typeface="Arial Narrow" panose="020B0606020202030204" pitchFamily="34" charset="0"/>
                        </a:rPr>
                        <a:t>45*</a:t>
                      </a:r>
                    </a:p>
                  </a:txBody>
                  <a:tcPr/>
                </a:tc>
                <a:tc>
                  <a:txBody>
                    <a:bodyPr/>
                    <a:lstStyle/>
                    <a:p>
                      <a:pPr algn="ctr"/>
                      <a:r>
                        <a:rPr lang="en-US" sz="1200" dirty="0">
                          <a:latin typeface="Arial Narrow" panose="020B0606020202030204" pitchFamily="34" charset="0"/>
                        </a:rPr>
                        <a:t>0.3</a:t>
                      </a:r>
                    </a:p>
                  </a:txBody>
                  <a:tcPr/>
                </a:tc>
                <a:tc>
                  <a:txBody>
                    <a:bodyPr/>
                    <a:lstStyle/>
                    <a:p>
                      <a:pPr algn="ctr"/>
                      <a:r>
                        <a:rPr lang="en-US" sz="1200" dirty="0">
                          <a:latin typeface="Arial Narrow" panose="020B0606020202030204" pitchFamily="34" charset="0"/>
                        </a:rPr>
                        <a:t>0.3</a:t>
                      </a:r>
                    </a:p>
                  </a:txBody>
                  <a:tcPr/>
                </a:tc>
                <a:tc>
                  <a:txBody>
                    <a:bodyPr/>
                    <a:lstStyle/>
                    <a:p>
                      <a:pPr algn="ctr"/>
                      <a:r>
                        <a:rPr lang="en-US" sz="1200" dirty="0">
                          <a:latin typeface="Arial Narrow" panose="020B0606020202030204" pitchFamily="34" charset="0"/>
                        </a:rPr>
                        <a:t>0.2</a:t>
                      </a:r>
                    </a:p>
                  </a:txBody>
                  <a:tcPr/>
                </a:tc>
                <a:tc>
                  <a:txBody>
                    <a:bodyPr/>
                    <a:lstStyle/>
                    <a:p>
                      <a:pPr algn="ctr"/>
                      <a:r>
                        <a:rPr lang="en-US" sz="1200" dirty="0">
                          <a:latin typeface="Arial Narrow" panose="020B0606020202030204" pitchFamily="34" charset="0"/>
                        </a:rPr>
                        <a:t>0.3</a:t>
                      </a:r>
                    </a:p>
                  </a:txBody>
                  <a:tcPr/>
                </a:tc>
                <a:tc>
                  <a:txBody>
                    <a:bodyPr/>
                    <a:lstStyle/>
                    <a:p>
                      <a:pPr algn="ctr"/>
                      <a:r>
                        <a:rPr lang="en-US" sz="1200" dirty="0">
                          <a:latin typeface="Arial Narrow" panose="020B0606020202030204" pitchFamily="34" charset="0"/>
                        </a:rPr>
                        <a:t>0.2</a:t>
                      </a:r>
                    </a:p>
                  </a:txBody>
                  <a:tcPr/>
                </a:tc>
                <a:extLst>
                  <a:ext uri="{0D108BD9-81ED-4DB2-BD59-A6C34878D82A}">
                    <a16:rowId xmlns:a16="http://schemas.microsoft.com/office/drawing/2014/main" val="2922994497"/>
                  </a:ext>
                </a:extLst>
              </a:tr>
              <a:tr h="140286">
                <a:tc>
                  <a:txBody>
                    <a:bodyPr/>
                    <a:lstStyle/>
                    <a:p>
                      <a:pPr algn="ctr"/>
                      <a:r>
                        <a:rPr lang="en-US" sz="1200" dirty="0">
                          <a:latin typeface="Arial Narrow" panose="020B0606020202030204" pitchFamily="34" charset="0"/>
                        </a:rPr>
                        <a:t>Zinc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1356560186"/>
                  </a:ext>
                </a:extLst>
              </a:tr>
              <a:tr h="140286">
                <a:tc>
                  <a:txBody>
                    <a:bodyPr/>
                    <a:lstStyle/>
                    <a:p>
                      <a:pPr algn="ctr"/>
                      <a:r>
                        <a:rPr lang="en-US" sz="1200" dirty="0">
                          <a:latin typeface="Arial Narrow" panose="020B0606020202030204" pitchFamily="34" charset="0"/>
                        </a:rPr>
                        <a:t>Phosphorus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9.67</a:t>
                      </a:r>
                    </a:p>
                  </a:txBody>
                  <a:tcPr/>
                </a:tc>
                <a:tc>
                  <a:txBody>
                    <a:bodyPr/>
                    <a:lstStyle/>
                    <a:p>
                      <a:pPr algn="ctr"/>
                      <a:r>
                        <a:rPr lang="en-US" sz="1200" dirty="0">
                          <a:latin typeface="Arial Narrow" panose="020B0606020202030204" pitchFamily="34" charset="0"/>
                        </a:rPr>
                        <a:t>2.38</a:t>
                      </a:r>
                    </a:p>
                  </a:txBody>
                  <a:tcPr/>
                </a:tc>
                <a:tc>
                  <a:txBody>
                    <a:bodyPr/>
                    <a:lstStyle/>
                    <a:p>
                      <a:pPr algn="ctr"/>
                      <a:r>
                        <a:rPr lang="en-US" sz="1200" dirty="0">
                          <a:latin typeface="Arial Narrow" panose="020B0606020202030204" pitchFamily="34" charset="0"/>
                        </a:rPr>
                        <a:t>0.02</a:t>
                      </a:r>
                    </a:p>
                  </a:txBody>
                  <a:tcPr/>
                </a:tc>
                <a:tc>
                  <a:txBody>
                    <a:bodyPr/>
                    <a:lstStyle/>
                    <a:p>
                      <a:pPr algn="ctr"/>
                      <a:r>
                        <a:rPr lang="en-US" sz="1200" dirty="0">
                          <a:latin typeface="Arial Narrow" panose="020B0606020202030204" pitchFamily="34" charset="0"/>
                        </a:rPr>
                        <a:t>0.03</a:t>
                      </a:r>
                    </a:p>
                  </a:txBody>
                  <a:tcPr/>
                </a:tc>
                <a:tc>
                  <a:txBody>
                    <a:bodyPr/>
                    <a:lstStyle/>
                    <a:p>
                      <a:pPr algn="ctr"/>
                      <a:r>
                        <a:rPr lang="en-US" sz="1200" dirty="0">
                          <a:latin typeface="Arial Narrow" panose="020B0606020202030204" pitchFamily="34" charset="0"/>
                        </a:rPr>
                        <a:t>0.02</a:t>
                      </a:r>
                    </a:p>
                  </a:txBody>
                  <a:tcPr/>
                </a:tc>
                <a:tc>
                  <a:txBody>
                    <a:bodyPr/>
                    <a:lstStyle/>
                    <a:p>
                      <a:pPr algn="ctr"/>
                      <a:r>
                        <a:rPr lang="en-US" sz="1200" dirty="0">
                          <a:latin typeface="Arial Narrow" panose="020B0606020202030204" pitchFamily="34" charset="0"/>
                        </a:rPr>
                        <a:t>0.04</a:t>
                      </a:r>
                    </a:p>
                  </a:txBody>
                  <a:tcPr/>
                </a:tc>
                <a:extLst>
                  <a:ext uri="{0D108BD9-81ED-4DB2-BD59-A6C34878D82A}">
                    <a16:rowId xmlns:a16="http://schemas.microsoft.com/office/drawing/2014/main" val="385211508"/>
                  </a:ext>
                </a:extLst>
              </a:tr>
              <a:tr h="140286">
                <a:tc>
                  <a:txBody>
                    <a:bodyPr/>
                    <a:lstStyle/>
                    <a:p>
                      <a:pPr algn="ctr"/>
                      <a:r>
                        <a:rPr lang="en-US" sz="1200" dirty="0">
                          <a:latin typeface="Arial Narrow" panose="020B0606020202030204" pitchFamily="34" charset="0"/>
                        </a:rPr>
                        <a:t>Potassium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50</a:t>
                      </a:r>
                    </a:p>
                  </a:txBody>
                  <a:tcPr/>
                </a:tc>
                <a:tc>
                  <a:txBody>
                    <a:bodyPr/>
                    <a:lstStyle/>
                    <a:p>
                      <a:pPr algn="ctr"/>
                      <a:r>
                        <a:rPr lang="en-US" sz="1200" dirty="0">
                          <a:latin typeface="Arial Narrow" panose="020B0606020202030204" pitchFamily="34" charset="0"/>
                        </a:rPr>
                        <a:t>35</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2765212863"/>
                  </a:ext>
                </a:extLst>
              </a:tr>
              <a:tr h="140286">
                <a:tc>
                  <a:txBody>
                    <a:bodyPr/>
                    <a:lstStyle/>
                    <a:p>
                      <a:pPr algn="ctr"/>
                      <a:r>
                        <a:rPr lang="en-US" sz="1200" dirty="0">
                          <a:latin typeface="Arial Narrow" panose="020B0606020202030204" pitchFamily="34" charset="0"/>
                        </a:rPr>
                        <a:t>Nitrogen content (% m/m)</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rPr>
                        <a:t>Max</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0.35</a:t>
                      </a:r>
                    </a:p>
                  </a:txBody>
                  <a:tcPr/>
                </a:tc>
                <a:tc>
                  <a:txBody>
                    <a:bodyPr/>
                    <a:lstStyle/>
                    <a:p>
                      <a:pPr algn="ctr"/>
                      <a:r>
                        <a:rPr lang="en-US" sz="1200" dirty="0">
                          <a:latin typeface="Arial Narrow" panose="020B0606020202030204" pitchFamily="34" charset="0"/>
                        </a:rPr>
                        <a:t>0.15</a:t>
                      </a:r>
                    </a:p>
                  </a:txBody>
                  <a:tcPr/>
                </a:tc>
                <a:tc>
                  <a:txBody>
                    <a:bodyPr/>
                    <a:lstStyle/>
                    <a:p>
                      <a:pPr algn="ctr"/>
                      <a:r>
                        <a:rPr lang="en-US" sz="1200" dirty="0">
                          <a:latin typeface="Arial Narrow" panose="020B0606020202030204" pitchFamily="34" charset="0"/>
                        </a:rPr>
                        <a:t>0.02</a:t>
                      </a:r>
                    </a:p>
                  </a:txBody>
                  <a:tcPr/>
                </a:tc>
                <a:tc>
                  <a:txBody>
                    <a:bodyPr/>
                    <a:lstStyle/>
                    <a:p>
                      <a:pPr algn="ctr"/>
                      <a:r>
                        <a:rPr lang="en-US" sz="1200" dirty="0">
                          <a:latin typeface="Arial Narrow" panose="020B0606020202030204" pitchFamily="34" charset="0"/>
                        </a:rPr>
                        <a:t>0.09</a:t>
                      </a:r>
                    </a:p>
                  </a:txBody>
                  <a:tcPr/>
                </a:tc>
                <a:tc>
                  <a:txBody>
                    <a:bodyPr/>
                    <a:lstStyle/>
                    <a:p>
                      <a:pPr algn="ctr"/>
                      <a:r>
                        <a:rPr lang="en-US" sz="1200" dirty="0">
                          <a:latin typeface="Arial Narrow" panose="020B0606020202030204" pitchFamily="34" charset="0"/>
                        </a:rPr>
                        <a:t>0.16</a:t>
                      </a:r>
                    </a:p>
                  </a:txBody>
                  <a:tcPr/>
                </a:tc>
                <a:tc>
                  <a:txBody>
                    <a:bodyPr/>
                    <a:lstStyle/>
                    <a:p>
                      <a:pPr algn="ctr"/>
                      <a:r>
                        <a:rPr lang="en-US" sz="1200" dirty="0">
                          <a:latin typeface="Arial Narrow" panose="020B0606020202030204" pitchFamily="34" charset="0"/>
                        </a:rPr>
                        <a:t>0.09</a:t>
                      </a:r>
                    </a:p>
                  </a:txBody>
                  <a:tcPr/>
                </a:tc>
                <a:tc>
                  <a:txBody>
                    <a:bodyPr/>
                    <a:lstStyle/>
                    <a:p>
                      <a:pPr algn="ctr"/>
                      <a:r>
                        <a:rPr lang="en-US" sz="1200" dirty="0">
                          <a:latin typeface="Arial Narrow" panose="020B0606020202030204" pitchFamily="34" charset="0"/>
                        </a:rPr>
                        <a:t>0.16</a:t>
                      </a:r>
                    </a:p>
                  </a:txBody>
                  <a:tcPr/>
                </a:tc>
                <a:extLst>
                  <a:ext uri="{0D108BD9-81ED-4DB2-BD59-A6C34878D82A}">
                    <a16:rowId xmlns:a16="http://schemas.microsoft.com/office/drawing/2014/main" val="2107639319"/>
                  </a:ext>
                </a:extLst>
              </a:tr>
              <a:tr h="140286">
                <a:tc>
                  <a:txBody>
                    <a:bodyPr/>
                    <a:lstStyle/>
                    <a:p>
                      <a:pPr algn="ctr"/>
                      <a:r>
                        <a:rPr lang="en-US" sz="1200" dirty="0">
                          <a:latin typeface="Arial Narrow" panose="020B0606020202030204" pitchFamily="34" charset="0"/>
                        </a:rPr>
                        <a:t>Gross calorific value (MJ/kg)</a:t>
                      </a:r>
                    </a:p>
                  </a:txBody>
                  <a:tcPr/>
                </a:tc>
                <a:tc>
                  <a:txBody>
                    <a:bodyPr/>
                    <a:lstStyle/>
                    <a:p>
                      <a:pPr algn="ctr"/>
                      <a:r>
                        <a:rPr lang="en-US" sz="1200" dirty="0">
                          <a:latin typeface="Arial Narrow" panose="020B0606020202030204" pitchFamily="34" charset="0"/>
                        </a:rPr>
                        <a:t>Min</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39.5</a:t>
                      </a:r>
                    </a:p>
                  </a:txBody>
                  <a:tcPr/>
                </a:tc>
                <a:tc>
                  <a:txBody>
                    <a:bodyPr/>
                    <a:lstStyle/>
                    <a:p>
                      <a:pPr algn="ctr"/>
                      <a:r>
                        <a:rPr lang="en-US" sz="1200" dirty="0">
                          <a:latin typeface="Arial Narrow" panose="020B0606020202030204" pitchFamily="34" charset="0"/>
                        </a:rPr>
                        <a:t>42.4</a:t>
                      </a:r>
                    </a:p>
                  </a:txBody>
                  <a:tcPr/>
                </a:tc>
                <a:tc>
                  <a:txBody>
                    <a:bodyPr/>
                    <a:lstStyle/>
                    <a:p>
                      <a:pPr algn="ctr"/>
                      <a:r>
                        <a:rPr lang="en-US" sz="1200" b="1" dirty="0">
                          <a:solidFill>
                            <a:srgbClr val="FF0000"/>
                          </a:solidFill>
                          <a:latin typeface="Arial Narrow" panose="020B0606020202030204" pitchFamily="34" charset="0"/>
                        </a:rPr>
                        <a:t>28.1</a:t>
                      </a:r>
                    </a:p>
                  </a:txBody>
                  <a:tcPr/>
                </a:tc>
                <a:tc>
                  <a:txBody>
                    <a:bodyPr/>
                    <a:lstStyle/>
                    <a:p>
                      <a:pPr algn="ctr"/>
                      <a:r>
                        <a:rPr lang="en-US" sz="1200" b="1" dirty="0">
                          <a:solidFill>
                            <a:srgbClr val="FF0000"/>
                          </a:solidFill>
                          <a:latin typeface="Arial Narrow" panose="020B0606020202030204" pitchFamily="34" charset="0"/>
                        </a:rPr>
                        <a:t>25.3</a:t>
                      </a:r>
                    </a:p>
                  </a:txBody>
                  <a:tcPr/>
                </a:tc>
                <a:tc>
                  <a:txBody>
                    <a:bodyPr/>
                    <a:lstStyle/>
                    <a:p>
                      <a:pPr algn="ctr"/>
                      <a:r>
                        <a:rPr lang="en-US" sz="1200" b="1" dirty="0">
                          <a:solidFill>
                            <a:srgbClr val="FF0000"/>
                          </a:solidFill>
                          <a:latin typeface="Arial Narrow" panose="020B0606020202030204" pitchFamily="34" charset="0"/>
                        </a:rPr>
                        <a:t>30.2</a:t>
                      </a:r>
                    </a:p>
                  </a:txBody>
                  <a:tcPr/>
                </a:tc>
                <a:tc>
                  <a:txBody>
                    <a:bodyPr/>
                    <a:lstStyle/>
                    <a:p>
                      <a:pPr algn="ctr"/>
                      <a:r>
                        <a:rPr lang="en-US" sz="1200" b="1" dirty="0">
                          <a:solidFill>
                            <a:srgbClr val="FF0000"/>
                          </a:solidFill>
                          <a:latin typeface="Arial Narrow" panose="020B0606020202030204" pitchFamily="34" charset="0"/>
                        </a:rPr>
                        <a:t>25.2</a:t>
                      </a:r>
                    </a:p>
                  </a:txBody>
                  <a:tcPr/>
                </a:tc>
                <a:tc>
                  <a:txBody>
                    <a:bodyPr/>
                    <a:lstStyle/>
                    <a:p>
                      <a:pPr algn="ctr"/>
                      <a:r>
                        <a:rPr lang="en-US" sz="1200" b="1" dirty="0">
                          <a:solidFill>
                            <a:srgbClr val="FF0000"/>
                          </a:solidFill>
                          <a:latin typeface="Arial Narrow" panose="020B0606020202030204" pitchFamily="34" charset="0"/>
                        </a:rPr>
                        <a:t>30.0</a:t>
                      </a:r>
                    </a:p>
                  </a:txBody>
                  <a:tcPr/>
                </a:tc>
                <a:extLst>
                  <a:ext uri="{0D108BD9-81ED-4DB2-BD59-A6C34878D82A}">
                    <a16:rowId xmlns:a16="http://schemas.microsoft.com/office/drawing/2014/main" val="1808785682"/>
                  </a:ext>
                </a:extLst>
              </a:tr>
              <a:tr h="140286">
                <a:tc>
                  <a:txBody>
                    <a:bodyPr/>
                    <a:lstStyle/>
                    <a:p>
                      <a:pPr algn="ctr"/>
                      <a:r>
                        <a:rPr lang="en-US" sz="1200" dirty="0">
                          <a:latin typeface="Arial Narrow" panose="020B0606020202030204" pitchFamily="34" charset="0"/>
                        </a:rPr>
                        <a:t>Iodine value (g I</a:t>
                      </a:r>
                      <a:r>
                        <a:rPr lang="en-US" sz="1200" baseline="30000" dirty="0">
                          <a:latin typeface="Arial Narrow" panose="020B0606020202030204" pitchFamily="34" charset="0"/>
                        </a:rPr>
                        <a:t>2</a:t>
                      </a:r>
                      <a:r>
                        <a:rPr lang="en-US" sz="1200" dirty="0">
                          <a:latin typeface="Arial Narrow" panose="020B0606020202030204" pitchFamily="34" charset="0"/>
                        </a:rPr>
                        <a:t>/100 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300</a:t>
                      </a:r>
                    </a:p>
                  </a:txBody>
                  <a:tcPr/>
                </a:tc>
                <a:tc>
                  <a:txBody>
                    <a:bodyPr/>
                    <a:lstStyle/>
                    <a:p>
                      <a:pPr algn="ctr"/>
                      <a:r>
                        <a:rPr lang="en-US" sz="1200" dirty="0">
                          <a:latin typeface="Arial Narrow" panose="020B0606020202030204" pitchFamily="34" charset="0"/>
                        </a:rPr>
                        <a:t>8.5</a:t>
                      </a:r>
                    </a:p>
                  </a:txBody>
                  <a:tcPr/>
                </a:tc>
                <a:tc>
                  <a:txBody>
                    <a:bodyPr/>
                    <a:lstStyle/>
                    <a:p>
                      <a:pPr algn="ctr"/>
                      <a:r>
                        <a:rPr lang="en-US" sz="1200" dirty="0">
                          <a:latin typeface="Arial Narrow" panose="020B0606020202030204" pitchFamily="34" charset="0"/>
                        </a:rPr>
                        <a:t>47.0</a:t>
                      </a:r>
                    </a:p>
                  </a:txBody>
                  <a:tcPr/>
                </a:tc>
                <a:tc>
                  <a:txBody>
                    <a:bodyPr/>
                    <a:lstStyle/>
                    <a:p>
                      <a:pPr algn="ctr"/>
                      <a:r>
                        <a:rPr lang="en-US" sz="1200" dirty="0">
                          <a:latin typeface="Arial Narrow" panose="020B0606020202030204" pitchFamily="34" charset="0"/>
                        </a:rPr>
                        <a:t>48.4</a:t>
                      </a:r>
                    </a:p>
                  </a:txBody>
                  <a:tcPr/>
                </a:tc>
                <a:tc>
                  <a:txBody>
                    <a:bodyPr/>
                    <a:lstStyle/>
                    <a:p>
                      <a:pPr algn="ctr"/>
                      <a:r>
                        <a:rPr lang="en-US" sz="1200" dirty="0">
                          <a:latin typeface="Arial Narrow" panose="020B0606020202030204" pitchFamily="34" charset="0"/>
                        </a:rPr>
                        <a:t>47.8</a:t>
                      </a:r>
                    </a:p>
                  </a:txBody>
                  <a:tcPr/>
                </a:tc>
                <a:tc>
                  <a:txBody>
                    <a:bodyPr/>
                    <a:lstStyle/>
                    <a:p>
                      <a:pPr algn="ctr"/>
                      <a:r>
                        <a:rPr lang="en-US" sz="1200" dirty="0">
                          <a:latin typeface="Arial Narrow" panose="020B0606020202030204" pitchFamily="34" charset="0"/>
                        </a:rPr>
                        <a:t>32.3</a:t>
                      </a:r>
                    </a:p>
                  </a:txBody>
                  <a:tcPr/>
                </a:tc>
                <a:tc>
                  <a:txBody>
                    <a:bodyPr/>
                    <a:lstStyle/>
                    <a:p>
                      <a:pPr algn="ctr"/>
                      <a:r>
                        <a:rPr lang="en-US" sz="1200" dirty="0">
                          <a:latin typeface="Arial Narrow" panose="020B0606020202030204" pitchFamily="34" charset="0"/>
                        </a:rPr>
                        <a:t>35.8</a:t>
                      </a:r>
                    </a:p>
                  </a:txBody>
                  <a:tcPr/>
                </a:tc>
                <a:extLst>
                  <a:ext uri="{0D108BD9-81ED-4DB2-BD59-A6C34878D82A}">
                    <a16:rowId xmlns:a16="http://schemas.microsoft.com/office/drawing/2014/main" val="2216760665"/>
                  </a:ext>
                </a:extLst>
              </a:tr>
              <a:tr h="140286">
                <a:tc>
                  <a:txBody>
                    <a:bodyPr/>
                    <a:lstStyle/>
                    <a:p>
                      <a:pPr algn="ctr"/>
                      <a:r>
                        <a:rPr lang="en-US" sz="1200" dirty="0">
                          <a:latin typeface="Arial Narrow" panose="020B0606020202030204" pitchFamily="34" charset="0"/>
                        </a:rPr>
                        <a:t>Chlorine content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rPr>
                        <a:t>Max</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1215</a:t>
                      </a:r>
                    </a:p>
                  </a:txBody>
                  <a:tcPr/>
                </a:tc>
                <a:tc>
                  <a:txBody>
                    <a:bodyPr/>
                    <a:lstStyle/>
                    <a:p>
                      <a:pPr algn="ctr"/>
                      <a:r>
                        <a:rPr lang="en-US" sz="1200" dirty="0">
                          <a:latin typeface="Arial Narrow" panose="020B0606020202030204" pitchFamily="34" charset="0"/>
                        </a:rPr>
                        <a:t>1835</a:t>
                      </a:r>
                    </a:p>
                  </a:txBody>
                  <a:tcPr/>
                </a:tc>
                <a:tc>
                  <a:txBody>
                    <a:bodyPr/>
                    <a:lstStyle/>
                    <a:p>
                      <a:pPr algn="ctr"/>
                      <a:r>
                        <a:rPr lang="en-US" sz="1200" dirty="0">
                          <a:latin typeface="Arial Narrow" panose="020B0606020202030204" pitchFamily="34" charset="0"/>
                        </a:rPr>
                        <a:t>95</a:t>
                      </a:r>
                    </a:p>
                  </a:txBody>
                  <a:tcPr/>
                </a:tc>
                <a:tc>
                  <a:txBody>
                    <a:bodyPr/>
                    <a:lstStyle/>
                    <a:p>
                      <a:pPr algn="ctr"/>
                      <a:r>
                        <a:rPr lang="en-US" sz="1200" dirty="0">
                          <a:latin typeface="Arial Narrow" panose="020B0606020202030204" pitchFamily="34" charset="0"/>
                        </a:rPr>
                        <a:t>29</a:t>
                      </a:r>
                    </a:p>
                  </a:txBody>
                  <a:tcPr/>
                </a:tc>
                <a:tc>
                  <a:txBody>
                    <a:bodyPr/>
                    <a:lstStyle/>
                    <a:p>
                      <a:pPr algn="ctr"/>
                      <a:r>
                        <a:rPr lang="en-US" sz="1200" dirty="0">
                          <a:latin typeface="Arial Narrow" panose="020B0606020202030204" pitchFamily="34" charset="0"/>
                        </a:rPr>
                        <a:t>95</a:t>
                      </a:r>
                    </a:p>
                  </a:txBody>
                  <a:tcPr/>
                </a:tc>
                <a:tc>
                  <a:txBody>
                    <a:bodyPr/>
                    <a:lstStyle/>
                    <a:p>
                      <a:pPr algn="ctr"/>
                      <a:r>
                        <a:rPr lang="en-US" sz="1200" dirty="0">
                          <a:latin typeface="Arial Narrow" panose="020B0606020202030204" pitchFamily="34" charset="0"/>
                        </a:rPr>
                        <a:t>29</a:t>
                      </a:r>
                    </a:p>
                  </a:txBody>
                  <a:tcPr/>
                </a:tc>
                <a:extLst>
                  <a:ext uri="{0D108BD9-81ED-4DB2-BD59-A6C34878D82A}">
                    <a16:rowId xmlns:a16="http://schemas.microsoft.com/office/drawing/2014/main" val="1504747927"/>
                  </a:ext>
                </a:extLst>
              </a:tr>
            </a:tbl>
          </a:graphicData>
        </a:graphic>
      </p:graphicFrame>
      <p:sp>
        <p:nvSpPr>
          <p:cNvPr id="7" name="Rectangle 6">
            <a:extLst>
              <a:ext uri="{FF2B5EF4-FFF2-40B4-BE49-F238E27FC236}">
                <a16:creationId xmlns:a16="http://schemas.microsoft.com/office/drawing/2014/main" id="{8D3A0F41-63F1-4FC7-A927-A8FEA5290DEF}"/>
              </a:ext>
            </a:extLst>
          </p:cNvPr>
          <p:cNvSpPr/>
          <p:nvPr/>
        </p:nvSpPr>
        <p:spPr>
          <a:xfrm>
            <a:off x="276199" y="171366"/>
            <a:ext cx="8157217" cy="543354"/>
          </a:xfrm>
          <a:prstGeom prst="rect">
            <a:avLst/>
          </a:prstGeom>
        </p:spPr>
        <p:txBody>
          <a:bodyPr wrap="square">
            <a:spAutoFit/>
          </a:bodyPr>
          <a:lstStyle/>
          <a:p>
            <a:pPr lvl="1">
              <a:lnSpc>
                <a:spcPct val="115000"/>
              </a:lnSpc>
              <a:spcAft>
                <a:spcPts val="800"/>
              </a:spcAft>
            </a:pPr>
            <a:r>
              <a:rPr lang="en-US" sz="2800" b="1" kern="100" dirty="0">
                <a:solidFill>
                  <a:srgbClr val="266F8B"/>
                </a:solidFill>
                <a:latin typeface="Arial Narrow" panose="020B0606020202030204" pitchFamily="34" charset="0"/>
                <a:ea typeface="DengXian" panose="02010600030101010101" pitchFamily="2" charset="-122"/>
                <a:cs typeface="Times New Roman" panose="02020603050405020304" pitchFamily="18" charset="0"/>
              </a:rPr>
              <a:t>DISTILLATE CHARACTERISTICS AND STABILITY</a:t>
            </a:r>
            <a:endParaRPr lang="en-MY" sz="2400" b="1" kern="100" dirty="0">
              <a:solidFill>
                <a:srgbClr val="266F8B"/>
              </a:solidFill>
              <a:effectLst/>
              <a:latin typeface="Arial Narrow" panose="020B0606020202030204" pitchFamily="34" charset="0"/>
              <a:ea typeface="DengXian"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7BB49455-8ADB-44B1-A3F8-F8428D8A7140}"/>
              </a:ext>
            </a:extLst>
          </p:cNvPr>
          <p:cNvSpPr txBox="1"/>
          <p:nvPr/>
        </p:nvSpPr>
        <p:spPr>
          <a:xfrm>
            <a:off x="276198" y="5626055"/>
            <a:ext cx="9156559" cy="461665"/>
          </a:xfrm>
          <a:prstGeom prst="rect">
            <a:avLst/>
          </a:prstGeom>
          <a:noFill/>
          <a:ln>
            <a:noFill/>
          </a:ln>
        </p:spPr>
        <p:txBody>
          <a:bodyPr wrap="square" rtlCol="0">
            <a:spAutoFit/>
          </a:bodyPr>
          <a:lstStyle/>
          <a:p>
            <a:r>
              <a:rPr lang="en-US" sz="1200" i="1" dirty="0">
                <a:solidFill>
                  <a:schemeClr val="tx1"/>
                </a:solidFill>
                <a:latin typeface="Arial Narrow" panose="020B0606020202030204" pitchFamily="34" charset="0"/>
                <a:cs typeface="Times New Roman" panose="02020603050405020304" pitchFamily="18" charset="0"/>
              </a:rPr>
              <a:t>*Remark: density assumed to be 991 kg/m3 due to limitation of equipment</a:t>
            </a:r>
          </a:p>
          <a:p>
            <a:r>
              <a:rPr lang="en-US" sz="1200" i="1" dirty="0">
                <a:solidFill>
                  <a:schemeClr val="tx1"/>
                </a:solidFill>
                <a:latin typeface="Arial Narrow" panose="020B0606020202030204" pitchFamily="34" charset="0"/>
                <a:cs typeface="Times New Roman" panose="02020603050405020304" pitchFamily="18" charset="0"/>
              </a:rPr>
              <a:t>*Remark: Only fails when Ca &gt;30 and Zn or P&gt;15, considered as the presence of used lubricating oil (ULO)</a:t>
            </a:r>
          </a:p>
        </p:txBody>
      </p:sp>
      <p:sp>
        <p:nvSpPr>
          <p:cNvPr id="9" name="Rectangle 8">
            <a:extLst>
              <a:ext uri="{FF2B5EF4-FFF2-40B4-BE49-F238E27FC236}">
                <a16:creationId xmlns:a16="http://schemas.microsoft.com/office/drawing/2014/main" id="{C19EA088-485A-40B0-BD29-493B7AD94F9A}"/>
              </a:ext>
            </a:extLst>
          </p:cNvPr>
          <p:cNvSpPr/>
          <p:nvPr/>
        </p:nvSpPr>
        <p:spPr>
          <a:xfrm>
            <a:off x="1029903" y="6087719"/>
            <a:ext cx="9500135" cy="6938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Arial" panose="020B0604020202020204" pitchFamily="34" charset="0"/>
              <a:buChar char="•"/>
            </a:pPr>
            <a:r>
              <a:rPr lang="en-US" dirty="0">
                <a:solidFill>
                  <a:srgbClr val="FF0000"/>
                </a:solidFill>
                <a:latin typeface="Arial Narrow" panose="020B0606020202030204" pitchFamily="34" charset="0"/>
              </a:rPr>
              <a:t>Bio-oil and distillate fractions have slightly higher density than specifications</a:t>
            </a:r>
          </a:p>
          <a:p>
            <a:pPr marL="285750" indent="-285750" algn="ctr">
              <a:buClr>
                <a:srgbClr val="FF0000"/>
              </a:buClr>
              <a:buFont typeface="Arial" panose="020B0604020202020204" pitchFamily="34" charset="0"/>
              <a:buChar char="•"/>
            </a:pPr>
            <a:r>
              <a:rPr lang="en-US" dirty="0">
                <a:solidFill>
                  <a:srgbClr val="FF0000"/>
                </a:solidFill>
                <a:latin typeface="Arial Narrow" panose="020B0606020202030204" pitchFamily="34" charset="0"/>
              </a:rPr>
              <a:t>Very poor performance in water content and acid value</a:t>
            </a:r>
          </a:p>
          <a:p>
            <a:pPr marL="285750" indent="-285750" algn="ctr">
              <a:buClr>
                <a:srgbClr val="FF0000"/>
              </a:buClr>
              <a:buFont typeface="Arial" panose="020B0604020202020204" pitchFamily="34" charset="0"/>
              <a:buChar char="•"/>
            </a:pPr>
            <a:r>
              <a:rPr lang="en-US" dirty="0">
                <a:solidFill>
                  <a:srgbClr val="FF0000"/>
                </a:solidFill>
                <a:latin typeface="Arial Narrow" panose="020B0606020202030204" pitchFamily="34" charset="0"/>
              </a:rPr>
              <a:t>Aging does not change properties significantly </a:t>
            </a:r>
          </a:p>
        </p:txBody>
      </p:sp>
      <p:sp>
        <p:nvSpPr>
          <p:cNvPr id="10" name="Google Shape;408;p8">
            <a:extLst>
              <a:ext uri="{FF2B5EF4-FFF2-40B4-BE49-F238E27FC236}">
                <a16:creationId xmlns:a16="http://schemas.microsoft.com/office/drawing/2014/main" id="{D7E2629D-BEF0-4846-9751-D90455903FE5}"/>
              </a:ext>
            </a:extLst>
          </p:cNvPr>
          <p:cNvSpPr txBox="1"/>
          <p:nvPr/>
        </p:nvSpPr>
        <p:spPr>
          <a:xfrm>
            <a:off x="11661653" y="6326357"/>
            <a:ext cx="442072" cy="561294"/>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MY" sz="1800">
                <a:solidFill>
                  <a:schemeClr val="dk1"/>
                </a:solidFill>
                <a:latin typeface="Arial Narrow" panose="020B0606020202030204" pitchFamily="34" charset="0"/>
                <a:ea typeface="Times New Roman"/>
                <a:cs typeface="Times New Roman" panose="02020603050405020304" pitchFamily="18" charset="0"/>
                <a:sym typeface="Times New Roman"/>
              </a:rPr>
              <a:t>8</a:t>
            </a:fld>
            <a:endParaRPr sz="1800" dirty="0">
              <a:solidFill>
                <a:schemeClr val="dk1"/>
              </a:solidFill>
              <a:latin typeface="Arial Narrow" panose="020B0606020202030204" pitchFamily="34"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002429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2D57E4D5-0B43-F508-E604-5FD9E3399F0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8EBB4D1-E942-C8E6-B8F5-B389B399594D}"/>
              </a:ext>
            </a:extLst>
          </p:cNvPr>
          <p:cNvGrpSpPr/>
          <p:nvPr/>
        </p:nvGrpSpPr>
        <p:grpSpPr>
          <a:xfrm>
            <a:off x="9524044" y="158707"/>
            <a:ext cx="2501548" cy="681449"/>
            <a:chOff x="379112" y="211966"/>
            <a:chExt cx="4332538" cy="1180231"/>
          </a:xfrm>
        </p:grpSpPr>
        <p:grpSp>
          <p:nvGrpSpPr>
            <p:cNvPr id="109" name="Google Shape;109;p2">
              <a:extLst>
                <a:ext uri="{FF2B5EF4-FFF2-40B4-BE49-F238E27FC236}">
                  <a16:creationId xmlns:a16="http://schemas.microsoft.com/office/drawing/2014/main" id="{EBD35E3E-6823-734D-6B01-DE7570A2F169}"/>
                </a:ext>
              </a:extLst>
            </p:cNvPr>
            <p:cNvGrpSpPr/>
            <p:nvPr/>
          </p:nvGrpSpPr>
          <p:grpSpPr>
            <a:xfrm>
              <a:off x="379112" y="211966"/>
              <a:ext cx="3879542" cy="1180231"/>
              <a:chOff x="379112" y="211966"/>
              <a:chExt cx="3879542" cy="1180231"/>
            </a:xfrm>
          </p:grpSpPr>
          <p:sp>
            <p:nvSpPr>
              <p:cNvPr id="110" name="Google Shape;110;p2">
                <a:extLst>
                  <a:ext uri="{FF2B5EF4-FFF2-40B4-BE49-F238E27FC236}">
                    <a16:creationId xmlns:a16="http://schemas.microsoft.com/office/drawing/2014/main" id="{E0252C30-659A-99C0-1702-B2BD1C2818C1}"/>
                  </a:ext>
                </a:extLst>
              </p:cNvPr>
              <p:cNvSpPr/>
              <p:nvPr/>
            </p:nvSpPr>
            <p:spPr>
              <a:xfrm>
                <a:off x="379112" y="211966"/>
                <a:ext cx="3879542" cy="11802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Narrow" panose="020B0606020202030204" pitchFamily="34" charset="0"/>
                  <a:ea typeface="Calibri"/>
                  <a:cs typeface="Times New Roman" panose="02020603050405020304" pitchFamily="18" charset="0"/>
                  <a:sym typeface="Calibri"/>
                </a:endParaRPr>
              </a:p>
            </p:txBody>
          </p:sp>
          <p:pic>
            <p:nvPicPr>
              <p:cNvPr id="111" name="Google Shape;111;p2">
                <a:extLst>
                  <a:ext uri="{FF2B5EF4-FFF2-40B4-BE49-F238E27FC236}">
                    <a16:creationId xmlns:a16="http://schemas.microsoft.com/office/drawing/2014/main" id="{AA64A1FF-5910-E40B-4277-2626C986B9D7}"/>
                  </a:ext>
                </a:extLst>
              </p:cNvPr>
              <p:cNvPicPr preferRelativeResize="0"/>
              <p:nvPr/>
            </p:nvPicPr>
            <p:blipFill rotWithShape="1">
              <a:blip r:embed="rId3">
                <a:alphaModFix/>
              </a:blip>
              <a:srcRect l="24509" t="38095" r="25847" b="41919"/>
              <a:stretch/>
            </p:blipFill>
            <p:spPr>
              <a:xfrm>
                <a:off x="1021025" y="981076"/>
                <a:ext cx="873760" cy="246380"/>
              </a:xfrm>
              <a:prstGeom prst="rect">
                <a:avLst/>
              </a:prstGeom>
              <a:noFill/>
              <a:ln>
                <a:noFill/>
              </a:ln>
            </p:spPr>
          </p:pic>
          <p:pic>
            <p:nvPicPr>
              <p:cNvPr id="112" name="Google Shape;112;p2">
                <a:extLst>
                  <a:ext uri="{FF2B5EF4-FFF2-40B4-BE49-F238E27FC236}">
                    <a16:creationId xmlns:a16="http://schemas.microsoft.com/office/drawing/2014/main" id="{E18A950F-9B58-CDA8-7D4B-F45786DBA4F2}"/>
                  </a:ext>
                </a:extLst>
              </p:cNvPr>
              <p:cNvPicPr preferRelativeResize="0"/>
              <p:nvPr/>
            </p:nvPicPr>
            <p:blipFill rotWithShape="1">
              <a:blip r:embed="rId4">
                <a:alphaModFix/>
              </a:blip>
              <a:srcRect l="14368" t="29011" r="21723" b="32612"/>
              <a:stretch/>
            </p:blipFill>
            <p:spPr>
              <a:xfrm>
                <a:off x="466670" y="359411"/>
                <a:ext cx="1945005" cy="622300"/>
              </a:xfrm>
              <a:prstGeom prst="rect">
                <a:avLst/>
              </a:prstGeom>
              <a:noFill/>
              <a:ln>
                <a:noFill/>
              </a:ln>
            </p:spPr>
          </p:pic>
          <p:cxnSp>
            <p:nvCxnSpPr>
              <p:cNvPr id="113" name="Google Shape;113;p2">
                <a:extLst>
                  <a:ext uri="{FF2B5EF4-FFF2-40B4-BE49-F238E27FC236}">
                    <a16:creationId xmlns:a16="http://schemas.microsoft.com/office/drawing/2014/main" id="{6B15F9D6-F283-8DD5-B984-2E70325D0339}"/>
                  </a:ext>
                </a:extLst>
              </p:cNvPr>
              <p:cNvCxnSpPr/>
              <p:nvPr/>
            </p:nvCxnSpPr>
            <p:spPr>
              <a:xfrm>
                <a:off x="2573706" y="359411"/>
                <a:ext cx="0" cy="868045"/>
              </a:xfrm>
              <a:prstGeom prst="straightConnector1">
                <a:avLst/>
              </a:prstGeom>
              <a:noFill/>
              <a:ln w="28575" cap="flat" cmpd="sng">
                <a:solidFill>
                  <a:schemeClr val="dk1"/>
                </a:solidFill>
                <a:prstDash val="solid"/>
                <a:miter lim="800000"/>
                <a:headEnd type="none" w="sm" len="sm"/>
                <a:tailEnd type="none" w="sm" len="sm"/>
              </a:ln>
            </p:spPr>
          </p:cxnSp>
        </p:grpSp>
        <p:pic>
          <p:nvPicPr>
            <p:cNvPr id="114" name="Google Shape;114;p2">
              <a:extLst>
                <a:ext uri="{FF2B5EF4-FFF2-40B4-BE49-F238E27FC236}">
                  <a16:creationId xmlns:a16="http://schemas.microsoft.com/office/drawing/2014/main" id="{D9A5E067-94A7-6EBC-EB23-5EB4E8573251}"/>
                </a:ext>
              </a:extLst>
            </p:cNvPr>
            <p:cNvPicPr preferRelativeResize="0"/>
            <p:nvPr/>
          </p:nvPicPr>
          <p:blipFill rotWithShape="1">
            <a:blip r:embed="rId5">
              <a:alphaModFix/>
            </a:blip>
            <a:srcRect l="14901" t="32358" r="15890" b="28755"/>
            <a:stretch/>
          </p:blipFill>
          <p:spPr>
            <a:xfrm>
              <a:off x="2573706" y="312931"/>
              <a:ext cx="2137944" cy="961003"/>
            </a:xfrm>
            <a:prstGeom prst="rect">
              <a:avLst/>
            </a:prstGeom>
            <a:noFill/>
            <a:ln>
              <a:noFill/>
            </a:ln>
          </p:spPr>
        </p:pic>
      </p:grpSp>
      <p:sp>
        <p:nvSpPr>
          <p:cNvPr id="3" name="Rectangle 2">
            <a:extLst>
              <a:ext uri="{FF2B5EF4-FFF2-40B4-BE49-F238E27FC236}">
                <a16:creationId xmlns:a16="http://schemas.microsoft.com/office/drawing/2014/main" id="{B398EE28-06AD-42FE-1682-C6C3390F1504}"/>
              </a:ext>
            </a:extLst>
          </p:cNvPr>
          <p:cNvSpPr/>
          <p:nvPr/>
        </p:nvSpPr>
        <p:spPr>
          <a:xfrm>
            <a:off x="276199" y="171366"/>
            <a:ext cx="8157217" cy="543354"/>
          </a:xfrm>
          <a:prstGeom prst="rect">
            <a:avLst/>
          </a:prstGeom>
        </p:spPr>
        <p:txBody>
          <a:bodyPr wrap="square">
            <a:spAutoFit/>
          </a:bodyPr>
          <a:lstStyle/>
          <a:p>
            <a:pPr lvl="1">
              <a:lnSpc>
                <a:spcPct val="115000"/>
              </a:lnSpc>
              <a:spcAft>
                <a:spcPts val="800"/>
              </a:spcAft>
            </a:pPr>
            <a:r>
              <a:rPr lang="en-US" sz="2800" b="1" kern="100" dirty="0">
                <a:solidFill>
                  <a:srgbClr val="266F8B"/>
                </a:solidFill>
                <a:latin typeface="Arial Narrow" panose="020B0606020202030204" pitchFamily="34" charset="0"/>
                <a:ea typeface="DengXian" panose="02010600030101010101" pitchFamily="2" charset="-122"/>
                <a:cs typeface="Times New Roman" panose="02020603050405020304" pitchFamily="18" charset="0"/>
              </a:rPr>
              <a:t>BLENDING RATIO DETERMINATION</a:t>
            </a:r>
            <a:endParaRPr lang="en-MY" sz="2400" b="1" kern="100" dirty="0">
              <a:solidFill>
                <a:srgbClr val="266F8B"/>
              </a:solidFill>
              <a:effectLst/>
              <a:latin typeface="Arial Narrow" panose="020B0606020202030204" pitchFamily="34" charset="0"/>
              <a:ea typeface="DengXian" panose="02010600030101010101" pitchFamily="2" charset="-122"/>
              <a:cs typeface="Times New Roman" panose="02020603050405020304" pitchFamily="18" charset="0"/>
            </a:endParaRPr>
          </a:p>
        </p:txBody>
      </p:sp>
      <p:pic>
        <p:nvPicPr>
          <p:cNvPr id="22" name="Google Shape;86;p13" descr="image.png">
            <a:extLst>
              <a:ext uri="{FF2B5EF4-FFF2-40B4-BE49-F238E27FC236}">
                <a16:creationId xmlns:a16="http://schemas.microsoft.com/office/drawing/2014/main" id="{C047D7DA-3B9F-4887-8C69-A255D540E270}"/>
              </a:ext>
            </a:extLst>
          </p:cNvPr>
          <p:cNvPicPr preferRelativeResize="0"/>
          <p:nvPr/>
        </p:nvPicPr>
        <p:blipFill rotWithShape="1">
          <a:blip r:embed="rId6">
            <a:alphaModFix/>
          </a:blip>
          <a:srcRect/>
          <a:stretch/>
        </p:blipFill>
        <p:spPr>
          <a:xfrm>
            <a:off x="493367" y="962088"/>
            <a:ext cx="5381625" cy="2375892"/>
          </a:xfrm>
          <a:prstGeom prst="rect">
            <a:avLst/>
          </a:prstGeom>
          <a:noFill/>
          <a:ln>
            <a:noFill/>
          </a:ln>
        </p:spPr>
      </p:pic>
      <p:pic>
        <p:nvPicPr>
          <p:cNvPr id="23" name="Google Shape;87;p13" descr="image.png">
            <a:extLst>
              <a:ext uri="{FF2B5EF4-FFF2-40B4-BE49-F238E27FC236}">
                <a16:creationId xmlns:a16="http://schemas.microsoft.com/office/drawing/2014/main" id="{FECF8976-9820-4633-A53A-999F42051809}"/>
              </a:ext>
            </a:extLst>
          </p:cNvPr>
          <p:cNvPicPr preferRelativeResize="0"/>
          <p:nvPr/>
        </p:nvPicPr>
        <p:blipFill rotWithShape="1">
          <a:blip r:embed="rId7">
            <a:alphaModFix/>
          </a:blip>
          <a:srcRect/>
          <a:stretch/>
        </p:blipFill>
        <p:spPr>
          <a:xfrm>
            <a:off x="6160742" y="962088"/>
            <a:ext cx="5381625" cy="2375892"/>
          </a:xfrm>
          <a:prstGeom prst="rect">
            <a:avLst/>
          </a:prstGeom>
          <a:noFill/>
          <a:ln>
            <a:noFill/>
          </a:ln>
        </p:spPr>
      </p:pic>
      <p:pic>
        <p:nvPicPr>
          <p:cNvPr id="24" name="Google Shape;88;p13" descr="image.png">
            <a:extLst>
              <a:ext uri="{FF2B5EF4-FFF2-40B4-BE49-F238E27FC236}">
                <a16:creationId xmlns:a16="http://schemas.microsoft.com/office/drawing/2014/main" id="{9DFFC170-C7BC-4803-BAB9-98C3D54AA46E}"/>
              </a:ext>
            </a:extLst>
          </p:cNvPr>
          <p:cNvPicPr preferRelativeResize="0"/>
          <p:nvPr/>
        </p:nvPicPr>
        <p:blipFill rotWithShape="1">
          <a:blip r:embed="rId8">
            <a:alphaModFix/>
          </a:blip>
          <a:srcRect/>
          <a:stretch/>
        </p:blipFill>
        <p:spPr>
          <a:xfrm>
            <a:off x="493367" y="3526833"/>
            <a:ext cx="5381625" cy="2650184"/>
          </a:xfrm>
          <a:prstGeom prst="rect">
            <a:avLst/>
          </a:prstGeom>
          <a:noFill/>
          <a:ln>
            <a:noFill/>
          </a:ln>
        </p:spPr>
      </p:pic>
      <p:pic>
        <p:nvPicPr>
          <p:cNvPr id="25" name="Google Shape;89;p13" descr="image.png">
            <a:extLst>
              <a:ext uri="{FF2B5EF4-FFF2-40B4-BE49-F238E27FC236}">
                <a16:creationId xmlns:a16="http://schemas.microsoft.com/office/drawing/2014/main" id="{F393F759-CE01-4E00-A2BC-CE03ED139756}"/>
              </a:ext>
            </a:extLst>
          </p:cNvPr>
          <p:cNvPicPr preferRelativeResize="0"/>
          <p:nvPr/>
        </p:nvPicPr>
        <p:blipFill rotWithShape="1">
          <a:blip r:embed="rId9">
            <a:alphaModFix/>
          </a:blip>
          <a:srcRect/>
          <a:stretch/>
        </p:blipFill>
        <p:spPr>
          <a:xfrm>
            <a:off x="6160742" y="3526833"/>
            <a:ext cx="5381625" cy="2650184"/>
          </a:xfrm>
          <a:prstGeom prst="rect">
            <a:avLst/>
          </a:prstGeom>
          <a:noFill/>
          <a:ln>
            <a:noFill/>
          </a:ln>
        </p:spPr>
      </p:pic>
      <p:pic>
        <p:nvPicPr>
          <p:cNvPr id="27" name="Google Shape;94;p13" descr="image.png">
            <a:extLst>
              <a:ext uri="{FF2B5EF4-FFF2-40B4-BE49-F238E27FC236}">
                <a16:creationId xmlns:a16="http://schemas.microsoft.com/office/drawing/2014/main" id="{E933665D-56D4-4D8F-AAA6-4904F7EC1262}"/>
              </a:ext>
            </a:extLst>
          </p:cNvPr>
          <p:cNvPicPr preferRelativeResize="0"/>
          <p:nvPr/>
        </p:nvPicPr>
        <p:blipFill rotWithShape="1">
          <a:blip r:embed="rId10">
            <a:alphaModFix/>
          </a:blip>
          <a:srcRect/>
          <a:stretch/>
        </p:blipFill>
        <p:spPr>
          <a:xfrm>
            <a:off x="5917854" y="2503222"/>
            <a:ext cx="200025" cy="228600"/>
          </a:xfrm>
          <a:prstGeom prst="rect">
            <a:avLst/>
          </a:prstGeom>
          <a:noFill/>
          <a:ln>
            <a:noFill/>
          </a:ln>
        </p:spPr>
      </p:pic>
      <p:pic>
        <p:nvPicPr>
          <p:cNvPr id="28" name="Google Shape;95;p13" descr="image.png">
            <a:extLst>
              <a:ext uri="{FF2B5EF4-FFF2-40B4-BE49-F238E27FC236}">
                <a16:creationId xmlns:a16="http://schemas.microsoft.com/office/drawing/2014/main" id="{4A042440-3B38-48D6-819E-2CC436AC94AD}"/>
              </a:ext>
            </a:extLst>
          </p:cNvPr>
          <p:cNvPicPr preferRelativeResize="0"/>
          <p:nvPr/>
        </p:nvPicPr>
        <p:blipFill rotWithShape="1">
          <a:blip r:embed="rId11">
            <a:alphaModFix/>
          </a:blip>
          <a:srcRect/>
          <a:stretch/>
        </p:blipFill>
        <p:spPr>
          <a:xfrm rot="19036200">
            <a:off x="5791389" y="3345260"/>
            <a:ext cx="436391" cy="201216"/>
          </a:xfrm>
          <a:prstGeom prst="rect">
            <a:avLst/>
          </a:prstGeom>
          <a:noFill/>
          <a:ln>
            <a:noFill/>
          </a:ln>
        </p:spPr>
      </p:pic>
      <p:pic>
        <p:nvPicPr>
          <p:cNvPr id="29" name="Google Shape;96;p13" descr="image.png">
            <a:extLst>
              <a:ext uri="{FF2B5EF4-FFF2-40B4-BE49-F238E27FC236}">
                <a16:creationId xmlns:a16="http://schemas.microsoft.com/office/drawing/2014/main" id="{2A4E661E-EE90-4A0D-B3E1-E49FB4DA1FEE}"/>
              </a:ext>
            </a:extLst>
          </p:cNvPr>
          <p:cNvPicPr preferRelativeResize="0"/>
          <p:nvPr/>
        </p:nvPicPr>
        <p:blipFill rotWithShape="1">
          <a:blip r:embed="rId12">
            <a:alphaModFix/>
          </a:blip>
          <a:srcRect/>
          <a:stretch/>
        </p:blipFill>
        <p:spPr>
          <a:xfrm>
            <a:off x="5917854" y="4767612"/>
            <a:ext cx="200025" cy="228600"/>
          </a:xfrm>
          <a:prstGeom prst="rect">
            <a:avLst/>
          </a:prstGeom>
          <a:noFill/>
          <a:ln>
            <a:noFill/>
          </a:ln>
        </p:spPr>
      </p:pic>
      <p:sp>
        <p:nvSpPr>
          <p:cNvPr id="31" name="Google Shape;98;p13">
            <a:extLst>
              <a:ext uri="{FF2B5EF4-FFF2-40B4-BE49-F238E27FC236}">
                <a16:creationId xmlns:a16="http://schemas.microsoft.com/office/drawing/2014/main" id="{AE567AF7-CD33-45A2-93C7-7BABE56D1166}"/>
              </a:ext>
            </a:extLst>
          </p:cNvPr>
          <p:cNvSpPr txBox="1"/>
          <p:nvPr/>
        </p:nvSpPr>
        <p:spPr>
          <a:xfrm>
            <a:off x="741017" y="1828862"/>
            <a:ext cx="4886325"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Arial Narrow" panose="020B0606020202030204" pitchFamily="34" charset="0"/>
                <a:ea typeface="Lato"/>
                <a:cs typeface="Lato"/>
                <a:sym typeface="Lato"/>
              </a:rPr>
              <a:t>Distillate Fractions Analyzed:</a:t>
            </a:r>
            <a:endParaRPr>
              <a:latin typeface="Arial Narrow" panose="020B0606020202030204" pitchFamily="34" charset="0"/>
            </a:endParaRPr>
          </a:p>
        </p:txBody>
      </p:sp>
      <p:sp>
        <p:nvSpPr>
          <p:cNvPr id="33" name="Google Shape;100;p13">
            <a:extLst>
              <a:ext uri="{FF2B5EF4-FFF2-40B4-BE49-F238E27FC236}">
                <a16:creationId xmlns:a16="http://schemas.microsoft.com/office/drawing/2014/main" id="{C01DA417-8F3F-4B62-9665-7E36F88A5D70}"/>
              </a:ext>
            </a:extLst>
          </p:cNvPr>
          <p:cNvSpPr txBox="1"/>
          <p:nvPr/>
        </p:nvSpPr>
        <p:spPr>
          <a:xfrm>
            <a:off x="6408392" y="1828862"/>
            <a:ext cx="5042591"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dirty="0">
                <a:solidFill>
                  <a:srgbClr val="334155"/>
                </a:solidFill>
                <a:latin typeface="Arial Narrow" panose="020B0606020202030204" pitchFamily="34" charset="0"/>
                <a:ea typeface="Lato"/>
                <a:cs typeface="Lato"/>
                <a:sym typeface="Lato"/>
              </a:rPr>
              <a:t>Fuel properties estimated via </a:t>
            </a:r>
            <a:r>
              <a:rPr lang="en-US" sz="1350" b="1" i="0" u="none" strike="noStrike" cap="none" dirty="0">
                <a:solidFill>
                  <a:srgbClr val="334155"/>
                </a:solidFill>
                <a:latin typeface="Arial Narrow" panose="020B0606020202030204" pitchFamily="34" charset="0"/>
                <a:ea typeface="Lato"/>
                <a:cs typeface="Lato"/>
                <a:sym typeface="Lato"/>
              </a:rPr>
              <a:t>linear or near-linear</a:t>
            </a:r>
            <a:r>
              <a:rPr lang="en-US" sz="1350" b="0" i="0" u="none" strike="noStrike" cap="none" dirty="0">
                <a:solidFill>
                  <a:srgbClr val="334155"/>
                </a:solidFill>
                <a:latin typeface="Arial Narrow" panose="020B0606020202030204" pitchFamily="34" charset="0"/>
                <a:ea typeface="Lato"/>
                <a:cs typeface="Lato"/>
                <a:sym typeface="Lato"/>
              </a:rPr>
              <a:t> relationships.</a:t>
            </a:r>
            <a:endParaRPr dirty="0">
              <a:latin typeface="Arial Narrow" panose="020B0606020202030204" pitchFamily="34" charset="0"/>
            </a:endParaRPr>
          </a:p>
        </p:txBody>
      </p:sp>
      <p:sp>
        <p:nvSpPr>
          <p:cNvPr id="34" name="Google Shape;101;p13">
            <a:extLst>
              <a:ext uri="{FF2B5EF4-FFF2-40B4-BE49-F238E27FC236}">
                <a16:creationId xmlns:a16="http://schemas.microsoft.com/office/drawing/2014/main" id="{8B40C1AF-2CBB-48D8-8BAF-2C978B528D7E}"/>
              </a:ext>
            </a:extLst>
          </p:cNvPr>
          <p:cNvSpPr txBox="1"/>
          <p:nvPr/>
        </p:nvSpPr>
        <p:spPr>
          <a:xfrm>
            <a:off x="6403629" y="2175490"/>
            <a:ext cx="4886325"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dirty="0">
                <a:solidFill>
                  <a:srgbClr val="C2410C"/>
                </a:solidFill>
                <a:latin typeface="Arial Narrow" panose="020B0606020202030204" pitchFamily="34" charset="0"/>
                <a:ea typeface="Lato"/>
                <a:cs typeface="Lato"/>
                <a:sym typeface="Lato"/>
              </a:rPr>
              <a:t>Viscosity</a:t>
            </a:r>
            <a:r>
              <a:rPr lang="en-US" sz="1350" b="0" i="0" u="none" strike="noStrike" cap="none" dirty="0">
                <a:solidFill>
                  <a:srgbClr val="334155"/>
                </a:solidFill>
                <a:latin typeface="Arial Narrow" panose="020B0606020202030204" pitchFamily="34" charset="0"/>
                <a:ea typeface="Lato"/>
                <a:cs typeface="Lato"/>
                <a:sym typeface="Lato"/>
              </a:rPr>
              <a:t> evaluated using </a:t>
            </a:r>
            <a:r>
              <a:rPr lang="en-US" sz="1350" b="1" i="0" u="none" strike="noStrike" cap="none" dirty="0">
                <a:solidFill>
                  <a:srgbClr val="334155"/>
                </a:solidFill>
                <a:latin typeface="Arial Narrow" panose="020B0606020202030204" pitchFamily="34" charset="0"/>
                <a:ea typeface="Lato"/>
                <a:cs typeface="Lato"/>
                <a:sym typeface="Lato"/>
              </a:rPr>
              <a:t>non-linear</a:t>
            </a:r>
            <a:r>
              <a:rPr lang="en-US" sz="1350" b="0" i="0" u="none" strike="noStrike" cap="none" dirty="0">
                <a:solidFill>
                  <a:srgbClr val="334155"/>
                </a:solidFill>
                <a:latin typeface="Arial Narrow" panose="020B0606020202030204" pitchFamily="34" charset="0"/>
                <a:ea typeface="Lato"/>
                <a:cs typeface="Lato"/>
                <a:sym typeface="Lato"/>
              </a:rPr>
              <a:t> models due to non-ideal fluid behavior.</a:t>
            </a:r>
            <a:endParaRPr dirty="0">
              <a:latin typeface="Arial Narrow" panose="020B0606020202030204" pitchFamily="34" charset="0"/>
            </a:endParaRPr>
          </a:p>
        </p:txBody>
      </p:sp>
      <p:sp>
        <p:nvSpPr>
          <p:cNvPr id="35" name="Google Shape;102;p13">
            <a:extLst>
              <a:ext uri="{FF2B5EF4-FFF2-40B4-BE49-F238E27FC236}">
                <a16:creationId xmlns:a16="http://schemas.microsoft.com/office/drawing/2014/main" id="{F9495168-8B45-4AA6-8224-C47A8550D913}"/>
              </a:ext>
            </a:extLst>
          </p:cNvPr>
          <p:cNvSpPr txBox="1"/>
          <p:nvPr/>
        </p:nvSpPr>
        <p:spPr>
          <a:xfrm>
            <a:off x="750542" y="4403133"/>
            <a:ext cx="51244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dirty="0">
                <a:solidFill>
                  <a:srgbClr val="C2410C"/>
                </a:solidFill>
                <a:latin typeface="Arial Narrow" panose="020B0606020202030204" pitchFamily="34" charset="0"/>
                <a:ea typeface="Lato"/>
                <a:cs typeface="Lato"/>
                <a:sym typeface="Lato"/>
              </a:rPr>
              <a:t>Primary constraints identified: Water Content &amp; Acid Number.</a:t>
            </a:r>
            <a:endParaRPr dirty="0">
              <a:latin typeface="Arial Narrow" panose="020B0606020202030204" pitchFamily="34" charset="0"/>
            </a:endParaRPr>
          </a:p>
        </p:txBody>
      </p:sp>
      <p:graphicFrame>
        <p:nvGraphicFramePr>
          <p:cNvPr id="36" name="Google Shape;103;p13">
            <a:extLst>
              <a:ext uri="{FF2B5EF4-FFF2-40B4-BE49-F238E27FC236}">
                <a16:creationId xmlns:a16="http://schemas.microsoft.com/office/drawing/2014/main" id="{01E997E4-0803-45A8-84F7-48CCB8AF8F3C}"/>
              </a:ext>
            </a:extLst>
          </p:cNvPr>
          <p:cNvGraphicFramePr/>
          <p:nvPr/>
        </p:nvGraphicFramePr>
        <p:xfrm>
          <a:off x="6475067" y="4488857"/>
          <a:ext cx="4819650" cy="1114425"/>
        </p:xfrm>
        <a:graphic>
          <a:graphicData uri="http://schemas.openxmlformats.org/drawingml/2006/table">
            <a:tbl>
              <a:tblPr firstRow="1" bandRow="1">
                <a:noFill/>
              </a:tblPr>
              <a:tblGrid>
                <a:gridCol w="2974175">
                  <a:extLst>
                    <a:ext uri="{9D8B030D-6E8A-4147-A177-3AD203B41FA5}">
                      <a16:colId xmlns:a16="http://schemas.microsoft.com/office/drawing/2014/main" val="20000"/>
                    </a:ext>
                  </a:extLst>
                </a:gridCol>
                <a:gridCol w="1845475">
                  <a:extLst>
                    <a:ext uri="{9D8B030D-6E8A-4147-A177-3AD203B41FA5}">
                      <a16:colId xmlns:a16="http://schemas.microsoft.com/office/drawing/2014/main" val="20001"/>
                    </a:ext>
                  </a:extLst>
                </a:gridCol>
              </a:tblGrid>
              <a:tr h="371475">
                <a:tc>
                  <a:txBody>
                    <a:bodyPr/>
                    <a:lstStyle/>
                    <a:p>
                      <a:pPr marL="0" marR="0" lvl="0" indent="0" algn="l" rtl="0">
                        <a:spcBef>
                          <a:spcPts val="0"/>
                        </a:spcBef>
                        <a:spcAft>
                          <a:spcPts val="0"/>
                        </a:spcAft>
                        <a:buNone/>
                      </a:pPr>
                      <a:r>
                        <a:rPr lang="en-US" sz="1350" b="1" i="0" u="none" strike="noStrike" cap="none" dirty="0">
                          <a:solidFill>
                            <a:srgbClr val="003366"/>
                          </a:solidFill>
                          <a:latin typeface="Arial Narrow" panose="020B0606020202030204" pitchFamily="34" charset="0"/>
                          <a:ea typeface="Lato"/>
                          <a:cs typeface="Lato"/>
                          <a:sym typeface="Lato"/>
                        </a:rPr>
                        <a:t>Light Distillate</a:t>
                      </a:r>
                      <a:endParaRPr dirty="0">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350" b="0" i="0" u="none" strike="noStrike" cap="none">
                          <a:solidFill>
                            <a:srgbClr val="1E40AF"/>
                          </a:solidFill>
                          <a:latin typeface="Arial Narrow" panose="020B0606020202030204" pitchFamily="34" charset="0"/>
                          <a:ea typeface="Lato Black"/>
                          <a:cs typeface="Lato Black"/>
                          <a:sym typeface="Lato Black"/>
                        </a:rPr>
                        <a:t>0.5%   |   1%</a:t>
                      </a:r>
                      <a:endParaRPr>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71475">
                <a:tc>
                  <a:txBody>
                    <a:bodyPr/>
                    <a:lstStyle/>
                    <a:p>
                      <a:pPr marL="0" marR="0" lvl="0" indent="0" algn="l" rtl="0">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Heavy Distillate</a:t>
                      </a:r>
                      <a:endParaRPr>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350" b="0" i="0" u="none" strike="noStrike" cap="none">
                          <a:solidFill>
                            <a:srgbClr val="1E40AF"/>
                          </a:solidFill>
                          <a:latin typeface="Arial Narrow" panose="020B0606020202030204" pitchFamily="34" charset="0"/>
                          <a:ea typeface="Lato Black"/>
                          <a:cs typeface="Lato Black"/>
                          <a:sym typeface="Lato Black"/>
                        </a:rPr>
                        <a:t>4%   |   8%</a:t>
                      </a:r>
                      <a:endParaRPr>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71475">
                <a:tc>
                  <a:txBody>
                    <a:bodyPr/>
                    <a:lstStyle/>
                    <a:p>
                      <a:pPr marL="0" marR="0" lvl="0" indent="0" algn="l" rtl="0">
                        <a:spcBef>
                          <a:spcPts val="0"/>
                        </a:spcBef>
                        <a:spcAft>
                          <a:spcPts val="0"/>
                        </a:spcAft>
                        <a:buNone/>
                      </a:pPr>
                      <a:r>
                        <a:rPr lang="en-US" sz="1350" b="1" i="0" u="none" strike="noStrike" cap="none" dirty="0">
                          <a:solidFill>
                            <a:srgbClr val="003366"/>
                          </a:solidFill>
                          <a:latin typeface="Arial Narrow" panose="020B0606020202030204" pitchFamily="34" charset="0"/>
                          <a:ea typeface="Lato"/>
                          <a:cs typeface="Lato"/>
                          <a:sym typeface="Lato"/>
                        </a:rPr>
                        <a:t>Whole Distillate</a:t>
                      </a:r>
                      <a:endParaRPr dirty="0">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350" b="0" i="0" u="none" strike="noStrike" cap="none" dirty="0">
                          <a:solidFill>
                            <a:srgbClr val="1E40AF"/>
                          </a:solidFill>
                          <a:latin typeface="Arial Narrow" panose="020B0606020202030204" pitchFamily="34" charset="0"/>
                          <a:ea typeface="Lato Black"/>
                          <a:cs typeface="Lato Black"/>
                          <a:sym typeface="Lato Black"/>
                        </a:rPr>
                        <a:t>0.5%   |   1%</a:t>
                      </a:r>
                      <a:endParaRPr dirty="0">
                        <a:latin typeface="Arial Narrow" panose="020B0606020202030204" pitchFamily="34"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7" name="Google Shape;104;p13">
            <a:extLst>
              <a:ext uri="{FF2B5EF4-FFF2-40B4-BE49-F238E27FC236}">
                <a16:creationId xmlns:a16="http://schemas.microsoft.com/office/drawing/2014/main" id="{B13F8EB8-1355-4F04-B627-81DE6F219E75}"/>
              </a:ext>
            </a:extLst>
          </p:cNvPr>
          <p:cNvSpPr txBox="1"/>
          <p:nvPr/>
        </p:nvSpPr>
        <p:spPr>
          <a:xfrm>
            <a:off x="1360142" y="1224024"/>
            <a:ext cx="260032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3366"/>
                </a:solidFill>
                <a:latin typeface="Arial Narrow" panose="020B0606020202030204" pitchFamily="34" charset="0"/>
                <a:ea typeface="Poppins"/>
                <a:cs typeface="Poppins"/>
                <a:sym typeface="Poppins"/>
              </a:rPr>
              <a:t>1. Blending Scenarios</a:t>
            </a:r>
            <a:endParaRPr>
              <a:latin typeface="Arial Narrow" panose="020B0606020202030204" pitchFamily="34" charset="0"/>
            </a:endParaRPr>
          </a:p>
        </p:txBody>
      </p:sp>
      <p:sp>
        <p:nvSpPr>
          <p:cNvPr id="38" name="Google Shape;105;p13">
            <a:extLst>
              <a:ext uri="{FF2B5EF4-FFF2-40B4-BE49-F238E27FC236}">
                <a16:creationId xmlns:a16="http://schemas.microsoft.com/office/drawing/2014/main" id="{612C25B2-017C-4962-866D-7FFF57592A8F}"/>
              </a:ext>
            </a:extLst>
          </p:cNvPr>
          <p:cNvSpPr txBox="1"/>
          <p:nvPr/>
        </p:nvSpPr>
        <p:spPr>
          <a:xfrm>
            <a:off x="979142" y="2140527"/>
            <a:ext cx="46482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dirty="0">
                <a:solidFill>
                  <a:srgbClr val="334155"/>
                </a:solidFill>
                <a:latin typeface="Arial Narrow" panose="020B0606020202030204" pitchFamily="34" charset="0"/>
                <a:ea typeface="Lato"/>
                <a:cs typeface="Lato"/>
                <a:sym typeface="Lato"/>
              </a:rPr>
              <a:t>Light distillate</a:t>
            </a:r>
            <a:endParaRPr dirty="0">
              <a:latin typeface="Arial Narrow" panose="020B0606020202030204" pitchFamily="34" charset="0"/>
            </a:endParaRPr>
          </a:p>
        </p:txBody>
      </p:sp>
      <p:sp>
        <p:nvSpPr>
          <p:cNvPr id="39" name="Google Shape;106;p13">
            <a:extLst>
              <a:ext uri="{FF2B5EF4-FFF2-40B4-BE49-F238E27FC236}">
                <a16:creationId xmlns:a16="http://schemas.microsoft.com/office/drawing/2014/main" id="{71E52D5D-223C-4DB2-9819-3C91A9793AE8}"/>
              </a:ext>
            </a:extLst>
          </p:cNvPr>
          <p:cNvSpPr txBox="1"/>
          <p:nvPr/>
        </p:nvSpPr>
        <p:spPr>
          <a:xfrm>
            <a:off x="979142" y="2475688"/>
            <a:ext cx="46482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dirty="0">
                <a:solidFill>
                  <a:srgbClr val="334155"/>
                </a:solidFill>
                <a:latin typeface="Arial Narrow" panose="020B0606020202030204" pitchFamily="34" charset="0"/>
                <a:ea typeface="Lato"/>
                <a:cs typeface="Lato"/>
                <a:sym typeface="Lato"/>
              </a:rPr>
              <a:t>Heavy distillate</a:t>
            </a:r>
            <a:endParaRPr dirty="0">
              <a:latin typeface="Arial Narrow" panose="020B0606020202030204" pitchFamily="34" charset="0"/>
            </a:endParaRPr>
          </a:p>
        </p:txBody>
      </p:sp>
      <p:sp>
        <p:nvSpPr>
          <p:cNvPr id="40" name="Google Shape;107;p13">
            <a:extLst>
              <a:ext uri="{FF2B5EF4-FFF2-40B4-BE49-F238E27FC236}">
                <a16:creationId xmlns:a16="http://schemas.microsoft.com/office/drawing/2014/main" id="{9658C269-5F6A-44AA-BD56-08A5E1B5CD51}"/>
              </a:ext>
            </a:extLst>
          </p:cNvPr>
          <p:cNvSpPr txBox="1"/>
          <p:nvPr/>
        </p:nvSpPr>
        <p:spPr>
          <a:xfrm>
            <a:off x="979142" y="2810849"/>
            <a:ext cx="46482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dirty="0">
                <a:solidFill>
                  <a:srgbClr val="334155"/>
                </a:solidFill>
                <a:latin typeface="Arial Narrow" panose="020B0606020202030204" pitchFamily="34" charset="0"/>
                <a:ea typeface="Lato"/>
                <a:cs typeface="Lato"/>
                <a:sym typeface="Lato"/>
              </a:rPr>
              <a:t>Whole distillate (combined fractions)</a:t>
            </a:r>
            <a:endParaRPr dirty="0">
              <a:latin typeface="Arial Narrow" panose="020B0606020202030204" pitchFamily="34" charset="0"/>
            </a:endParaRPr>
          </a:p>
        </p:txBody>
      </p:sp>
      <p:sp>
        <p:nvSpPr>
          <p:cNvPr id="41" name="Google Shape;108;p13">
            <a:extLst>
              <a:ext uri="{FF2B5EF4-FFF2-40B4-BE49-F238E27FC236}">
                <a16:creationId xmlns:a16="http://schemas.microsoft.com/office/drawing/2014/main" id="{C634BC31-AB20-449B-BC99-7BD940245AAB}"/>
              </a:ext>
            </a:extLst>
          </p:cNvPr>
          <p:cNvSpPr txBox="1"/>
          <p:nvPr/>
        </p:nvSpPr>
        <p:spPr>
          <a:xfrm>
            <a:off x="7027517" y="1224024"/>
            <a:ext cx="3010376"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3366"/>
                </a:solidFill>
                <a:latin typeface="Arial Narrow" panose="020B0606020202030204" pitchFamily="34" charset="0"/>
                <a:ea typeface="Poppins"/>
                <a:cs typeface="Poppins"/>
                <a:sym typeface="Poppins"/>
              </a:rPr>
              <a:t>2. Calculation Approach</a:t>
            </a:r>
            <a:endParaRPr>
              <a:latin typeface="Arial Narrow" panose="020B0606020202030204" pitchFamily="34" charset="0"/>
            </a:endParaRPr>
          </a:p>
        </p:txBody>
      </p:sp>
      <p:sp>
        <p:nvSpPr>
          <p:cNvPr id="42" name="Google Shape;109;p13">
            <a:extLst>
              <a:ext uri="{FF2B5EF4-FFF2-40B4-BE49-F238E27FC236}">
                <a16:creationId xmlns:a16="http://schemas.microsoft.com/office/drawing/2014/main" id="{825AFCBE-4A5D-4063-86B2-A9FB933C952A}"/>
              </a:ext>
            </a:extLst>
          </p:cNvPr>
          <p:cNvSpPr txBox="1"/>
          <p:nvPr/>
        </p:nvSpPr>
        <p:spPr>
          <a:xfrm>
            <a:off x="1369667" y="3798294"/>
            <a:ext cx="258032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3366"/>
                </a:solidFill>
                <a:latin typeface="Arial Narrow" panose="020B0606020202030204" pitchFamily="34" charset="0"/>
                <a:ea typeface="Poppins"/>
                <a:cs typeface="Poppins"/>
                <a:sym typeface="Poppins"/>
              </a:rPr>
              <a:t>3. Limiting Properties</a:t>
            </a:r>
            <a:endParaRPr>
              <a:latin typeface="Arial Narrow" panose="020B0606020202030204" pitchFamily="34" charset="0"/>
            </a:endParaRPr>
          </a:p>
        </p:txBody>
      </p:sp>
      <p:sp>
        <p:nvSpPr>
          <p:cNvPr id="43" name="Google Shape;110;p13">
            <a:extLst>
              <a:ext uri="{FF2B5EF4-FFF2-40B4-BE49-F238E27FC236}">
                <a16:creationId xmlns:a16="http://schemas.microsoft.com/office/drawing/2014/main" id="{189D95B8-8441-4AAD-AF03-D5F6D389B036}"/>
              </a:ext>
            </a:extLst>
          </p:cNvPr>
          <p:cNvSpPr txBox="1"/>
          <p:nvPr/>
        </p:nvSpPr>
        <p:spPr>
          <a:xfrm>
            <a:off x="979142" y="4757343"/>
            <a:ext cx="4629150" cy="581698"/>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dirty="0">
                <a:solidFill>
                  <a:srgbClr val="334155"/>
                </a:solidFill>
                <a:latin typeface="Arial Narrow" panose="020B0606020202030204" pitchFamily="34" charset="0"/>
                <a:ea typeface="Lato"/>
                <a:cs typeface="Lato"/>
                <a:sym typeface="Lato"/>
              </a:rPr>
              <a:t>Properties exceeded marine fuel limits by approximately </a:t>
            </a:r>
            <a:r>
              <a:rPr lang="en-US" sz="1350" b="1" i="0" u="none" strike="noStrike" cap="none" dirty="0">
                <a:solidFill>
                  <a:srgbClr val="334155"/>
                </a:solidFill>
                <a:latin typeface="Arial Narrow" panose="020B0606020202030204" pitchFamily="34" charset="0"/>
                <a:ea typeface="Lato"/>
                <a:cs typeface="Lato"/>
                <a:sym typeface="Lato"/>
              </a:rPr>
              <a:t>one order of magnitude</a:t>
            </a:r>
            <a:r>
              <a:rPr lang="en-US" sz="1350" b="0" i="0" u="none" strike="noStrike" cap="none" dirty="0">
                <a:solidFill>
                  <a:srgbClr val="334155"/>
                </a:solidFill>
                <a:latin typeface="Arial Narrow" panose="020B0606020202030204" pitchFamily="34" charset="0"/>
                <a:ea typeface="Lato"/>
                <a:cs typeface="Lato"/>
                <a:sym typeface="Lato"/>
              </a:rPr>
              <a:t>.</a:t>
            </a:r>
            <a:endParaRPr dirty="0">
              <a:latin typeface="Arial Narrow" panose="020B0606020202030204" pitchFamily="34" charset="0"/>
            </a:endParaRPr>
          </a:p>
        </p:txBody>
      </p:sp>
      <p:sp>
        <p:nvSpPr>
          <p:cNvPr id="44" name="Google Shape;111;p13">
            <a:extLst>
              <a:ext uri="{FF2B5EF4-FFF2-40B4-BE49-F238E27FC236}">
                <a16:creationId xmlns:a16="http://schemas.microsoft.com/office/drawing/2014/main" id="{1A2047A1-8514-4A23-97FE-7351EA726044}"/>
              </a:ext>
            </a:extLst>
          </p:cNvPr>
          <p:cNvSpPr txBox="1"/>
          <p:nvPr/>
        </p:nvSpPr>
        <p:spPr>
          <a:xfrm>
            <a:off x="979142" y="5332414"/>
            <a:ext cx="4629150" cy="581698"/>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Arial Narrow" panose="020B0606020202030204" pitchFamily="34" charset="0"/>
                <a:ea typeface="Lato"/>
                <a:cs typeface="Lato"/>
                <a:sym typeface="Lato"/>
              </a:rPr>
              <a:t>These parameters strictly </a:t>
            </a:r>
            <a:r>
              <a:rPr lang="en-US" sz="1350" b="1" i="0" u="none" strike="noStrike" cap="none">
                <a:solidFill>
                  <a:srgbClr val="334155"/>
                </a:solidFill>
                <a:latin typeface="Arial Narrow" panose="020B0606020202030204" pitchFamily="34" charset="0"/>
                <a:ea typeface="Lato"/>
                <a:cs typeface="Lato"/>
                <a:sym typeface="Lato"/>
              </a:rPr>
              <a:t>governed</a:t>
            </a:r>
            <a:r>
              <a:rPr lang="en-US" sz="1350" b="0" i="0" u="none" strike="noStrike" cap="none">
                <a:solidFill>
                  <a:srgbClr val="334155"/>
                </a:solidFill>
                <a:latin typeface="Arial Narrow" panose="020B0606020202030204" pitchFamily="34" charset="0"/>
                <a:ea typeface="Lato"/>
                <a:cs typeface="Lato"/>
                <a:sym typeface="Lato"/>
              </a:rPr>
              <a:t> the maximum allowable blending ratios.</a:t>
            </a:r>
            <a:endParaRPr>
              <a:latin typeface="Arial Narrow" panose="020B0606020202030204" pitchFamily="34" charset="0"/>
            </a:endParaRPr>
          </a:p>
        </p:txBody>
      </p:sp>
      <p:sp>
        <p:nvSpPr>
          <p:cNvPr id="45" name="Google Shape;112;p13">
            <a:extLst>
              <a:ext uri="{FF2B5EF4-FFF2-40B4-BE49-F238E27FC236}">
                <a16:creationId xmlns:a16="http://schemas.microsoft.com/office/drawing/2014/main" id="{97E12E5B-BE53-40B1-A929-3A37CA1EC432}"/>
              </a:ext>
            </a:extLst>
          </p:cNvPr>
          <p:cNvSpPr txBox="1"/>
          <p:nvPr/>
        </p:nvSpPr>
        <p:spPr>
          <a:xfrm>
            <a:off x="7094192" y="3788769"/>
            <a:ext cx="286035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03366"/>
                </a:solidFill>
                <a:latin typeface="Arial Narrow" panose="020B0606020202030204" pitchFamily="34" charset="0"/>
                <a:ea typeface="Poppins"/>
                <a:cs typeface="Poppins"/>
                <a:sym typeface="Poppins"/>
              </a:rPr>
              <a:t>4. Final Blending Ratios</a:t>
            </a:r>
            <a:endParaRPr dirty="0">
              <a:latin typeface="Arial Narrow" panose="020B0606020202030204" pitchFamily="34" charset="0"/>
            </a:endParaRPr>
          </a:p>
        </p:txBody>
      </p:sp>
      <p:sp>
        <p:nvSpPr>
          <p:cNvPr id="46" name="Google Shape;113;p13">
            <a:extLst>
              <a:ext uri="{FF2B5EF4-FFF2-40B4-BE49-F238E27FC236}">
                <a16:creationId xmlns:a16="http://schemas.microsoft.com/office/drawing/2014/main" id="{C0CBF12F-3B1F-45B2-BA9F-F9E8B4814000}"/>
              </a:ext>
            </a:extLst>
          </p:cNvPr>
          <p:cNvSpPr/>
          <p:nvPr/>
        </p:nvSpPr>
        <p:spPr>
          <a:xfrm>
            <a:off x="6475067" y="4846044"/>
            <a:ext cx="29741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47" name="Google Shape;114;p13">
            <a:extLst>
              <a:ext uri="{FF2B5EF4-FFF2-40B4-BE49-F238E27FC236}">
                <a16:creationId xmlns:a16="http://schemas.microsoft.com/office/drawing/2014/main" id="{C006994F-A8AE-4BB0-83E7-0BA091379E86}"/>
              </a:ext>
            </a:extLst>
          </p:cNvPr>
          <p:cNvSpPr/>
          <p:nvPr/>
        </p:nvSpPr>
        <p:spPr>
          <a:xfrm>
            <a:off x="9449248" y="4846044"/>
            <a:ext cx="184546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49" name="Google Shape;116;p13">
            <a:extLst>
              <a:ext uri="{FF2B5EF4-FFF2-40B4-BE49-F238E27FC236}">
                <a16:creationId xmlns:a16="http://schemas.microsoft.com/office/drawing/2014/main" id="{92CFFD53-B514-450F-B29C-CD211A3377FE}"/>
              </a:ext>
            </a:extLst>
          </p:cNvPr>
          <p:cNvSpPr txBox="1"/>
          <p:nvPr/>
        </p:nvSpPr>
        <p:spPr>
          <a:xfrm>
            <a:off x="741017" y="2140527"/>
            <a:ext cx="952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a:t>
            </a:r>
            <a:endParaRPr>
              <a:latin typeface="Arial Narrow" panose="020B0606020202030204" pitchFamily="34" charset="0"/>
            </a:endParaRPr>
          </a:p>
        </p:txBody>
      </p:sp>
      <p:sp>
        <p:nvSpPr>
          <p:cNvPr id="50" name="Google Shape;117;p13">
            <a:extLst>
              <a:ext uri="{FF2B5EF4-FFF2-40B4-BE49-F238E27FC236}">
                <a16:creationId xmlns:a16="http://schemas.microsoft.com/office/drawing/2014/main" id="{6A7CD4EA-3C2F-4425-86AA-63EE4F4C7896}"/>
              </a:ext>
            </a:extLst>
          </p:cNvPr>
          <p:cNvSpPr txBox="1"/>
          <p:nvPr/>
        </p:nvSpPr>
        <p:spPr>
          <a:xfrm>
            <a:off x="741017" y="2475688"/>
            <a:ext cx="952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a:t>
            </a:r>
            <a:endParaRPr>
              <a:latin typeface="Arial Narrow" panose="020B0606020202030204" pitchFamily="34" charset="0"/>
            </a:endParaRPr>
          </a:p>
        </p:txBody>
      </p:sp>
      <p:sp>
        <p:nvSpPr>
          <p:cNvPr id="51" name="Google Shape;118;p13">
            <a:extLst>
              <a:ext uri="{FF2B5EF4-FFF2-40B4-BE49-F238E27FC236}">
                <a16:creationId xmlns:a16="http://schemas.microsoft.com/office/drawing/2014/main" id="{441C6F43-4DA7-4E52-9D55-8F081859F265}"/>
              </a:ext>
            </a:extLst>
          </p:cNvPr>
          <p:cNvSpPr txBox="1"/>
          <p:nvPr/>
        </p:nvSpPr>
        <p:spPr>
          <a:xfrm>
            <a:off x="741017" y="2810849"/>
            <a:ext cx="952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a:t>
            </a:r>
            <a:endParaRPr>
              <a:latin typeface="Arial Narrow" panose="020B0606020202030204" pitchFamily="34" charset="0"/>
            </a:endParaRPr>
          </a:p>
        </p:txBody>
      </p:sp>
      <p:pic>
        <p:nvPicPr>
          <p:cNvPr id="52" name="Google Shape;119;p13" descr="image.png">
            <a:extLst>
              <a:ext uri="{FF2B5EF4-FFF2-40B4-BE49-F238E27FC236}">
                <a16:creationId xmlns:a16="http://schemas.microsoft.com/office/drawing/2014/main" id="{46AEA698-A388-4674-A232-9468D465AB6F}"/>
              </a:ext>
            </a:extLst>
          </p:cNvPr>
          <p:cNvPicPr preferRelativeResize="0"/>
          <p:nvPr/>
        </p:nvPicPr>
        <p:blipFill rotWithShape="1">
          <a:blip r:embed="rId13">
            <a:alphaModFix/>
          </a:blip>
          <a:srcRect/>
          <a:stretch/>
        </p:blipFill>
        <p:spPr>
          <a:xfrm>
            <a:off x="6408392" y="1209737"/>
            <a:ext cx="476250" cy="476250"/>
          </a:xfrm>
          <a:prstGeom prst="rect">
            <a:avLst/>
          </a:prstGeom>
          <a:noFill/>
          <a:ln>
            <a:noFill/>
          </a:ln>
        </p:spPr>
      </p:pic>
      <p:pic>
        <p:nvPicPr>
          <p:cNvPr id="57" name="Google Shape;124;p13" descr="image.png">
            <a:extLst>
              <a:ext uri="{FF2B5EF4-FFF2-40B4-BE49-F238E27FC236}">
                <a16:creationId xmlns:a16="http://schemas.microsoft.com/office/drawing/2014/main" id="{15735B1F-9F47-4A95-AFF6-77D70F480B42}"/>
              </a:ext>
            </a:extLst>
          </p:cNvPr>
          <p:cNvPicPr preferRelativeResize="0"/>
          <p:nvPr/>
        </p:nvPicPr>
        <p:blipFill rotWithShape="1">
          <a:blip r:embed="rId14">
            <a:alphaModFix/>
          </a:blip>
          <a:srcRect/>
          <a:stretch/>
        </p:blipFill>
        <p:spPr>
          <a:xfrm>
            <a:off x="750542" y="3784007"/>
            <a:ext cx="476250" cy="476250"/>
          </a:xfrm>
          <a:prstGeom prst="rect">
            <a:avLst/>
          </a:prstGeom>
          <a:noFill/>
          <a:ln>
            <a:noFill/>
          </a:ln>
        </p:spPr>
      </p:pic>
      <p:sp>
        <p:nvSpPr>
          <p:cNvPr id="58" name="Google Shape;125;p13">
            <a:extLst>
              <a:ext uri="{FF2B5EF4-FFF2-40B4-BE49-F238E27FC236}">
                <a16:creationId xmlns:a16="http://schemas.microsoft.com/office/drawing/2014/main" id="{7D1EFA5D-AFFE-4373-8FD0-D8C592B1E8F8}"/>
              </a:ext>
            </a:extLst>
          </p:cNvPr>
          <p:cNvSpPr txBox="1"/>
          <p:nvPr/>
        </p:nvSpPr>
        <p:spPr>
          <a:xfrm>
            <a:off x="741017" y="4757343"/>
            <a:ext cx="952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a:t>
            </a:r>
            <a:endParaRPr>
              <a:latin typeface="Arial Narrow" panose="020B0606020202030204" pitchFamily="34" charset="0"/>
            </a:endParaRPr>
          </a:p>
        </p:txBody>
      </p:sp>
      <p:sp>
        <p:nvSpPr>
          <p:cNvPr id="59" name="Google Shape;126;p13">
            <a:extLst>
              <a:ext uri="{FF2B5EF4-FFF2-40B4-BE49-F238E27FC236}">
                <a16:creationId xmlns:a16="http://schemas.microsoft.com/office/drawing/2014/main" id="{97D7D147-7C6F-4A11-B6FB-354293D2FDC4}"/>
              </a:ext>
            </a:extLst>
          </p:cNvPr>
          <p:cNvSpPr txBox="1"/>
          <p:nvPr/>
        </p:nvSpPr>
        <p:spPr>
          <a:xfrm>
            <a:off x="741017" y="5332414"/>
            <a:ext cx="9525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003366"/>
                </a:solidFill>
                <a:latin typeface="Arial Narrow" panose="020B0606020202030204" pitchFamily="34" charset="0"/>
                <a:ea typeface="Lato"/>
                <a:cs typeface="Lato"/>
                <a:sym typeface="Lato"/>
              </a:rPr>
              <a:t>•</a:t>
            </a:r>
            <a:endParaRPr>
              <a:latin typeface="Arial Narrow" panose="020B0606020202030204" pitchFamily="34" charset="0"/>
            </a:endParaRPr>
          </a:p>
        </p:txBody>
      </p:sp>
      <p:sp>
        <p:nvSpPr>
          <p:cNvPr id="61" name="Google Shape;128;p13">
            <a:extLst>
              <a:ext uri="{FF2B5EF4-FFF2-40B4-BE49-F238E27FC236}">
                <a16:creationId xmlns:a16="http://schemas.microsoft.com/office/drawing/2014/main" id="{1B3358D1-CA99-4951-9F6D-F33E2F024B70}"/>
              </a:ext>
            </a:extLst>
          </p:cNvPr>
          <p:cNvSpPr/>
          <p:nvPr/>
        </p:nvSpPr>
        <p:spPr>
          <a:xfrm>
            <a:off x="6475067" y="5217519"/>
            <a:ext cx="29741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62" name="Google Shape;129;p13">
            <a:extLst>
              <a:ext uri="{FF2B5EF4-FFF2-40B4-BE49-F238E27FC236}">
                <a16:creationId xmlns:a16="http://schemas.microsoft.com/office/drawing/2014/main" id="{5DE8E410-9DCC-4A5A-8AD2-781BEE1798A2}"/>
              </a:ext>
            </a:extLst>
          </p:cNvPr>
          <p:cNvSpPr/>
          <p:nvPr/>
        </p:nvSpPr>
        <p:spPr>
          <a:xfrm>
            <a:off x="9449248" y="5217519"/>
            <a:ext cx="184546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63" name="Google Shape;130;p13">
            <a:extLst>
              <a:ext uri="{FF2B5EF4-FFF2-40B4-BE49-F238E27FC236}">
                <a16:creationId xmlns:a16="http://schemas.microsoft.com/office/drawing/2014/main" id="{75F41163-1942-4C49-B67B-08F8CF8B5F4F}"/>
              </a:ext>
            </a:extLst>
          </p:cNvPr>
          <p:cNvSpPr/>
          <p:nvPr/>
        </p:nvSpPr>
        <p:spPr>
          <a:xfrm>
            <a:off x="6475067" y="5588994"/>
            <a:ext cx="29741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64" name="Google Shape;131;p13">
            <a:extLst>
              <a:ext uri="{FF2B5EF4-FFF2-40B4-BE49-F238E27FC236}">
                <a16:creationId xmlns:a16="http://schemas.microsoft.com/office/drawing/2014/main" id="{ED31EB1D-6E27-4A36-96B9-D6526D27F24A}"/>
              </a:ext>
            </a:extLst>
          </p:cNvPr>
          <p:cNvSpPr/>
          <p:nvPr/>
        </p:nvSpPr>
        <p:spPr>
          <a:xfrm>
            <a:off x="9449248" y="5588994"/>
            <a:ext cx="184546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Narrow" panose="020B0606020202030204" pitchFamily="34" charset="0"/>
              <a:ea typeface="Calibri"/>
              <a:cs typeface="Calibri"/>
              <a:sym typeface="Calibri"/>
            </a:endParaRPr>
          </a:p>
        </p:txBody>
      </p:sp>
      <p:sp>
        <p:nvSpPr>
          <p:cNvPr id="65" name="Google Shape;408;p8">
            <a:extLst>
              <a:ext uri="{FF2B5EF4-FFF2-40B4-BE49-F238E27FC236}">
                <a16:creationId xmlns:a16="http://schemas.microsoft.com/office/drawing/2014/main" id="{65285A96-F564-4FEB-9CCB-4B5EEBC3E938}"/>
              </a:ext>
            </a:extLst>
          </p:cNvPr>
          <p:cNvSpPr txBox="1"/>
          <p:nvPr/>
        </p:nvSpPr>
        <p:spPr>
          <a:xfrm>
            <a:off x="11661653" y="6326357"/>
            <a:ext cx="442072" cy="561294"/>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MY" sz="1800">
                <a:solidFill>
                  <a:schemeClr val="dk1"/>
                </a:solidFill>
                <a:latin typeface="Arial Narrow" panose="020B0606020202030204" pitchFamily="34" charset="0"/>
                <a:ea typeface="Times New Roman"/>
                <a:cs typeface="Times New Roman" panose="02020603050405020304" pitchFamily="18" charset="0"/>
                <a:sym typeface="Times New Roman"/>
              </a:rPr>
              <a:t>9</a:t>
            </a:fld>
            <a:endParaRPr sz="1800" dirty="0">
              <a:solidFill>
                <a:schemeClr val="dk1"/>
              </a:solidFill>
              <a:latin typeface="Arial Narrow" panose="020B0606020202030204" pitchFamily="34" charset="0"/>
              <a:ea typeface="Times New Roman"/>
              <a:cs typeface="Times New Roman" panose="02020603050405020304" pitchFamily="18" charset="0"/>
              <a:sym typeface="Times New Roman"/>
            </a:endParaRPr>
          </a:p>
        </p:txBody>
      </p:sp>
      <p:pic>
        <p:nvPicPr>
          <p:cNvPr id="2" name="Picture 1">
            <a:extLst>
              <a:ext uri="{FF2B5EF4-FFF2-40B4-BE49-F238E27FC236}">
                <a16:creationId xmlns:a16="http://schemas.microsoft.com/office/drawing/2014/main" id="{E97D77F5-E0C9-4348-BB00-352239FA9CC0}"/>
              </a:ext>
            </a:extLst>
          </p:cNvPr>
          <p:cNvPicPr>
            <a:picLocks noChangeAspect="1"/>
          </p:cNvPicPr>
          <p:nvPr/>
        </p:nvPicPr>
        <p:blipFill>
          <a:blip r:embed="rId15"/>
          <a:stretch>
            <a:fillRect/>
          </a:stretch>
        </p:blipFill>
        <p:spPr>
          <a:xfrm>
            <a:off x="8598455" y="2475061"/>
            <a:ext cx="2614403" cy="782257"/>
          </a:xfrm>
          <a:prstGeom prst="rect">
            <a:avLst/>
          </a:prstGeom>
        </p:spPr>
      </p:pic>
      <p:sp>
        <p:nvSpPr>
          <p:cNvPr id="67" name="Rectangle 66">
            <a:extLst>
              <a:ext uri="{FF2B5EF4-FFF2-40B4-BE49-F238E27FC236}">
                <a16:creationId xmlns:a16="http://schemas.microsoft.com/office/drawing/2014/main" id="{CB5F222B-FF67-4A58-AA00-3136C9117FC4}"/>
              </a:ext>
            </a:extLst>
          </p:cNvPr>
          <p:cNvSpPr/>
          <p:nvPr/>
        </p:nvSpPr>
        <p:spPr>
          <a:xfrm>
            <a:off x="1124924" y="6280559"/>
            <a:ext cx="9500135" cy="50729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0070C0"/>
              </a:buClr>
              <a:buFont typeface="Arial" panose="020B0604020202020204" pitchFamily="34" charset="0"/>
              <a:buChar char="•"/>
            </a:pPr>
            <a:r>
              <a:rPr lang="en-US" dirty="0">
                <a:solidFill>
                  <a:srgbClr val="0070C0"/>
                </a:solidFill>
                <a:latin typeface="Arial Narrow" panose="020B0606020202030204" pitchFamily="34" charset="0"/>
              </a:rPr>
              <a:t>Half of the calculated maximum blending ratio was additionally tested to provide a conservative and safer performance estimation </a:t>
            </a:r>
          </a:p>
        </p:txBody>
      </p:sp>
      <p:pic>
        <p:nvPicPr>
          <p:cNvPr id="4" name="Picture 3">
            <a:extLst>
              <a:ext uri="{FF2B5EF4-FFF2-40B4-BE49-F238E27FC236}">
                <a16:creationId xmlns:a16="http://schemas.microsoft.com/office/drawing/2014/main" id="{B368235F-3823-4A35-9027-937D64099B73}"/>
              </a:ext>
            </a:extLst>
          </p:cNvPr>
          <p:cNvPicPr>
            <a:picLocks noChangeAspect="1"/>
          </p:cNvPicPr>
          <p:nvPr/>
        </p:nvPicPr>
        <p:blipFill>
          <a:blip r:embed="rId16"/>
          <a:stretch>
            <a:fillRect/>
          </a:stretch>
        </p:blipFill>
        <p:spPr>
          <a:xfrm>
            <a:off x="6586379" y="3706288"/>
            <a:ext cx="266634" cy="420809"/>
          </a:xfrm>
          <a:prstGeom prst="rect">
            <a:avLst/>
          </a:prstGeom>
        </p:spPr>
      </p:pic>
      <p:pic>
        <p:nvPicPr>
          <p:cNvPr id="5" name="Picture 4">
            <a:extLst>
              <a:ext uri="{FF2B5EF4-FFF2-40B4-BE49-F238E27FC236}">
                <a16:creationId xmlns:a16="http://schemas.microsoft.com/office/drawing/2014/main" id="{1C975865-AE67-4B1F-9A8B-D48C5044A553}"/>
              </a:ext>
            </a:extLst>
          </p:cNvPr>
          <p:cNvPicPr>
            <a:picLocks noChangeAspect="1"/>
          </p:cNvPicPr>
          <p:nvPr/>
        </p:nvPicPr>
        <p:blipFill>
          <a:blip r:embed="rId17"/>
          <a:stretch>
            <a:fillRect/>
          </a:stretch>
        </p:blipFill>
        <p:spPr>
          <a:xfrm>
            <a:off x="659075" y="1122386"/>
            <a:ext cx="560014" cy="560014"/>
          </a:xfrm>
          <a:prstGeom prst="rect">
            <a:avLst/>
          </a:prstGeom>
        </p:spPr>
      </p:pic>
    </p:spTree>
    <p:extLst>
      <p:ext uri="{BB962C8B-B14F-4D97-AF65-F5344CB8AC3E}">
        <p14:creationId xmlns:p14="http://schemas.microsoft.com/office/powerpoint/2010/main" val="3916081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A37223-660C-4E65-8F47-30C4AA55D5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6" name="Table 5">
            <a:extLst>
              <a:ext uri="{FF2B5EF4-FFF2-40B4-BE49-F238E27FC236}">
                <a16:creationId xmlns:a16="http://schemas.microsoft.com/office/drawing/2014/main" id="{3E5332B4-87CB-469F-9895-D5597B0A93AE}"/>
              </a:ext>
            </a:extLst>
          </p:cNvPr>
          <p:cNvGraphicFramePr>
            <a:graphicFrameLocks noGrp="1"/>
          </p:cNvGraphicFramePr>
          <p:nvPr/>
        </p:nvGraphicFramePr>
        <p:xfrm>
          <a:off x="375956" y="697920"/>
          <a:ext cx="11129927" cy="4937760"/>
        </p:xfrm>
        <a:graphic>
          <a:graphicData uri="http://schemas.openxmlformats.org/drawingml/2006/table">
            <a:tbl>
              <a:tblPr firstRow="1" bandRow="1">
                <a:tableStyleId>{073A0DAA-6AF3-43AB-8588-CEC1D06C72B9}</a:tableStyleId>
              </a:tblPr>
              <a:tblGrid>
                <a:gridCol w="2077151">
                  <a:extLst>
                    <a:ext uri="{9D8B030D-6E8A-4147-A177-3AD203B41FA5}">
                      <a16:colId xmlns:a16="http://schemas.microsoft.com/office/drawing/2014/main" val="3028623430"/>
                    </a:ext>
                  </a:extLst>
                </a:gridCol>
                <a:gridCol w="530443">
                  <a:extLst>
                    <a:ext uri="{9D8B030D-6E8A-4147-A177-3AD203B41FA5}">
                      <a16:colId xmlns:a16="http://schemas.microsoft.com/office/drawing/2014/main" val="3271863834"/>
                    </a:ext>
                  </a:extLst>
                </a:gridCol>
                <a:gridCol w="728234">
                  <a:extLst>
                    <a:ext uri="{9D8B030D-6E8A-4147-A177-3AD203B41FA5}">
                      <a16:colId xmlns:a16="http://schemas.microsoft.com/office/drawing/2014/main" val="3714289886"/>
                    </a:ext>
                  </a:extLst>
                </a:gridCol>
                <a:gridCol w="773187">
                  <a:extLst>
                    <a:ext uri="{9D8B030D-6E8A-4147-A177-3AD203B41FA5}">
                      <a16:colId xmlns:a16="http://schemas.microsoft.com/office/drawing/2014/main" val="3351440661"/>
                    </a:ext>
                  </a:extLst>
                </a:gridCol>
                <a:gridCol w="756912">
                  <a:extLst>
                    <a:ext uri="{9D8B030D-6E8A-4147-A177-3AD203B41FA5}">
                      <a16:colId xmlns:a16="http://schemas.microsoft.com/office/drawing/2014/main" val="630246742"/>
                    </a:ext>
                  </a:extLst>
                </a:gridCol>
                <a:gridCol w="1044000">
                  <a:extLst>
                    <a:ext uri="{9D8B030D-6E8A-4147-A177-3AD203B41FA5}">
                      <a16:colId xmlns:a16="http://schemas.microsoft.com/office/drawing/2014/main" val="3263568440"/>
                    </a:ext>
                  </a:extLst>
                </a:gridCol>
                <a:gridCol w="1044000">
                  <a:extLst>
                    <a:ext uri="{9D8B030D-6E8A-4147-A177-3AD203B41FA5}">
                      <a16:colId xmlns:a16="http://schemas.microsoft.com/office/drawing/2014/main" val="1580788797"/>
                    </a:ext>
                  </a:extLst>
                </a:gridCol>
                <a:gridCol w="1044000">
                  <a:extLst>
                    <a:ext uri="{9D8B030D-6E8A-4147-A177-3AD203B41FA5}">
                      <a16:colId xmlns:a16="http://schemas.microsoft.com/office/drawing/2014/main" val="698724007"/>
                    </a:ext>
                  </a:extLst>
                </a:gridCol>
                <a:gridCol w="1044000">
                  <a:extLst>
                    <a:ext uri="{9D8B030D-6E8A-4147-A177-3AD203B41FA5}">
                      <a16:colId xmlns:a16="http://schemas.microsoft.com/office/drawing/2014/main" val="454124951"/>
                    </a:ext>
                  </a:extLst>
                </a:gridCol>
                <a:gridCol w="1044000">
                  <a:extLst>
                    <a:ext uri="{9D8B030D-6E8A-4147-A177-3AD203B41FA5}">
                      <a16:colId xmlns:a16="http://schemas.microsoft.com/office/drawing/2014/main" val="1760342538"/>
                    </a:ext>
                  </a:extLst>
                </a:gridCol>
                <a:gridCol w="1044000">
                  <a:extLst>
                    <a:ext uri="{9D8B030D-6E8A-4147-A177-3AD203B41FA5}">
                      <a16:colId xmlns:a16="http://schemas.microsoft.com/office/drawing/2014/main" val="1961653559"/>
                    </a:ext>
                  </a:extLst>
                </a:gridCol>
              </a:tblGrid>
              <a:tr h="222069">
                <a:tc>
                  <a:txBody>
                    <a:bodyPr/>
                    <a:lstStyle/>
                    <a:p>
                      <a:pPr algn="ctr"/>
                      <a:r>
                        <a:rPr lang="en-US" sz="1200" dirty="0">
                          <a:latin typeface="Arial Narrow" panose="020B0606020202030204" pitchFamily="34" charset="0"/>
                        </a:rPr>
                        <a:t>Parameter</a:t>
                      </a:r>
                    </a:p>
                  </a:txBody>
                  <a:tcPr/>
                </a:tc>
                <a:tc>
                  <a:txBody>
                    <a:bodyPr/>
                    <a:lstStyle/>
                    <a:p>
                      <a:pPr algn="ctr"/>
                      <a:r>
                        <a:rPr lang="en-US" sz="1200" dirty="0">
                          <a:latin typeface="Arial Narrow" panose="020B0606020202030204" pitchFamily="34" charset="0"/>
                        </a:rPr>
                        <a:t>Limit</a:t>
                      </a:r>
                    </a:p>
                  </a:txBody>
                  <a:tcPr/>
                </a:tc>
                <a:tc>
                  <a:txBody>
                    <a:bodyPr/>
                    <a:lstStyle/>
                    <a:p>
                      <a:pPr algn="ctr"/>
                      <a:r>
                        <a:rPr lang="en-US" sz="1200" dirty="0">
                          <a:latin typeface="Arial Narrow" panose="020B0606020202030204" pitchFamily="34" charset="0"/>
                        </a:rPr>
                        <a:t>RMG</a:t>
                      </a:r>
                    </a:p>
                  </a:txBody>
                  <a:tcPr/>
                </a:tc>
                <a:tc>
                  <a:txBody>
                    <a:bodyPr/>
                    <a:lstStyle/>
                    <a:p>
                      <a:pPr algn="ctr"/>
                      <a:r>
                        <a:rPr lang="en-US" sz="1200" dirty="0">
                          <a:latin typeface="Arial Narrow" panose="020B0606020202030204" pitchFamily="34" charset="0"/>
                        </a:rPr>
                        <a:t>RMK </a:t>
                      </a:r>
                    </a:p>
                  </a:txBody>
                  <a:tcPr/>
                </a:tc>
                <a:tc>
                  <a:txBody>
                    <a:bodyPr/>
                    <a:lstStyle/>
                    <a:p>
                      <a:pPr algn="ctr"/>
                      <a:r>
                        <a:rPr lang="en-US" sz="1200" dirty="0">
                          <a:latin typeface="Arial Narrow" panose="020B0606020202030204" pitchFamily="34" charset="0"/>
                        </a:rPr>
                        <a:t>B24</a:t>
                      </a:r>
                    </a:p>
                  </a:txBody>
                  <a:tcPr/>
                </a:tc>
                <a:tc>
                  <a:txBody>
                    <a:bodyPr/>
                    <a:lstStyle/>
                    <a:p>
                      <a:pPr algn="ctr"/>
                      <a:r>
                        <a:rPr lang="en-US" sz="1200" dirty="0">
                          <a:latin typeface="Arial Narrow" panose="020B0606020202030204" pitchFamily="34" charset="0"/>
                        </a:rPr>
                        <a:t>0.5% Light</a:t>
                      </a:r>
                    </a:p>
                  </a:txBody>
                  <a:tcPr/>
                </a:tc>
                <a:tc>
                  <a:txBody>
                    <a:bodyPr/>
                    <a:lstStyle/>
                    <a:p>
                      <a:pPr algn="ctr"/>
                      <a:r>
                        <a:rPr lang="en-US" sz="1200" dirty="0">
                          <a:latin typeface="Arial Narrow" panose="020B0606020202030204" pitchFamily="34" charset="0"/>
                        </a:rPr>
                        <a:t>1% Light</a:t>
                      </a:r>
                    </a:p>
                  </a:txBody>
                  <a:tcPr/>
                </a:tc>
                <a:tc>
                  <a:txBody>
                    <a:bodyPr/>
                    <a:lstStyle/>
                    <a:p>
                      <a:pPr algn="ctr"/>
                      <a:r>
                        <a:rPr lang="en-US" sz="1200" dirty="0">
                          <a:latin typeface="Arial Narrow" panose="020B0606020202030204" pitchFamily="34" charset="0"/>
                        </a:rPr>
                        <a:t>4% Heavy </a:t>
                      </a:r>
                    </a:p>
                  </a:txBody>
                  <a:tcPr/>
                </a:tc>
                <a:tc>
                  <a:txBody>
                    <a:bodyPr/>
                    <a:lstStyle/>
                    <a:p>
                      <a:pPr algn="ctr"/>
                      <a:r>
                        <a:rPr lang="en-US" sz="1200" dirty="0">
                          <a:latin typeface="Arial Narrow" panose="020B0606020202030204" pitchFamily="34" charset="0"/>
                        </a:rPr>
                        <a:t>8% Heavy</a:t>
                      </a:r>
                    </a:p>
                  </a:txBody>
                  <a:tcPr/>
                </a:tc>
                <a:tc>
                  <a:txBody>
                    <a:bodyPr/>
                    <a:lstStyle/>
                    <a:p>
                      <a:pPr algn="ctr"/>
                      <a:r>
                        <a:rPr lang="en-US" sz="1200" dirty="0">
                          <a:latin typeface="Arial Narrow" panose="020B0606020202030204" pitchFamily="34" charset="0"/>
                        </a:rPr>
                        <a:t>0.5% Whole</a:t>
                      </a:r>
                    </a:p>
                  </a:txBody>
                  <a:tcPr/>
                </a:tc>
                <a:tc>
                  <a:txBody>
                    <a:bodyPr/>
                    <a:lstStyle/>
                    <a:p>
                      <a:pPr algn="ctr"/>
                      <a:r>
                        <a:rPr lang="en-US" sz="1200" dirty="0">
                          <a:latin typeface="Arial Narrow" panose="020B0606020202030204" pitchFamily="34" charset="0"/>
                        </a:rPr>
                        <a:t>1% Whole</a:t>
                      </a:r>
                    </a:p>
                  </a:txBody>
                  <a:tcPr/>
                </a:tc>
                <a:extLst>
                  <a:ext uri="{0D108BD9-81ED-4DB2-BD59-A6C34878D82A}">
                    <a16:rowId xmlns:a16="http://schemas.microsoft.com/office/drawing/2014/main" val="467813828"/>
                  </a:ext>
                </a:extLst>
              </a:tr>
              <a:tr h="222069">
                <a:tc>
                  <a:txBody>
                    <a:bodyPr/>
                    <a:lstStyle/>
                    <a:p>
                      <a:pPr algn="ctr"/>
                      <a:r>
                        <a:rPr lang="en-US" sz="1200" dirty="0">
                          <a:latin typeface="Arial Narrow" panose="020B0606020202030204" pitchFamily="34" charset="0"/>
                        </a:rPr>
                        <a:t>Viscosity at 50 °C (cst)</a:t>
                      </a:r>
                    </a:p>
                  </a:txBody>
                  <a:tcPr/>
                </a:tc>
                <a:tc>
                  <a:txBody>
                    <a:bodyPr/>
                    <a:lstStyle/>
                    <a:p>
                      <a:pPr algn="ctr"/>
                      <a:r>
                        <a:rPr lang="en-US" sz="1200" dirty="0">
                          <a:latin typeface="Arial Narrow" panose="020B0606020202030204" pitchFamily="34" charset="0"/>
                        </a:rPr>
                        <a:t>Max</a:t>
                      </a:r>
                    </a:p>
                  </a:txBody>
                  <a:tcPr/>
                </a:tc>
                <a:tc>
                  <a:txBody>
                    <a:bodyPr/>
                    <a:lstStyle/>
                    <a:p>
                      <a:pPr algn="ctr"/>
                      <a:r>
                        <a:rPr lang="en-US" sz="1200" dirty="0">
                          <a:latin typeface="Arial Narrow" panose="020B0606020202030204" pitchFamily="34" charset="0"/>
                        </a:rPr>
                        <a:t>180-700</a:t>
                      </a:r>
                    </a:p>
                  </a:txBody>
                  <a:tcPr/>
                </a:tc>
                <a:tc>
                  <a:txBody>
                    <a:bodyPr/>
                    <a:lstStyle/>
                    <a:p>
                      <a:pPr algn="ctr"/>
                      <a:r>
                        <a:rPr lang="en-US" sz="1200" dirty="0">
                          <a:latin typeface="Arial Narrow" panose="020B0606020202030204" pitchFamily="34" charset="0"/>
                        </a:rPr>
                        <a:t>380-700</a:t>
                      </a:r>
                    </a:p>
                  </a:txBody>
                  <a:tcPr/>
                </a:tc>
                <a:tc>
                  <a:txBody>
                    <a:bodyPr/>
                    <a:lstStyle/>
                    <a:p>
                      <a:pPr algn="ctr"/>
                      <a:r>
                        <a:rPr lang="en-US" sz="1200" dirty="0">
                          <a:latin typeface="Arial Narrow" panose="020B0606020202030204" pitchFamily="34" charset="0"/>
                        </a:rPr>
                        <a:t>380</a:t>
                      </a:r>
                    </a:p>
                  </a:txBody>
                  <a:tcPr/>
                </a:tc>
                <a:tc>
                  <a:txBody>
                    <a:bodyPr/>
                    <a:lstStyle/>
                    <a:p>
                      <a:pPr algn="ctr"/>
                      <a:r>
                        <a:rPr lang="en-US" sz="1200" dirty="0">
                          <a:latin typeface="Arial Narrow" panose="020B0606020202030204" pitchFamily="34" charset="0"/>
                        </a:rPr>
                        <a:t>205</a:t>
                      </a:r>
                    </a:p>
                  </a:txBody>
                  <a:tcPr/>
                </a:tc>
                <a:tc>
                  <a:txBody>
                    <a:bodyPr/>
                    <a:lstStyle/>
                    <a:p>
                      <a:pPr algn="ctr"/>
                      <a:r>
                        <a:rPr lang="en-US" sz="1200" dirty="0">
                          <a:latin typeface="Arial Narrow" panose="020B0606020202030204" pitchFamily="34" charset="0"/>
                        </a:rPr>
                        <a:t>197</a:t>
                      </a:r>
                    </a:p>
                  </a:txBody>
                  <a:tcPr/>
                </a:tc>
                <a:tc>
                  <a:txBody>
                    <a:bodyPr/>
                    <a:lstStyle/>
                    <a:p>
                      <a:pPr algn="ctr"/>
                      <a:r>
                        <a:rPr lang="en-US" sz="1200" dirty="0">
                          <a:latin typeface="Arial Narrow" panose="020B0606020202030204" pitchFamily="34" charset="0"/>
                        </a:rPr>
                        <a:t>195</a:t>
                      </a:r>
                    </a:p>
                  </a:txBody>
                  <a:tcPr/>
                </a:tc>
                <a:tc>
                  <a:txBody>
                    <a:bodyPr/>
                    <a:lstStyle/>
                    <a:p>
                      <a:pPr algn="ctr"/>
                      <a:r>
                        <a:rPr lang="en-US" sz="1200" dirty="0">
                          <a:latin typeface="Arial Narrow" panose="020B0606020202030204" pitchFamily="34" charset="0"/>
                        </a:rPr>
                        <a:t>196</a:t>
                      </a:r>
                    </a:p>
                  </a:txBody>
                  <a:tcPr/>
                </a:tc>
                <a:tc>
                  <a:txBody>
                    <a:bodyPr/>
                    <a:lstStyle/>
                    <a:p>
                      <a:pPr algn="ctr"/>
                      <a:r>
                        <a:rPr lang="en-US" sz="1200" dirty="0">
                          <a:latin typeface="Arial Narrow" panose="020B0606020202030204" pitchFamily="34" charset="0"/>
                        </a:rPr>
                        <a:t>202</a:t>
                      </a:r>
                    </a:p>
                  </a:txBody>
                  <a:tcPr/>
                </a:tc>
                <a:tc>
                  <a:txBody>
                    <a:bodyPr/>
                    <a:lstStyle/>
                    <a:p>
                      <a:pPr algn="ctr"/>
                      <a:r>
                        <a:rPr lang="en-US" sz="1200" dirty="0">
                          <a:latin typeface="Arial Narrow" panose="020B0606020202030204" pitchFamily="34" charset="0"/>
                        </a:rPr>
                        <a:t>195</a:t>
                      </a:r>
                    </a:p>
                  </a:txBody>
                  <a:tcPr/>
                </a:tc>
                <a:extLst>
                  <a:ext uri="{0D108BD9-81ED-4DB2-BD59-A6C34878D82A}">
                    <a16:rowId xmlns:a16="http://schemas.microsoft.com/office/drawing/2014/main" val="3458744839"/>
                  </a:ext>
                </a:extLst>
              </a:tr>
              <a:tr h="222069">
                <a:tc>
                  <a:txBody>
                    <a:bodyPr/>
                    <a:lstStyle/>
                    <a:p>
                      <a:pPr algn="ctr"/>
                      <a:r>
                        <a:rPr lang="en-US" sz="1200" b="1" dirty="0">
                          <a:latin typeface="Arial Narrow" panose="020B0606020202030204" pitchFamily="34" charset="0"/>
                        </a:rPr>
                        <a:t>Density at 15 °C (kg/m</a:t>
                      </a:r>
                      <a:r>
                        <a:rPr lang="en-US" sz="1200" b="1" baseline="30000" dirty="0">
                          <a:latin typeface="Arial Narrow" panose="020B0606020202030204" pitchFamily="34" charset="0"/>
                        </a:rPr>
                        <a:t>3</a:t>
                      </a:r>
                      <a:r>
                        <a:rPr lang="en-US" sz="1200" b="1" dirty="0">
                          <a:latin typeface="Arial Narrow" panose="020B06060202020302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1010</a:t>
                      </a: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993</a:t>
                      </a:r>
                    </a:p>
                  </a:txBody>
                  <a:tcPr/>
                </a:tc>
                <a:tc>
                  <a:txBody>
                    <a:bodyPr/>
                    <a:lstStyle/>
                    <a:p>
                      <a:pPr algn="ctr"/>
                      <a:r>
                        <a:rPr lang="en-US" sz="1200" dirty="0">
                          <a:latin typeface="Arial Narrow" panose="020B0606020202030204" pitchFamily="34" charset="0"/>
                        </a:rPr>
                        <a:t>995</a:t>
                      </a:r>
                    </a:p>
                  </a:txBody>
                  <a:tcPr/>
                </a:tc>
                <a:tc>
                  <a:txBody>
                    <a:bodyPr/>
                    <a:lstStyle/>
                    <a:p>
                      <a:pPr algn="ctr"/>
                      <a:r>
                        <a:rPr lang="en-US" sz="1200" dirty="0">
                          <a:latin typeface="Arial Narrow" panose="020B0606020202030204" pitchFamily="34" charset="0"/>
                        </a:rPr>
                        <a:t>991</a:t>
                      </a:r>
                    </a:p>
                  </a:txBody>
                  <a:tcPr/>
                </a:tc>
                <a:tc>
                  <a:txBody>
                    <a:bodyPr/>
                    <a:lstStyle/>
                    <a:p>
                      <a:pPr algn="ctr"/>
                      <a:r>
                        <a:rPr lang="en-US" sz="1200" dirty="0">
                          <a:latin typeface="Arial Narrow" panose="020B0606020202030204" pitchFamily="34" charset="0"/>
                        </a:rPr>
                        <a:t>992</a:t>
                      </a:r>
                    </a:p>
                  </a:txBody>
                  <a:tcPr/>
                </a:tc>
                <a:extLst>
                  <a:ext uri="{0D108BD9-81ED-4DB2-BD59-A6C34878D82A}">
                    <a16:rowId xmlns:a16="http://schemas.microsoft.com/office/drawing/2014/main" val="4026830727"/>
                  </a:ext>
                </a:extLst>
              </a:tr>
              <a:tr h="222069">
                <a:tc>
                  <a:txBody>
                    <a:bodyPr/>
                    <a:lstStyle/>
                    <a:p>
                      <a:pPr algn="ctr"/>
                      <a:r>
                        <a:rPr lang="en-US" sz="1200" dirty="0">
                          <a:latin typeface="Arial Narrow" panose="020B0606020202030204" pitchFamily="34" charset="0"/>
                        </a:rPr>
                        <a:t>Aluminum + silicon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60</a:t>
                      </a:r>
                    </a:p>
                  </a:txBody>
                  <a:tcPr/>
                </a:tc>
                <a:tc>
                  <a:txBody>
                    <a:bodyPr/>
                    <a:lstStyle/>
                    <a:p>
                      <a:pPr algn="ctr"/>
                      <a:r>
                        <a:rPr lang="en-US" sz="1200" dirty="0">
                          <a:latin typeface="Arial Narrow" panose="020B0606020202030204" pitchFamily="34" charset="0"/>
                        </a:rPr>
                        <a:t>36</a:t>
                      </a:r>
                    </a:p>
                  </a:txBody>
                  <a:tcPr/>
                </a:tc>
                <a:tc>
                  <a:txBody>
                    <a:bodyPr/>
                    <a:lstStyle/>
                    <a:p>
                      <a:pPr algn="ctr"/>
                      <a:r>
                        <a:rPr lang="en-US" sz="1200" dirty="0">
                          <a:latin typeface="Arial Narrow" panose="020B0606020202030204" pitchFamily="34" charset="0"/>
                        </a:rPr>
                        <a:t>28</a:t>
                      </a:r>
                    </a:p>
                  </a:txBody>
                  <a:tcPr/>
                </a:tc>
                <a:tc>
                  <a:txBody>
                    <a:bodyPr/>
                    <a:lstStyle/>
                    <a:p>
                      <a:pPr algn="ctr"/>
                      <a:r>
                        <a:rPr lang="en-US" sz="1200" dirty="0">
                          <a:latin typeface="Arial Narrow" panose="020B0606020202030204" pitchFamily="34" charset="0"/>
                        </a:rPr>
                        <a:t>28</a:t>
                      </a:r>
                    </a:p>
                  </a:txBody>
                  <a:tcPr/>
                </a:tc>
                <a:tc>
                  <a:txBody>
                    <a:bodyPr/>
                    <a:lstStyle/>
                    <a:p>
                      <a:pPr algn="ctr"/>
                      <a:r>
                        <a:rPr lang="en-US" sz="1200" dirty="0">
                          <a:latin typeface="Arial Narrow" panose="020B0606020202030204" pitchFamily="34" charset="0"/>
                        </a:rPr>
                        <a:t>34</a:t>
                      </a:r>
                    </a:p>
                  </a:txBody>
                  <a:tcPr/>
                </a:tc>
                <a:tc>
                  <a:txBody>
                    <a:bodyPr/>
                    <a:lstStyle/>
                    <a:p>
                      <a:pPr algn="ctr"/>
                      <a:r>
                        <a:rPr lang="en-US" sz="1200" dirty="0">
                          <a:latin typeface="Arial Narrow" panose="020B0606020202030204" pitchFamily="34" charset="0"/>
                        </a:rPr>
                        <a:t>31</a:t>
                      </a:r>
                    </a:p>
                  </a:txBody>
                  <a:tcPr/>
                </a:tc>
                <a:tc>
                  <a:txBody>
                    <a:bodyPr/>
                    <a:lstStyle/>
                    <a:p>
                      <a:pPr algn="ctr"/>
                      <a:r>
                        <a:rPr lang="en-US" sz="1200" dirty="0">
                          <a:latin typeface="Arial Narrow" panose="020B0606020202030204" pitchFamily="34" charset="0"/>
                        </a:rPr>
                        <a:t>32</a:t>
                      </a:r>
                    </a:p>
                  </a:txBody>
                  <a:tcPr/>
                </a:tc>
                <a:extLst>
                  <a:ext uri="{0D108BD9-81ED-4DB2-BD59-A6C34878D82A}">
                    <a16:rowId xmlns:a16="http://schemas.microsoft.com/office/drawing/2014/main" val="3940457139"/>
                  </a:ext>
                </a:extLst>
              </a:tr>
              <a:tr h="222069">
                <a:tc>
                  <a:txBody>
                    <a:bodyPr/>
                    <a:lstStyle/>
                    <a:p>
                      <a:pPr algn="ctr"/>
                      <a:r>
                        <a:rPr lang="en-US" sz="1200" dirty="0">
                          <a:latin typeface="Arial Narrow" panose="020B0606020202030204" pitchFamily="34" charset="0"/>
                        </a:rPr>
                        <a:t>Sodium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100</a:t>
                      </a:r>
                    </a:p>
                  </a:txBody>
                  <a:tcPr/>
                </a:tc>
                <a:tc>
                  <a:txBody>
                    <a:bodyPr/>
                    <a:lstStyle/>
                    <a:p>
                      <a:pPr algn="ctr"/>
                      <a:r>
                        <a:rPr lang="en-US" sz="1200" dirty="0">
                          <a:latin typeface="Arial Narrow" panose="020B0606020202030204" pitchFamily="34" charset="0"/>
                        </a:rPr>
                        <a:t>45</a:t>
                      </a:r>
                    </a:p>
                  </a:txBody>
                  <a:tcPr/>
                </a:tc>
                <a:tc>
                  <a:txBody>
                    <a:bodyPr/>
                    <a:lstStyle/>
                    <a:p>
                      <a:pPr algn="ctr"/>
                      <a:r>
                        <a:rPr lang="en-US" sz="1200" dirty="0">
                          <a:latin typeface="Arial Narrow" panose="020B0606020202030204" pitchFamily="34" charset="0"/>
                        </a:rPr>
                        <a:t>32</a:t>
                      </a:r>
                    </a:p>
                  </a:txBody>
                  <a:tcPr/>
                </a:tc>
                <a:tc>
                  <a:txBody>
                    <a:bodyPr/>
                    <a:lstStyle/>
                    <a:p>
                      <a:pPr algn="ctr"/>
                      <a:r>
                        <a:rPr lang="en-US" sz="1200" dirty="0">
                          <a:latin typeface="Arial Narrow" panose="020B0606020202030204" pitchFamily="34" charset="0"/>
                        </a:rPr>
                        <a:t>36</a:t>
                      </a:r>
                    </a:p>
                  </a:txBody>
                  <a:tcPr/>
                </a:tc>
                <a:tc>
                  <a:txBody>
                    <a:bodyPr/>
                    <a:lstStyle/>
                    <a:p>
                      <a:pPr algn="ctr"/>
                      <a:r>
                        <a:rPr lang="en-US" sz="1200" dirty="0">
                          <a:latin typeface="Arial Narrow" panose="020B0606020202030204" pitchFamily="34" charset="0"/>
                        </a:rPr>
                        <a:t>38</a:t>
                      </a:r>
                    </a:p>
                  </a:txBody>
                  <a:tcPr/>
                </a:tc>
                <a:tc>
                  <a:txBody>
                    <a:bodyPr/>
                    <a:lstStyle/>
                    <a:p>
                      <a:pPr algn="ctr"/>
                      <a:r>
                        <a:rPr lang="en-US" sz="1200" dirty="0">
                          <a:latin typeface="Arial Narrow" panose="020B0606020202030204" pitchFamily="34" charset="0"/>
                        </a:rPr>
                        <a:t>35</a:t>
                      </a:r>
                    </a:p>
                  </a:txBody>
                  <a:tcPr/>
                </a:tc>
                <a:tc>
                  <a:txBody>
                    <a:bodyPr/>
                    <a:lstStyle/>
                    <a:p>
                      <a:pPr algn="ctr"/>
                      <a:r>
                        <a:rPr lang="en-US" sz="1200" dirty="0">
                          <a:latin typeface="Arial Narrow" panose="020B0606020202030204" pitchFamily="34" charset="0"/>
                        </a:rPr>
                        <a:t>35</a:t>
                      </a:r>
                    </a:p>
                  </a:txBody>
                  <a:tcPr/>
                </a:tc>
                <a:extLst>
                  <a:ext uri="{0D108BD9-81ED-4DB2-BD59-A6C34878D82A}">
                    <a16:rowId xmlns:a16="http://schemas.microsoft.com/office/drawing/2014/main" val="197068746"/>
                  </a:ext>
                </a:extLst>
              </a:tr>
              <a:tr h="222069">
                <a:tc>
                  <a:txBody>
                    <a:bodyPr/>
                    <a:lstStyle/>
                    <a:p>
                      <a:pPr algn="ctr"/>
                      <a:r>
                        <a:rPr lang="en-US" sz="1200" dirty="0">
                          <a:latin typeface="Arial Narrow" panose="020B0606020202030204" pitchFamily="34" charset="0"/>
                        </a:rPr>
                        <a:t>Vanadium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350</a:t>
                      </a:r>
                    </a:p>
                  </a:txBody>
                  <a:tcPr/>
                </a:tc>
                <a:tc>
                  <a:txBody>
                    <a:bodyPr/>
                    <a:lstStyle/>
                    <a:p>
                      <a:pPr algn="ctr"/>
                      <a:r>
                        <a:rPr lang="en-US" sz="1200" dirty="0">
                          <a:latin typeface="Arial Narrow" panose="020B0606020202030204" pitchFamily="34" charset="0"/>
                        </a:rPr>
                        <a:t>450</a:t>
                      </a:r>
                    </a:p>
                  </a:txBody>
                  <a:tcPr/>
                </a:tc>
                <a:tc>
                  <a:txBody>
                    <a:bodyPr/>
                    <a:lstStyle/>
                    <a:p>
                      <a:pPr algn="ctr"/>
                      <a:r>
                        <a:rPr lang="en-US" sz="1200" dirty="0">
                          <a:latin typeface="Arial Narrow" panose="020B0606020202030204" pitchFamily="34" charset="0"/>
                        </a:rPr>
                        <a:t>350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884561804"/>
                  </a:ext>
                </a:extLst>
              </a:tr>
              <a:tr h="222069">
                <a:tc>
                  <a:txBody>
                    <a:bodyPr/>
                    <a:lstStyle/>
                    <a:p>
                      <a:pPr algn="ctr"/>
                      <a:r>
                        <a:rPr lang="en-US" sz="1200" dirty="0">
                          <a:latin typeface="Arial Narrow" panose="020B0606020202030204" pitchFamily="34" charset="0"/>
                        </a:rPr>
                        <a:t>CCAI</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870</a:t>
                      </a:r>
                    </a:p>
                  </a:txBody>
                  <a:tcPr/>
                </a:tc>
                <a:tc>
                  <a:txBody>
                    <a:bodyPr/>
                    <a:lstStyle/>
                    <a:p>
                      <a:pPr algn="ctr"/>
                      <a:r>
                        <a:rPr lang="en-US" sz="1200" dirty="0">
                          <a:latin typeface="Arial Narrow" panose="020B0606020202030204" pitchFamily="34" charset="0"/>
                        </a:rPr>
                        <a:t>859</a:t>
                      </a:r>
                    </a:p>
                  </a:txBody>
                  <a:tcPr/>
                </a:tc>
                <a:tc>
                  <a:txBody>
                    <a:bodyPr/>
                    <a:lstStyle/>
                    <a:p>
                      <a:pPr algn="ctr"/>
                      <a:r>
                        <a:rPr lang="en-US" sz="1200" dirty="0">
                          <a:latin typeface="Arial Narrow" panose="020B0606020202030204" pitchFamily="34" charset="0"/>
                        </a:rPr>
                        <a:t>860</a:t>
                      </a:r>
                    </a:p>
                  </a:txBody>
                  <a:tcPr/>
                </a:tc>
                <a:tc>
                  <a:txBody>
                    <a:bodyPr/>
                    <a:lstStyle/>
                    <a:p>
                      <a:pPr algn="ctr"/>
                      <a:r>
                        <a:rPr lang="en-US" sz="1200" dirty="0">
                          <a:latin typeface="Arial Narrow" panose="020B0606020202030204" pitchFamily="34" charset="0"/>
                        </a:rPr>
                        <a:t>861</a:t>
                      </a:r>
                    </a:p>
                  </a:txBody>
                  <a:tcPr/>
                </a:tc>
                <a:tc>
                  <a:txBody>
                    <a:bodyPr/>
                    <a:lstStyle/>
                    <a:p>
                      <a:pPr algn="ctr"/>
                      <a:r>
                        <a:rPr lang="en-US" sz="1200" dirty="0">
                          <a:latin typeface="Arial Narrow" panose="020B0606020202030204" pitchFamily="34" charset="0"/>
                        </a:rPr>
                        <a:t>863</a:t>
                      </a:r>
                    </a:p>
                  </a:txBody>
                  <a:tcPr/>
                </a:tc>
                <a:tc>
                  <a:txBody>
                    <a:bodyPr/>
                    <a:lstStyle/>
                    <a:p>
                      <a:pPr algn="ctr"/>
                      <a:r>
                        <a:rPr lang="en-US" sz="1200" dirty="0">
                          <a:latin typeface="Arial Narrow" panose="020B0606020202030204" pitchFamily="34" charset="0"/>
                        </a:rPr>
                        <a:t>859</a:t>
                      </a:r>
                    </a:p>
                  </a:txBody>
                  <a:tcPr/>
                </a:tc>
                <a:tc>
                  <a:txBody>
                    <a:bodyPr/>
                    <a:lstStyle/>
                    <a:p>
                      <a:pPr algn="ctr"/>
                      <a:r>
                        <a:rPr lang="en-US" sz="1200" dirty="0">
                          <a:latin typeface="Arial Narrow" panose="020B0606020202030204" pitchFamily="34" charset="0"/>
                        </a:rPr>
                        <a:t>860</a:t>
                      </a:r>
                    </a:p>
                  </a:txBody>
                  <a:tcPr/>
                </a:tc>
                <a:extLst>
                  <a:ext uri="{0D108BD9-81ED-4DB2-BD59-A6C34878D82A}">
                    <a16:rowId xmlns:a16="http://schemas.microsoft.com/office/drawing/2014/main" val="4039336865"/>
                  </a:ext>
                </a:extLst>
              </a:tr>
              <a:tr h="222069">
                <a:tc>
                  <a:txBody>
                    <a:bodyPr/>
                    <a:lstStyle/>
                    <a:p>
                      <a:pPr algn="ctr"/>
                      <a:r>
                        <a:rPr lang="en-US" sz="1200" dirty="0">
                          <a:latin typeface="Arial Narrow" panose="020B0606020202030204" pitchFamily="34" charset="0"/>
                        </a:rPr>
                        <a:t>Water (% V/V)</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0.47</a:t>
                      </a:r>
                    </a:p>
                  </a:txBody>
                  <a:tcPr/>
                </a:tc>
                <a:tc>
                  <a:txBody>
                    <a:bodyPr/>
                    <a:lstStyle/>
                    <a:p>
                      <a:pPr algn="ctr"/>
                      <a:r>
                        <a:rPr lang="en-US" sz="1200" dirty="0">
                          <a:latin typeface="Arial Narrow" panose="020B0606020202030204" pitchFamily="34" charset="0"/>
                        </a:rPr>
                        <a:t>0.43</a:t>
                      </a:r>
                    </a:p>
                  </a:txBody>
                  <a:tcPr/>
                </a:tc>
                <a:tc>
                  <a:txBody>
                    <a:bodyPr/>
                    <a:lstStyle/>
                    <a:p>
                      <a:pPr algn="ctr"/>
                      <a:r>
                        <a:rPr lang="en-US" sz="1200" dirty="0">
                          <a:latin typeface="Arial Narrow" panose="020B0606020202030204" pitchFamily="34" charset="0"/>
                        </a:rPr>
                        <a:t>0.48</a:t>
                      </a:r>
                    </a:p>
                  </a:txBody>
                  <a:tcPr/>
                </a:tc>
                <a:tc>
                  <a:txBody>
                    <a:bodyPr/>
                    <a:lstStyle/>
                    <a:p>
                      <a:pPr algn="ctr"/>
                      <a:r>
                        <a:rPr lang="en-US" sz="1200" b="1" dirty="0">
                          <a:solidFill>
                            <a:srgbClr val="FF0000"/>
                          </a:solidFill>
                          <a:latin typeface="Arial Narrow" panose="020B0606020202030204" pitchFamily="34" charset="0"/>
                        </a:rPr>
                        <a:t>0.53</a:t>
                      </a:r>
                    </a:p>
                  </a:txBody>
                  <a:tcPr/>
                </a:tc>
                <a:tc>
                  <a:txBody>
                    <a:bodyPr/>
                    <a:lstStyle/>
                    <a:p>
                      <a:pPr algn="ctr"/>
                      <a:r>
                        <a:rPr lang="en-US" sz="1200" dirty="0">
                          <a:latin typeface="Arial Narrow" panose="020B0606020202030204" pitchFamily="34" charset="0"/>
                        </a:rPr>
                        <a:t>0.49</a:t>
                      </a:r>
                    </a:p>
                  </a:txBody>
                  <a:tcPr/>
                </a:tc>
                <a:tc>
                  <a:txBody>
                    <a:bodyPr/>
                    <a:lstStyle/>
                    <a:p>
                      <a:pPr algn="ctr"/>
                      <a:r>
                        <a:rPr lang="en-US" sz="1200" dirty="0">
                          <a:latin typeface="Arial Narrow" panose="020B0606020202030204" pitchFamily="34" charset="0"/>
                        </a:rPr>
                        <a:t>0.43</a:t>
                      </a:r>
                    </a:p>
                  </a:txBody>
                  <a:tcPr/>
                </a:tc>
                <a:extLst>
                  <a:ext uri="{0D108BD9-81ED-4DB2-BD59-A6C34878D82A}">
                    <a16:rowId xmlns:a16="http://schemas.microsoft.com/office/drawing/2014/main" val="4288853695"/>
                  </a:ext>
                </a:extLst>
              </a:tr>
              <a:tr h="222069">
                <a:tc>
                  <a:txBody>
                    <a:bodyPr/>
                    <a:lstStyle/>
                    <a:p>
                      <a:pPr algn="ctr"/>
                      <a:r>
                        <a:rPr lang="en-US" sz="1200" dirty="0">
                          <a:latin typeface="Arial Narrow" panose="020B0606020202030204" pitchFamily="34" charset="0"/>
                        </a:rPr>
                        <a:t>Sulphur (% m/m)</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0.5</a:t>
                      </a:r>
                    </a:p>
                  </a:txBody>
                  <a:tcPr/>
                </a:tc>
                <a:tc>
                  <a:txBody>
                    <a:bodyPr/>
                    <a:lstStyle/>
                    <a:p>
                      <a:pPr algn="ctr"/>
                      <a:r>
                        <a:rPr lang="en-US" sz="1200" dirty="0">
                          <a:latin typeface="Arial Narrow" panose="020B0606020202030204" pitchFamily="34" charset="0"/>
                        </a:rPr>
                        <a:t>0.34</a:t>
                      </a:r>
                    </a:p>
                  </a:txBody>
                  <a:tcPr/>
                </a:tc>
                <a:tc>
                  <a:txBody>
                    <a:bodyPr/>
                    <a:lstStyle/>
                    <a:p>
                      <a:pPr algn="ctr"/>
                      <a:r>
                        <a:rPr lang="en-US" sz="1200" dirty="0">
                          <a:latin typeface="Arial Narrow" panose="020B0606020202030204" pitchFamily="34" charset="0"/>
                        </a:rPr>
                        <a:t>0.33</a:t>
                      </a:r>
                    </a:p>
                  </a:txBody>
                  <a:tcPr/>
                </a:tc>
                <a:tc>
                  <a:txBody>
                    <a:bodyPr/>
                    <a:lstStyle/>
                    <a:p>
                      <a:pPr algn="ctr"/>
                      <a:r>
                        <a:rPr lang="en-US" sz="1200" dirty="0">
                          <a:latin typeface="Arial Narrow" panose="020B0606020202030204" pitchFamily="34" charset="0"/>
                        </a:rPr>
                        <a:t>0.34</a:t>
                      </a:r>
                    </a:p>
                  </a:txBody>
                  <a:tcPr/>
                </a:tc>
                <a:tc>
                  <a:txBody>
                    <a:bodyPr/>
                    <a:lstStyle/>
                    <a:p>
                      <a:pPr algn="ctr"/>
                      <a:r>
                        <a:rPr lang="en-US" sz="1200" dirty="0">
                          <a:latin typeface="Arial Narrow" panose="020B0606020202030204" pitchFamily="34" charset="0"/>
                        </a:rPr>
                        <a:t>0.33</a:t>
                      </a:r>
                    </a:p>
                  </a:txBody>
                  <a:tcPr/>
                </a:tc>
                <a:tc>
                  <a:txBody>
                    <a:bodyPr/>
                    <a:lstStyle/>
                    <a:p>
                      <a:pPr algn="ctr"/>
                      <a:r>
                        <a:rPr lang="en-US" sz="1200" dirty="0">
                          <a:latin typeface="Arial Narrow" panose="020B0606020202030204" pitchFamily="34" charset="0"/>
                        </a:rPr>
                        <a:t>0.31</a:t>
                      </a:r>
                    </a:p>
                  </a:txBody>
                  <a:tcPr/>
                </a:tc>
                <a:tc>
                  <a:txBody>
                    <a:bodyPr/>
                    <a:lstStyle/>
                    <a:p>
                      <a:pPr algn="ctr"/>
                      <a:r>
                        <a:rPr lang="en-US" sz="1200" dirty="0">
                          <a:latin typeface="Arial Narrow" panose="020B0606020202030204" pitchFamily="34" charset="0"/>
                        </a:rPr>
                        <a:t>0.36</a:t>
                      </a:r>
                    </a:p>
                  </a:txBody>
                  <a:tcPr/>
                </a:tc>
                <a:extLst>
                  <a:ext uri="{0D108BD9-81ED-4DB2-BD59-A6C34878D82A}">
                    <a16:rowId xmlns:a16="http://schemas.microsoft.com/office/drawing/2014/main" val="17048947"/>
                  </a:ext>
                </a:extLst>
              </a:tr>
              <a:tr h="140286">
                <a:tc>
                  <a:txBody>
                    <a:bodyPr/>
                    <a:lstStyle/>
                    <a:p>
                      <a:pPr algn="ctr"/>
                      <a:r>
                        <a:rPr lang="en-US" sz="1200" dirty="0">
                          <a:latin typeface="Arial Narrow" panose="020B0606020202030204" pitchFamily="34" charset="0"/>
                        </a:rPr>
                        <a:t>Acid number (mg KOH/g)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dirty="0">
                          <a:latin typeface="Arial Narrow" panose="020B0606020202030204" pitchFamily="34" charset="0"/>
                        </a:rPr>
                        <a:t>2.5</a:t>
                      </a:r>
                    </a:p>
                  </a:txBody>
                  <a:tcPr/>
                </a:tc>
                <a:tc>
                  <a:txBody>
                    <a:bodyPr/>
                    <a:lstStyle/>
                    <a:p>
                      <a:pPr algn="ctr"/>
                      <a:r>
                        <a:rPr lang="en-US" sz="1200" b="1" dirty="0">
                          <a:solidFill>
                            <a:srgbClr val="FF0000"/>
                          </a:solidFill>
                          <a:latin typeface="Arial Narrow" panose="020B0606020202030204" pitchFamily="34" charset="0"/>
                        </a:rPr>
                        <a:t>2.67</a:t>
                      </a:r>
                    </a:p>
                  </a:txBody>
                  <a:tcPr/>
                </a:tc>
                <a:tc>
                  <a:txBody>
                    <a:bodyPr/>
                    <a:lstStyle/>
                    <a:p>
                      <a:pPr algn="ctr"/>
                      <a:r>
                        <a:rPr lang="en-US" sz="1200" b="1" dirty="0">
                          <a:solidFill>
                            <a:srgbClr val="FF0000"/>
                          </a:solidFill>
                          <a:latin typeface="Arial Narrow" panose="020B0606020202030204" pitchFamily="34" charset="0"/>
                        </a:rPr>
                        <a:t>3.71</a:t>
                      </a:r>
                    </a:p>
                  </a:txBody>
                  <a:tcPr/>
                </a:tc>
                <a:tc>
                  <a:txBody>
                    <a:bodyPr/>
                    <a:lstStyle/>
                    <a:p>
                      <a:pPr algn="ctr"/>
                      <a:r>
                        <a:rPr lang="en-US" sz="1200" dirty="0">
                          <a:latin typeface="Arial Narrow" panose="020B0606020202030204" pitchFamily="34" charset="0"/>
                        </a:rPr>
                        <a:t>2.40</a:t>
                      </a:r>
                    </a:p>
                  </a:txBody>
                  <a:tcPr/>
                </a:tc>
                <a:tc>
                  <a:txBody>
                    <a:bodyPr/>
                    <a:lstStyle/>
                    <a:p>
                      <a:pPr algn="ctr"/>
                      <a:r>
                        <a:rPr lang="en-US" sz="1200" b="1" dirty="0">
                          <a:solidFill>
                            <a:srgbClr val="FF0000"/>
                          </a:solidFill>
                          <a:latin typeface="Arial Narrow" panose="020B0606020202030204" pitchFamily="34" charset="0"/>
                        </a:rPr>
                        <a:t>3.26</a:t>
                      </a:r>
                    </a:p>
                  </a:txBody>
                  <a:tcPr/>
                </a:tc>
                <a:tc>
                  <a:txBody>
                    <a:bodyPr/>
                    <a:lstStyle/>
                    <a:p>
                      <a:pPr algn="ctr"/>
                      <a:r>
                        <a:rPr lang="en-US" sz="1200" dirty="0">
                          <a:latin typeface="Arial Narrow" panose="020B0606020202030204" pitchFamily="34" charset="0"/>
                        </a:rPr>
                        <a:t>2.45</a:t>
                      </a:r>
                    </a:p>
                  </a:txBody>
                  <a:tcPr/>
                </a:tc>
                <a:tc>
                  <a:txBody>
                    <a:bodyPr/>
                    <a:lstStyle/>
                    <a:p>
                      <a:pPr algn="ctr"/>
                      <a:r>
                        <a:rPr lang="en-US" sz="1200" b="1" dirty="0">
                          <a:solidFill>
                            <a:srgbClr val="FF0000"/>
                          </a:solidFill>
                          <a:latin typeface="Arial Narrow" panose="020B0606020202030204" pitchFamily="34" charset="0"/>
                        </a:rPr>
                        <a:t>4.98</a:t>
                      </a:r>
                    </a:p>
                  </a:txBody>
                  <a:tcPr/>
                </a:tc>
                <a:extLst>
                  <a:ext uri="{0D108BD9-81ED-4DB2-BD59-A6C34878D82A}">
                    <a16:rowId xmlns:a16="http://schemas.microsoft.com/office/drawing/2014/main" val="3670828557"/>
                  </a:ext>
                </a:extLst>
              </a:tr>
              <a:tr h="140286">
                <a:tc>
                  <a:txBody>
                    <a:bodyPr/>
                    <a:lstStyle/>
                    <a:p>
                      <a:pPr algn="ctr"/>
                      <a:r>
                        <a:rPr lang="en-US" sz="1200" dirty="0">
                          <a:latin typeface="Arial Narrow" panose="020B0606020202030204" pitchFamily="34" charset="0"/>
                        </a:rPr>
                        <a:t>Calcium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dirty="0">
                          <a:latin typeface="Arial Narrow" panose="020B0606020202030204" pitchFamily="34" charset="0"/>
                        </a:rPr>
                        <a:t>30</a:t>
                      </a:r>
                    </a:p>
                  </a:txBody>
                  <a:tcPr/>
                </a:tc>
                <a:tc>
                  <a:txBody>
                    <a:bodyPr/>
                    <a:lstStyle/>
                    <a:p>
                      <a:pPr algn="ctr"/>
                      <a:r>
                        <a:rPr lang="en-US" sz="1200" b="1" dirty="0">
                          <a:latin typeface="Arial Narrow" panose="020B0606020202030204" pitchFamily="34" charset="0"/>
                        </a:rPr>
                        <a:t>53*</a:t>
                      </a:r>
                    </a:p>
                  </a:txBody>
                  <a:tcPr/>
                </a:tc>
                <a:tc>
                  <a:txBody>
                    <a:bodyPr/>
                    <a:lstStyle/>
                    <a:p>
                      <a:pPr algn="ctr"/>
                      <a:r>
                        <a:rPr lang="en-US" sz="1200" b="1" dirty="0">
                          <a:latin typeface="Arial Narrow" panose="020B0606020202030204" pitchFamily="34" charset="0"/>
                        </a:rPr>
                        <a:t>47*</a:t>
                      </a:r>
                    </a:p>
                  </a:txBody>
                  <a:tcPr/>
                </a:tc>
                <a:tc>
                  <a:txBody>
                    <a:bodyPr/>
                    <a:lstStyle/>
                    <a:p>
                      <a:pPr algn="ctr"/>
                      <a:r>
                        <a:rPr lang="en-US" sz="1200" b="1" dirty="0">
                          <a:latin typeface="Arial Narrow" panose="020B0606020202030204" pitchFamily="34" charset="0"/>
                        </a:rPr>
                        <a:t>51*</a:t>
                      </a:r>
                    </a:p>
                  </a:txBody>
                  <a:tcPr/>
                </a:tc>
                <a:tc>
                  <a:txBody>
                    <a:bodyPr/>
                    <a:lstStyle/>
                    <a:p>
                      <a:pPr algn="ctr"/>
                      <a:r>
                        <a:rPr lang="en-US" sz="1200" b="1" dirty="0">
                          <a:solidFill>
                            <a:srgbClr val="FF0000"/>
                          </a:solidFill>
                          <a:latin typeface="Arial Narrow" panose="020B0606020202030204" pitchFamily="34" charset="0"/>
                        </a:rPr>
                        <a:t>55</a:t>
                      </a:r>
                    </a:p>
                  </a:txBody>
                  <a:tcPr/>
                </a:tc>
                <a:tc>
                  <a:txBody>
                    <a:bodyPr/>
                    <a:lstStyle/>
                    <a:p>
                      <a:pPr algn="ctr"/>
                      <a:r>
                        <a:rPr lang="en-US" sz="1200" b="1" dirty="0">
                          <a:solidFill>
                            <a:schemeClr val="tx1"/>
                          </a:solidFill>
                          <a:latin typeface="Arial Narrow" panose="020B0606020202030204" pitchFamily="34" charset="0"/>
                        </a:rPr>
                        <a:t>52*</a:t>
                      </a:r>
                    </a:p>
                  </a:txBody>
                  <a:tcPr/>
                </a:tc>
                <a:tc>
                  <a:txBody>
                    <a:bodyPr/>
                    <a:lstStyle/>
                    <a:p>
                      <a:pPr algn="ctr"/>
                      <a:r>
                        <a:rPr lang="en-US" sz="1200" dirty="0">
                          <a:latin typeface="Arial Narrow" panose="020B0606020202030204" pitchFamily="34" charset="0"/>
                        </a:rPr>
                        <a:t>54</a:t>
                      </a:r>
                    </a:p>
                  </a:txBody>
                  <a:tcPr/>
                </a:tc>
                <a:extLst>
                  <a:ext uri="{0D108BD9-81ED-4DB2-BD59-A6C34878D82A}">
                    <a16:rowId xmlns:a16="http://schemas.microsoft.com/office/drawing/2014/main" val="2922994497"/>
                  </a:ext>
                </a:extLst>
              </a:tr>
              <a:tr h="140286">
                <a:tc>
                  <a:txBody>
                    <a:bodyPr/>
                    <a:lstStyle/>
                    <a:p>
                      <a:pPr algn="ctr"/>
                      <a:r>
                        <a:rPr lang="en-US" sz="1200" dirty="0">
                          <a:latin typeface="Arial Narrow" panose="020B0606020202030204" pitchFamily="34" charset="0"/>
                        </a:rPr>
                        <a:t>Zinc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tc>
                  <a:txBody>
                    <a:bodyPr/>
                    <a:lstStyle/>
                    <a:p>
                      <a:pPr algn="ctr"/>
                      <a:r>
                        <a:rPr lang="en-US" sz="1200" dirty="0">
                          <a:solidFill>
                            <a:schemeClr val="tx1"/>
                          </a:solidFill>
                          <a:latin typeface="Arial Narrow" panose="020B0606020202030204" pitchFamily="34" charset="0"/>
                        </a:rPr>
                        <a:t>0</a:t>
                      </a:r>
                    </a:p>
                  </a:txBody>
                  <a:tcPr/>
                </a:tc>
                <a:tc>
                  <a:txBody>
                    <a:bodyPr/>
                    <a:lstStyle/>
                    <a:p>
                      <a:pPr algn="ctr"/>
                      <a:r>
                        <a:rPr lang="en-US" sz="1200" dirty="0">
                          <a:latin typeface="Arial Narrow" panose="020B0606020202030204" pitchFamily="34" charset="0"/>
                        </a:rPr>
                        <a:t>0</a:t>
                      </a:r>
                    </a:p>
                  </a:txBody>
                  <a:tcPr/>
                </a:tc>
                <a:extLst>
                  <a:ext uri="{0D108BD9-81ED-4DB2-BD59-A6C34878D82A}">
                    <a16:rowId xmlns:a16="http://schemas.microsoft.com/office/drawing/2014/main" val="1356560186"/>
                  </a:ext>
                </a:extLst>
              </a:tr>
              <a:tr h="140286">
                <a:tc>
                  <a:txBody>
                    <a:bodyPr/>
                    <a:lstStyle/>
                    <a:p>
                      <a:pPr algn="ctr"/>
                      <a:r>
                        <a:rPr lang="en-US" sz="1200" dirty="0">
                          <a:latin typeface="Arial Narrow" panose="020B0606020202030204" pitchFamily="34" charset="0"/>
                        </a:rPr>
                        <a:t>Phosphorus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15</a:t>
                      </a:r>
                    </a:p>
                  </a:txBody>
                  <a:tcPr/>
                </a:tc>
                <a:tc>
                  <a:txBody>
                    <a:bodyPr/>
                    <a:lstStyle/>
                    <a:p>
                      <a:pPr algn="ctr"/>
                      <a:r>
                        <a:rPr lang="en-US" sz="1200" dirty="0">
                          <a:latin typeface="Arial Narrow" panose="020B0606020202030204" pitchFamily="34" charset="0"/>
                        </a:rPr>
                        <a:t>13</a:t>
                      </a:r>
                    </a:p>
                  </a:txBody>
                  <a:tcPr/>
                </a:tc>
                <a:tc>
                  <a:txBody>
                    <a:bodyPr/>
                    <a:lstStyle/>
                    <a:p>
                      <a:pPr algn="ctr"/>
                      <a:r>
                        <a:rPr lang="en-US" sz="1200" dirty="0">
                          <a:latin typeface="Arial Narrow" panose="020B0606020202030204" pitchFamily="34" charset="0"/>
                        </a:rPr>
                        <a:t>13</a:t>
                      </a:r>
                    </a:p>
                  </a:txBody>
                  <a:tcPr/>
                </a:tc>
                <a:tc>
                  <a:txBody>
                    <a:bodyPr/>
                    <a:lstStyle/>
                    <a:p>
                      <a:pPr algn="ctr"/>
                      <a:r>
                        <a:rPr lang="en-US" sz="1200" dirty="0">
                          <a:latin typeface="Arial Narrow" panose="020B0606020202030204" pitchFamily="34" charset="0"/>
                        </a:rPr>
                        <a:t>4</a:t>
                      </a:r>
                    </a:p>
                  </a:txBody>
                  <a:tcPr/>
                </a:tc>
                <a:tc>
                  <a:txBody>
                    <a:bodyPr/>
                    <a:lstStyle/>
                    <a:p>
                      <a:pPr algn="ctr"/>
                      <a:r>
                        <a:rPr lang="en-US" sz="1200" b="1" dirty="0">
                          <a:solidFill>
                            <a:srgbClr val="FF0000"/>
                          </a:solidFill>
                          <a:latin typeface="Arial Narrow" panose="020B0606020202030204" pitchFamily="34" charset="0"/>
                        </a:rPr>
                        <a:t>24</a:t>
                      </a:r>
                    </a:p>
                  </a:txBody>
                  <a:tcPr/>
                </a:tc>
                <a:tc>
                  <a:txBody>
                    <a:bodyPr/>
                    <a:lstStyle/>
                    <a:p>
                      <a:pPr algn="ctr"/>
                      <a:r>
                        <a:rPr lang="en-US" sz="1200" b="0" dirty="0">
                          <a:solidFill>
                            <a:schemeClr val="tx1"/>
                          </a:solidFill>
                          <a:latin typeface="Arial Narrow" panose="020B0606020202030204" pitchFamily="34" charset="0"/>
                        </a:rPr>
                        <a:t>5</a:t>
                      </a:r>
                    </a:p>
                  </a:txBody>
                  <a:tcPr/>
                </a:tc>
                <a:tc>
                  <a:txBody>
                    <a:bodyPr/>
                    <a:lstStyle/>
                    <a:p>
                      <a:pPr algn="ctr"/>
                      <a:r>
                        <a:rPr lang="en-US" sz="1200" b="1" dirty="0">
                          <a:solidFill>
                            <a:srgbClr val="FF0000"/>
                          </a:solidFill>
                          <a:latin typeface="Arial Narrow" panose="020B0606020202030204" pitchFamily="34" charset="0"/>
                        </a:rPr>
                        <a:t>29</a:t>
                      </a:r>
                    </a:p>
                  </a:txBody>
                  <a:tcPr/>
                </a:tc>
                <a:extLst>
                  <a:ext uri="{0D108BD9-81ED-4DB2-BD59-A6C34878D82A}">
                    <a16:rowId xmlns:a16="http://schemas.microsoft.com/office/drawing/2014/main" val="385211508"/>
                  </a:ext>
                </a:extLst>
              </a:tr>
              <a:tr h="140286">
                <a:tc>
                  <a:txBody>
                    <a:bodyPr/>
                    <a:lstStyle/>
                    <a:p>
                      <a:pPr algn="ctr"/>
                      <a:r>
                        <a:rPr lang="en-US" sz="1200" dirty="0">
                          <a:latin typeface="Arial Narrow" panose="020B0606020202030204" pitchFamily="34" charset="0"/>
                        </a:rPr>
                        <a:t>Potassium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50</a:t>
                      </a:r>
                    </a:p>
                  </a:txBody>
                  <a:tcPr/>
                </a:tc>
                <a:tc>
                  <a:txBody>
                    <a:bodyPr/>
                    <a:lstStyle/>
                    <a:p>
                      <a:pPr algn="ctr"/>
                      <a:r>
                        <a:rPr lang="en-US" sz="1200" dirty="0">
                          <a:latin typeface="Arial Narrow" panose="020B0606020202030204" pitchFamily="34" charset="0"/>
                        </a:rPr>
                        <a:t>46</a:t>
                      </a:r>
                    </a:p>
                  </a:txBody>
                  <a:tcPr/>
                </a:tc>
                <a:tc>
                  <a:txBody>
                    <a:bodyPr/>
                    <a:lstStyle/>
                    <a:p>
                      <a:pPr algn="ctr"/>
                      <a:r>
                        <a:rPr lang="en-US" sz="1200" dirty="0">
                          <a:latin typeface="Arial Narrow" panose="020B0606020202030204" pitchFamily="34" charset="0"/>
                        </a:rPr>
                        <a:t>39</a:t>
                      </a:r>
                    </a:p>
                  </a:txBody>
                  <a:tcPr/>
                </a:tc>
                <a:tc>
                  <a:txBody>
                    <a:bodyPr/>
                    <a:lstStyle/>
                    <a:p>
                      <a:pPr algn="ctr"/>
                      <a:r>
                        <a:rPr lang="en-US" sz="1200" dirty="0">
                          <a:latin typeface="Arial Narrow" panose="020B0606020202030204" pitchFamily="34" charset="0"/>
                        </a:rPr>
                        <a:t>39</a:t>
                      </a:r>
                    </a:p>
                  </a:txBody>
                  <a:tcPr/>
                </a:tc>
                <a:tc>
                  <a:txBody>
                    <a:bodyPr/>
                    <a:lstStyle/>
                    <a:p>
                      <a:pPr algn="ctr"/>
                      <a:r>
                        <a:rPr lang="en-US" sz="1200" dirty="0">
                          <a:latin typeface="Arial Narrow" panose="020B0606020202030204" pitchFamily="34" charset="0"/>
                        </a:rPr>
                        <a:t>49</a:t>
                      </a:r>
                    </a:p>
                  </a:txBody>
                  <a:tcPr/>
                </a:tc>
                <a:tc>
                  <a:txBody>
                    <a:bodyPr/>
                    <a:lstStyle/>
                    <a:p>
                      <a:pPr algn="ctr"/>
                      <a:r>
                        <a:rPr lang="en-US" sz="1200" dirty="0">
                          <a:latin typeface="Arial Narrow" panose="020B0606020202030204" pitchFamily="34" charset="0"/>
                        </a:rPr>
                        <a:t>45</a:t>
                      </a:r>
                    </a:p>
                  </a:txBody>
                  <a:tcPr/>
                </a:tc>
                <a:tc>
                  <a:txBody>
                    <a:bodyPr/>
                    <a:lstStyle/>
                    <a:p>
                      <a:pPr algn="ctr"/>
                      <a:r>
                        <a:rPr lang="en-US" sz="1200" dirty="0">
                          <a:latin typeface="Arial Narrow" panose="020B0606020202030204" pitchFamily="34" charset="0"/>
                        </a:rPr>
                        <a:t>44</a:t>
                      </a:r>
                    </a:p>
                  </a:txBody>
                  <a:tcPr/>
                </a:tc>
                <a:extLst>
                  <a:ext uri="{0D108BD9-81ED-4DB2-BD59-A6C34878D82A}">
                    <a16:rowId xmlns:a16="http://schemas.microsoft.com/office/drawing/2014/main" val="2765212863"/>
                  </a:ext>
                </a:extLst>
              </a:tr>
              <a:tr h="140286">
                <a:tc>
                  <a:txBody>
                    <a:bodyPr/>
                    <a:lstStyle/>
                    <a:p>
                      <a:pPr algn="ctr"/>
                      <a:r>
                        <a:rPr lang="en-US" sz="1200" dirty="0">
                          <a:latin typeface="Arial Narrow" panose="020B0606020202030204" pitchFamily="34" charset="0"/>
                        </a:rPr>
                        <a:t>Nitrogen content (% m/m)</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rPr>
                        <a:t>Max</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0.35</a:t>
                      </a:r>
                    </a:p>
                  </a:txBody>
                  <a:tcPr/>
                </a:tc>
                <a:tc>
                  <a:txBody>
                    <a:bodyPr/>
                    <a:lstStyle/>
                    <a:p>
                      <a:pPr algn="ctr"/>
                      <a:r>
                        <a:rPr lang="en-US" sz="1200" dirty="0">
                          <a:latin typeface="Arial Narrow" panose="020B0606020202030204" pitchFamily="34" charset="0"/>
                        </a:rPr>
                        <a:t>0.15</a:t>
                      </a:r>
                    </a:p>
                  </a:txBody>
                  <a:tcPr/>
                </a:tc>
                <a:tc>
                  <a:txBody>
                    <a:bodyPr/>
                    <a:lstStyle/>
                    <a:p>
                      <a:pPr algn="ctr"/>
                      <a:r>
                        <a:rPr lang="en-US" sz="1200" dirty="0">
                          <a:latin typeface="Arial Narrow" panose="020B0606020202030204" pitchFamily="34" charset="0"/>
                        </a:rPr>
                        <a:t>0.15</a:t>
                      </a:r>
                    </a:p>
                  </a:txBody>
                  <a:tcPr/>
                </a:tc>
                <a:tc>
                  <a:txBody>
                    <a:bodyPr/>
                    <a:lstStyle/>
                    <a:p>
                      <a:pPr algn="ctr"/>
                      <a:r>
                        <a:rPr lang="en-US" sz="1200" dirty="0">
                          <a:latin typeface="Arial Narrow" panose="020B0606020202030204" pitchFamily="34" charset="0"/>
                        </a:rPr>
                        <a:t>0.16</a:t>
                      </a:r>
                    </a:p>
                  </a:txBody>
                  <a:tcPr/>
                </a:tc>
                <a:tc>
                  <a:txBody>
                    <a:bodyPr/>
                    <a:lstStyle/>
                    <a:p>
                      <a:pPr algn="ctr"/>
                      <a:r>
                        <a:rPr lang="en-US" sz="1200" dirty="0">
                          <a:latin typeface="Arial Narrow" panose="020B0606020202030204" pitchFamily="34" charset="0"/>
                        </a:rPr>
                        <a:t>0.16</a:t>
                      </a:r>
                    </a:p>
                  </a:txBody>
                  <a:tcPr/>
                </a:tc>
                <a:tc>
                  <a:txBody>
                    <a:bodyPr/>
                    <a:lstStyle/>
                    <a:p>
                      <a:pPr algn="ctr"/>
                      <a:r>
                        <a:rPr lang="en-US" sz="1200" dirty="0">
                          <a:latin typeface="Arial Narrow" panose="020B0606020202030204" pitchFamily="34" charset="0"/>
                        </a:rPr>
                        <a:t>0.15</a:t>
                      </a:r>
                    </a:p>
                  </a:txBody>
                  <a:tcPr/>
                </a:tc>
                <a:tc>
                  <a:txBody>
                    <a:bodyPr/>
                    <a:lstStyle/>
                    <a:p>
                      <a:pPr algn="ctr"/>
                      <a:r>
                        <a:rPr lang="en-US" sz="1200" dirty="0">
                          <a:latin typeface="Arial Narrow" panose="020B0606020202030204" pitchFamily="34" charset="0"/>
                        </a:rPr>
                        <a:t>0.16</a:t>
                      </a:r>
                    </a:p>
                  </a:txBody>
                  <a:tcPr/>
                </a:tc>
                <a:extLst>
                  <a:ext uri="{0D108BD9-81ED-4DB2-BD59-A6C34878D82A}">
                    <a16:rowId xmlns:a16="http://schemas.microsoft.com/office/drawing/2014/main" val="2107639319"/>
                  </a:ext>
                </a:extLst>
              </a:tr>
              <a:tr h="140286">
                <a:tc>
                  <a:txBody>
                    <a:bodyPr/>
                    <a:lstStyle/>
                    <a:p>
                      <a:pPr algn="ctr"/>
                      <a:r>
                        <a:rPr lang="en-US" sz="1200" dirty="0">
                          <a:latin typeface="Arial Narrow" panose="020B0606020202030204" pitchFamily="34" charset="0"/>
                        </a:rPr>
                        <a:t>Gross calorific value (MJ/kg)</a:t>
                      </a:r>
                    </a:p>
                  </a:txBody>
                  <a:tcPr/>
                </a:tc>
                <a:tc>
                  <a:txBody>
                    <a:bodyPr/>
                    <a:lstStyle/>
                    <a:p>
                      <a:pPr algn="ctr"/>
                      <a:r>
                        <a:rPr lang="en-US" sz="1200" dirty="0">
                          <a:latin typeface="Arial Narrow" panose="020B0606020202030204" pitchFamily="34" charset="0"/>
                        </a:rPr>
                        <a:t>Min</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39.5</a:t>
                      </a:r>
                    </a:p>
                  </a:txBody>
                  <a:tcPr/>
                </a:tc>
                <a:tc>
                  <a:txBody>
                    <a:bodyPr/>
                    <a:lstStyle/>
                    <a:p>
                      <a:pPr algn="ctr"/>
                      <a:r>
                        <a:rPr lang="en-US" sz="1200" dirty="0">
                          <a:latin typeface="Arial Narrow" panose="020B0606020202030204" pitchFamily="34" charset="0"/>
                        </a:rPr>
                        <a:t>42.5</a:t>
                      </a:r>
                    </a:p>
                  </a:txBody>
                  <a:tcPr/>
                </a:tc>
                <a:tc>
                  <a:txBody>
                    <a:bodyPr/>
                    <a:lstStyle/>
                    <a:p>
                      <a:pPr algn="ctr"/>
                      <a:r>
                        <a:rPr lang="en-US" sz="1200" dirty="0">
                          <a:latin typeface="Arial Narrow" panose="020B0606020202030204" pitchFamily="34" charset="0"/>
                        </a:rPr>
                        <a:t>42.1</a:t>
                      </a:r>
                    </a:p>
                  </a:txBody>
                  <a:tcPr/>
                </a:tc>
                <a:tc>
                  <a:txBody>
                    <a:bodyPr/>
                    <a:lstStyle/>
                    <a:p>
                      <a:pPr algn="ctr"/>
                      <a:r>
                        <a:rPr lang="en-US" sz="1200" dirty="0">
                          <a:latin typeface="Arial Narrow" panose="020B0606020202030204" pitchFamily="34" charset="0"/>
                        </a:rPr>
                        <a:t>43.1</a:t>
                      </a:r>
                    </a:p>
                  </a:txBody>
                  <a:tcPr/>
                </a:tc>
                <a:tc>
                  <a:txBody>
                    <a:bodyPr/>
                    <a:lstStyle/>
                    <a:p>
                      <a:pPr algn="ctr"/>
                      <a:r>
                        <a:rPr lang="en-US" sz="1200" dirty="0">
                          <a:latin typeface="Arial Narrow" panose="020B0606020202030204" pitchFamily="34" charset="0"/>
                        </a:rPr>
                        <a:t>42.0</a:t>
                      </a:r>
                    </a:p>
                  </a:txBody>
                  <a:tcPr/>
                </a:tc>
                <a:tc>
                  <a:txBody>
                    <a:bodyPr/>
                    <a:lstStyle/>
                    <a:p>
                      <a:pPr algn="ctr"/>
                      <a:r>
                        <a:rPr lang="en-US" sz="1200" dirty="0">
                          <a:latin typeface="Arial Narrow" panose="020B0606020202030204" pitchFamily="34" charset="0"/>
                        </a:rPr>
                        <a:t>41.4</a:t>
                      </a:r>
                    </a:p>
                  </a:txBody>
                  <a:tcPr/>
                </a:tc>
                <a:tc>
                  <a:txBody>
                    <a:bodyPr/>
                    <a:lstStyle/>
                    <a:p>
                      <a:pPr algn="ctr"/>
                      <a:r>
                        <a:rPr lang="en-US" sz="1200" dirty="0">
                          <a:latin typeface="Arial Narrow" panose="020B0606020202030204" pitchFamily="34" charset="0"/>
                        </a:rPr>
                        <a:t>42.9</a:t>
                      </a:r>
                    </a:p>
                  </a:txBody>
                  <a:tcPr/>
                </a:tc>
                <a:extLst>
                  <a:ext uri="{0D108BD9-81ED-4DB2-BD59-A6C34878D82A}">
                    <a16:rowId xmlns:a16="http://schemas.microsoft.com/office/drawing/2014/main" val="1808785682"/>
                  </a:ext>
                </a:extLst>
              </a:tr>
              <a:tr h="140286">
                <a:tc>
                  <a:txBody>
                    <a:bodyPr/>
                    <a:lstStyle/>
                    <a:p>
                      <a:pPr algn="ctr"/>
                      <a:r>
                        <a:rPr lang="en-US" sz="1200" dirty="0">
                          <a:latin typeface="Arial Narrow" panose="020B0606020202030204" pitchFamily="34" charset="0"/>
                        </a:rPr>
                        <a:t>Iodine value (g I</a:t>
                      </a:r>
                      <a:r>
                        <a:rPr lang="en-US" sz="1200" baseline="30000" dirty="0">
                          <a:latin typeface="Arial Narrow" panose="020B0606020202030204" pitchFamily="34" charset="0"/>
                        </a:rPr>
                        <a:t>2</a:t>
                      </a:r>
                      <a:r>
                        <a:rPr lang="en-US" sz="1200" dirty="0">
                          <a:latin typeface="Arial Narrow" panose="020B0606020202030204" pitchFamily="34" charset="0"/>
                        </a:rPr>
                        <a:t>/100 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Narrow" panose="020B0606020202030204" pitchFamily="34" charset="0"/>
                          <a:ea typeface="+mn-ea"/>
                          <a:cs typeface="+mn-cs"/>
                          <a:sym typeface="Arial"/>
                        </a:rPr>
                        <a:t>Max</a:t>
                      </a:r>
                      <a:endPar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endParaRP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300</a:t>
                      </a:r>
                    </a:p>
                  </a:txBody>
                  <a:tcPr/>
                </a:tc>
                <a:tc>
                  <a:txBody>
                    <a:bodyPr/>
                    <a:lstStyle/>
                    <a:p>
                      <a:pPr algn="ctr"/>
                      <a:r>
                        <a:rPr lang="en-US" sz="1200" dirty="0">
                          <a:latin typeface="Arial Narrow" panose="020B0606020202030204" pitchFamily="34" charset="0"/>
                        </a:rPr>
                        <a:t>17.8</a:t>
                      </a:r>
                    </a:p>
                  </a:txBody>
                  <a:tcPr/>
                </a:tc>
                <a:tc>
                  <a:txBody>
                    <a:bodyPr/>
                    <a:lstStyle/>
                    <a:p>
                      <a:pPr algn="ctr"/>
                      <a:r>
                        <a:rPr lang="en-US" sz="1200" dirty="0">
                          <a:latin typeface="Arial Narrow" panose="020B0606020202030204" pitchFamily="34" charset="0"/>
                        </a:rPr>
                        <a:t>14.1</a:t>
                      </a:r>
                    </a:p>
                  </a:txBody>
                  <a:tcPr/>
                </a:tc>
                <a:tc>
                  <a:txBody>
                    <a:bodyPr/>
                    <a:lstStyle/>
                    <a:p>
                      <a:pPr algn="ctr"/>
                      <a:r>
                        <a:rPr lang="en-US" sz="1200" dirty="0">
                          <a:latin typeface="Arial Narrow" panose="020B0606020202030204" pitchFamily="34" charset="0"/>
                        </a:rPr>
                        <a:t>16.8</a:t>
                      </a:r>
                    </a:p>
                  </a:txBody>
                  <a:tcPr/>
                </a:tc>
                <a:tc>
                  <a:txBody>
                    <a:bodyPr/>
                    <a:lstStyle/>
                    <a:p>
                      <a:pPr algn="ctr"/>
                      <a:r>
                        <a:rPr lang="en-US" sz="1200" dirty="0">
                          <a:latin typeface="Arial Narrow" panose="020B0606020202030204" pitchFamily="34" charset="0"/>
                        </a:rPr>
                        <a:t>20.6</a:t>
                      </a:r>
                    </a:p>
                  </a:txBody>
                  <a:tcPr/>
                </a:tc>
                <a:tc>
                  <a:txBody>
                    <a:bodyPr/>
                    <a:lstStyle/>
                    <a:p>
                      <a:pPr algn="ctr"/>
                      <a:r>
                        <a:rPr lang="en-US" sz="1200" dirty="0">
                          <a:latin typeface="Arial Narrow" panose="020B0606020202030204" pitchFamily="34" charset="0"/>
                        </a:rPr>
                        <a:t>18.5</a:t>
                      </a:r>
                    </a:p>
                  </a:txBody>
                  <a:tcPr/>
                </a:tc>
                <a:tc>
                  <a:txBody>
                    <a:bodyPr/>
                    <a:lstStyle/>
                    <a:p>
                      <a:pPr algn="ctr"/>
                      <a:r>
                        <a:rPr lang="en-US" sz="1200" dirty="0">
                          <a:latin typeface="Arial Narrow" panose="020B0606020202030204" pitchFamily="34" charset="0"/>
                        </a:rPr>
                        <a:t>15.2</a:t>
                      </a:r>
                    </a:p>
                  </a:txBody>
                  <a:tcPr/>
                </a:tc>
                <a:extLst>
                  <a:ext uri="{0D108BD9-81ED-4DB2-BD59-A6C34878D82A}">
                    <a16:rowId xmlns:a16="http://schemas.microsoft.com/office/drawing/2014/main" val="2216760665"/>
                  </a:ext>
                </a:extLst>
              </a:tr>
              <a:tr h="140286">
                <a:tc>
                  <a:txBody>
                    <a:bodyPr/>
                    <a:lstStyle/>
                    <a:p>
                      <a:pPr algn="ctr"/>
                      <a:r>
                        <a:rPr lang="en-US" sz="1200" dirty="0">
                          <a:latin typeface="Arial Narrow" panose="020B0606020202030204" pitchFamily="34" charset="0"/>
                        </a:rPr>
                        <a:t>Chlorine content (mg/kg)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sym typeface="Arial"/>
                        </a:rPr>
                        <a:t>Max</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n/a</a:t>
                      </a:r>
                    </a:p>
                  </a:txBody>
                  <a:tcPr/>
                </a:tc>
                <a:tc>
                  <a:txBody>
                    <a:bodyPr/>
                    <a:lstStyle/>
                    <a:p>
                      <a:pPr algn="ctr"/>
                      <a:r>
                        <a:rPr lang="en-US" sz="1200" dirty="0">
                          <a:latin typeface="Arial Narrow" panose="020B0606020202030204" pitchFamily="34" charset="0"/>
                        </a:rPr>
                        <a:t>1553</a:t>
                      </a:r>
                    </a:p>
                  </a:txBody>
                  <a:tcPr/>
                </a:tc>
                <a:tc>
                  <a:txBody>
                    <a:bodyPr/>
                    <a:lstStyle/>
                    <a:p>
                      <a:pPr algn="ctr"/>
                      <a:r>
                        <a:rPr lang="en-US" sz="1200" dirty="0">
                          <a:latin typeface="Arial Narrow" panose="020B0606020202030204" pitchFamily="34" charset="0"/>
                        </a:rPr>
                        <a:t>1326</a:t>
                      </a:r>
                    </a:p>
                  </a:txBody>
                  <a:tcPr/>
                </a:tc>
                <a:tc>
                  <a:txBody>
                    <a:bodyPr/>
                    <a:lstStyle/>
                    <a:p>
                      <a:pPr algn="ctr"/>
                      <a:r>
                        <a:rPr lang="en-US" sz="1200" dirty="0">
                          <a:latin typeface="Arial Narrow" panose="020B0606020202030204" pitchFamily="34" charset="0"/>
                        </a:rPr>
                        <a:t>1574</a:t>
                      </a:r>
                    </a:p>
                  </a:txBody>
                  <a:tcPr/>
                </a:tc>
                <a:tc>
                  <a:txBody>
                    <a:bodyPr/>
                    <a:lstStyle/>
                    <a:p>
                      <a:pPr algn="ctr"/>
                      <a:r>
                        <a:rPr lang="en-US" sz="1200" dirty="0">
                          <a:latin typeface="Arial Narrow" panose="020B0606020202030204" pitchFamily="34" charset="0"/>
                        </a:rPr>
                        <a:t>1424</a:t>
                      </a:r>
                    </a:p>
                  </a:txBody>
                  <a:tcPr/>
                </a:tc>
                <a:tc>
                  <a:txBody>
                    <a:bodyPr/>
                    <a:lstStyle/>
                    <a:p>
                      <a:pPr algn="ctr"/>
                      <a:r>
                        <a:rPr lang="en-US" sz="1200" dirty="0">
                          <a:latin typeface="Arial Narrow" panose="020B0606020202030204" pitchFamily="34" charset="0"/>
                        </a:rPr>
                        <a:t>1460</a:t>
                      </a:r>
                    </a:p>
                  </a:txBody>
                  <a:tcPr/>
                </a:tc>
                <a:tc>
                  <a:txBody>
                    <a:bodyPr/>
                    <a:lstStyle/>
                    <a:p>
                      <a:pPr algn="ctr"/>
                      <a:r>
                        <a:rPr lang="en-US" sz="1200" dirty="0">
                          <a:latin typeface="Arial Narrow" panose="020B0606020202030204" pitchFamily="34" charset="0"/>
                        </a:rPr>
                        <a:t>1679</a:t>
                      </a:r>
                    </a:p>
                  </a:txBody>
                  <a:tcPr/>
                </a:tc>
                <a:extLst>
                  <a:ext uri="{0D108BD9-81ED-4DB2-BD59-A6C34878D82A}">
                    <a16:rowId xmlns:a16="http://schemas.microsoft.com/office/drawing/2014/main" val="1504747927"/>
                  </a:ext>
                </a:extLst>
              </a:tr>
            </a:tbl>
          </a:graphicData>
        </a:graphic>
      </p:graphicFrame>
      <p:sp>
        <p:nvSpPr>
          <p:cNvPr id="7" name="Rectangle 6">
            <a:extLst>
              <a:ext uri="{FF2B5EF4-FFF2-40B4-BE49-F238E27FC236}">
                <a16:creationId xmlns:a16="http://schemas.microsoft.com/office/drawing/2014/main" id="{8D3A0F41-63F1-4FC7-A927-A8FEA5290DEF}"/>
              </a:ext>
            </a:extLst>
          </p:cNvPr>
          <p:cNvSpPr/>
          <p:nvPr/>
        </p:nvSpPr>
        <p:spPr>
          <a:xfrm>
            <a:off x="276199" y="171366"/>
            <a:ext cx="8157217" cy="543354"/>
          </a:xfrm>
          <a:prstGeom prst="rect">
            <a:avLst/>
          </a:prstGeom>
        </p:spPr>
        <p:txBody>
          <a:bodyPr wrap="square">
            <a:spAutoFit/>
          </a:bodyPr>
          <a:lstStyle/>
          <a:p>
            <a:pPr lvl="1">
              <a:lnSpc>
                <a:spcPct val="115000"/>
              </a:lnSpc>
              <a:spcAft>
                <a:spcPts val="800"/>
              </a:spcAft>
            </a:pPr>
            <a:r>
              <a:rPr lang="en-US" sz="2800" b="1" kern="100" dirty="0">
                <a:solidFill>
                  <a:srgbClr val="266F8B"/>
                </a:solidFill>
                <a:latin typeface="Arial Narrow" panose="020B0606020202030204" pitchFamily="34" charset="0"/>
                <a:ea typeface="DengXian" panose="02010600030101010101" pitchFamily="2" charset="-122"/>
                <a:cs typeface="Times New Roman" panose="02020603050405020304" pitchFamily="18" charset="0"/>
              </a:rPr>
              <a:t>BLENDED FUEL PROPERTIES</a:t>
            </a:r>
            <a:endParaRPr lang="en-MY" sz="2400" b="1" kern="100" dirty="0">
              <a:solidFill>
                <a:srgbClr val="266F8B"/>
              </a:solidFill>
              <a:effectLst/>
              <a:latin typeface="Arial Narrow" panose="020B0606020202030204" pitchFamily="34" charset="0"/>
              <a:ea typeface="DengXia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E57B5312-2B9A-46ED-99FD-643F0649ED77}"/>
              </a:ext>
            </a:extLst>
          </p:cNvPr>
          <p:cNvSpPr txBox="1"/>
          <p:nvPr/>
        </p:nvSpPr>
        <p:spPr>
          <a:xfrm>
            <a:off x="375956" y="5611705"/>
            <a:ext cx="8931673" cy="461665"/>
          </a:xfrm>
          <a:prstGeom prst="rect">
            <a:avLst/>
          </a:prstGeom>
          <a:noFill/>
          <a:ln>
            <a:noFill/>
          </a:ln>
        </p:spPr>
        <p:txBody>
          <a:bodyPr wrap="square" rtlCol="0">
            <a:spAutoFit/>
          </a:bodyPr>
          <a:lstStyle/>
          <a:p>
            <a:r>
              <a:rPr lang="en-US" sz="1200" i="1" dirty="0">
                <a:solidFill>
                  <a:schemeClr val="tx1"/>
                </a:solidFill>
                <a:latin typeface="Arial Narrow" panose="020B0606020202030204" pitchFamily="34" charset="0"/>
                <a:cs typeface="Times New Roman" panose="02020603050405020304" pitchFamily="18" charset="0"/>
              </a:rPr>
              <a:t>*Remark: density calculated from linear contribution from both MFO and bio-oil distillates due to limitation of measuring equipment </a:t>
            </a:r>
          </a:p>
          <a:p>
            <a:r>
              <a:rPr lang="en-US" sz="1200" i="1" dirty="0">
                <a:solidFill>
                  <a:schemeClr val="tx1"/>
                </a:solidFill>
                <a:latin typeface="Arial Narrow" panose="020B0606020202030204" pitchFamily="34" charset="0"/>
                <a:cs typeface="Times New Roman" panose="02020603050405020304" pitchFamily="18" charset="0"/>
              </a:rPr>
              <a:t>*Remark: Only fails when Ca &gt;30 and Zn or P&gt;15, considered as the presence of used lubricating oil (ULO)</a:t>
            </a:r>
          </a:p>
        </p:txBody>
      </p:sp>
      <p:sp>
        <p:nvSpPr>
          <p:cNvPr id="2" name="Rectangle 1">
            <a:extLst>
              <a:ext uri="{FF2B5EF4-FFF2-40B4-BE49-F238E27FC236}">
                <a16:creationId xmlns:a16="http://schemas.microsoft.com/office/drawing/2014/main" id="{BC25C5BD-8A08-4077-9935-F58FDD1637A2}"/>
              </a:ext>
            </a:extLst>
          </p:cNvPr>
          <p:cNvSpPr/>
          <p:nvPr/>
        </p:nvSpPr>
        <p:spPr>
          <a:xfrm>
            <a:off x="1029903" y="6035630"/>
            <a:ext cx="9763603" cy="77483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00B050"/>
              </a:buClr>
              <a:buFont typeface="Arial" panose="020B0604020202020204" pitchFamily="34" charset="0"/>
              <a:buChar char="•"/>
            </a:pPr>
            <a:r>
              <a:rPr lang="en-US" dirty="0">
                <a:solidFill>
                  <a:srgbClr val="00B050"/>
                </a:solidFill>
                <a:latin typeface="Arial Narrow" panose="020B0606020202030204" pitchFamily="34" charset="0"/>
              </a:rPr>
              <a:t>High acid number of light distillate limits blending</a:t>
            </a:r>
            <a:endParaRPr lang="en-MY" dirty="0">
              <a:solidFill>
                <a:srgbClr val="00B050"/>
              </a:solidFill>
              <a:latin typeface="Arial Narrow" panose="020B0606020202030204" pitchFamily="34" charset="0"/>
            </a:endParaRPr>
          </a:p>
          <a:p>
            <a:pPr marL="285750" indent="-285750" algn="ctr">
              <a:buClr>
                <a:srgbClr val="00B050"/>
              </a:buClr>
              <a:buFont typeface="Arial" panose="020B0604020202020204" pitchFamily="34" charset="0"/>
              <a:buChar char="•"/>
            </a:pPr>
            <a:r>
              <a:rPr lang="en-US" dirty="0">
                <a:solidFill>
                  <a:srgbClr val="00B050"/>
                </a:solidFill>
                <a:latin typeface="Arial Narrow" panose="020B0606020202030204" pitchFamily="34" charset="0"/>
              </a:rPr>
              <a:t>Currently, </a:t>
            </a:r>
            <a:r>
              <a:rPr lang="en-MY" dirty="0">
                <a:solidFill>
                  <a:srgbClr val="00B050"/>
                </a:solidFill>
                <a:latin typeface="Arial Narrow" panose="020B0606020202030204" pitchFamily="34" charset="0"/>
              </a:rPr>
              <a:t>4% heavy distillate and 0.5% whole distillate blend fulfils specifications </a:t>
            </a:r>
          </a:p>
          <a:p>
            <a:pPr marL="285750" indent="-285750" algn="ctr">
              <a:buClr>
                <a:srgbClr val="00B050"/>
              </a:buClr>
              <a:buFont typeface="Arial" panose="020B0604020202020204" pitchFamily="34" charset="0"/>
              <a:buChar char="•"/>
            </a:pPr>
            <a:r>
              <a:rPr lang="en-US" dirty="0">
                <a:solidFill>
                  <a:srgbClr val="00B050"/>
                </a:solidFill>
                <a:latin typeface="Arial Narrow" panose="020B0606020202030204" pitchFamily="34" charset="0"/>
              </a:rPr>
              <a:t>Proposed </a:t>
            </a:r>
            <a:r>
              <a:rPr lang="en-MY" dirty="0">
                <a:solidFill>
                  <a:srgbClr val="00B050"/>
                </a:solidFill>
                <a:latin typeface="Arial Narrow" panose="020B0606020202030204" pitchFamily="34" charset="0"/>
              </a:rPr>
              <a:t>way would be direct blending with heavy distillate and trans-esterification/acid-alkaline washing to reduce acid value for light distillate</a:t>
            </a:r>
            <a:endParaRPr lang="en-US" dirty="0">
              <a:solidFill>
                <a:srgbClr val="00B050"/>
              </a:solidFill>
              <a:latin typeface="Arial Narrow" panose="020B0606020202030204" pitchFamily="34" charset="0"/>
            </a:endParaRPr>
          </a:p>
        </p:txBody>
      </p:sp>
    </p:spTree>
    <p:extLst>
      <p:ext uri="{BB962C8B-B14F-4D97-AF65-F5344CB8AC3E}">
        <p14:creationId xmlns:p14="http://schemas.microsoft.com/office/powerpoint/2010/main" val="328897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DECCB-0977-8E6F-CE5E-6B8C990D64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5EE15FD-C31E-1034-B06D-E7448BCBCC3E}"/>
              </a:ext>
            </a:extLst>
          </p:cNvPr>
          <p:cNvSpPr>
            <a:spLocks noGrp="1"/>
          </p:cNvSpPr>
          <p:nvPr>
            <p:ph type="body" sz="quarter" idx="13"/>
          </p:nvPr>
        </p:nvSpPr>
        <p:spPr/>
        <p:txBody>
          <a:bodyPr/>
          <a:lstStyle/>
          <a:p>
            <a:r>
              <a:rPr lang="en-AU" dirty="0"/>
              <a:t>Future Planned Work</a:t>
            </a:r>
          </a:p>
        </p:txBody>
      </p:sp>
      <p:sp>
        <p:nvSpPr>
          <p:cNvPr id="5" name="Text Placeholder 4">
            <a:extLst>
              <a:ext uri="{FF2B5EF4-FFF2-40B4-BE49-F238E27FC236}">
                <a16:creationId xmlns:a16="http://schemas.microsoft.com/office/drawing/2014/main" id="{FDFEBB77-849B-97E2-BC5E-DF51837A7CAB}"/>
              </a:ext>
            </a:extLst>
          </p:cNvPr>
          <p:cNvSpPr>
            <a:spLocks noGrp="1"/>
          </p:cNvSpPr>
          <p:nvPr>
            <p:ph type="body" sz="quarter" idx="16"/>
          </p:nvPr>
        </p:nvSpPr>
        <p:spPr/>
        <p:txBody>
          <a:bodyPr/>
          <a:lstStyle/>
          <a:p>
            <a:pPr marL="342900" indent="-342900">
              <a:buFont typeface="Arial" panose="020B0604020202020204" pitchFamily="34" charset="0"/>
              <a:buChar char="•"/>
            </a:pPr>
            <a:r>
              <a:rPr lang="en-AU" dirty="0"/>
              <a:t>Application of vacuum distillation to improve distillate yield</a:t>
            </a:r>
          </a:p>
          <a:p>
            <a:pPr marL="342900" indent="-342900">
              <a:buFont typeface="Arial" panose="020B0604020202020204" pitchFamily="34" charset="0"/>
              <a:buChar char="•"/>
            </a:pPr>
            <a:r>
              <a:rPr lang="en-AU" dirty="0"/>
              <a:t>Application of further pre- and post-treatment </a:t>
            </a:r>
          </a:p>
          <a:p>
            <a:pPr marL="1028700" lvl="1" indent="-342900">
              <a:buFont typeface="Arial" panose="020B0604020202020204" pitchFamily="34" charset="0"/>
              <a:buChar char="•"/>
            </a:pPr>
            <a:r>
              <a:rPr lang="en-AU" sz="2000" dirty="0"/>
              <a:t>Esterification</a:t>
            </a:r>
          </a:p>
          <a:p>
            <a:pPr marL="1028700" lvl="1" indent="-342900">
              <a:buFont typeface="Arial" panose="020B0604020202020204" pitchFamily="34" charset="0"/>
              <a:buChar char="•"/>
            </a:pPr>
            <a:r>
              <a:rPr lang="en-AU" sz="2000" dirty="0"/>
              <a:t>Base wash decarboxylation</a:t>
            </a:r>
          </a:p>
          <a:p>
            <a:pPr marL="1028700" lvl="1" indent="-342900">
              <a:buFont typeface="Arial" panose="020B0604020202020204" pitchFamily="34" charset="0"/>
              <a:buChar char="•"/>
            </a:pPr>
            <a:r>
              <a:rPr lang="en-AU" sz="2000" dirty="0"/>
              <a:t>Acid-base wash </a:t>
            </a:r>
          </a:p>
          <a:p>
            <a:pPr marL="1028700" lvl="1" indent="-342900">
              <a:buFont typeface="Arial" panose="020B0604020202020204" pitchFamily="34" charset="0"/>
              <a:buChar char="•"/>
            </a:pPr>
            <a:r>
              <a:rPr lang="en-AU" sz="2000" dirty="0"/>
              <a:t>Bleaching</a:t>
            </a:r>
          </a:p>
        </p:txBody>
      </p:sp>
      <p:sp>
        <p:nvSpPr>
          <p:cNvPr id="6" name="Slide Number Placeholder 3">
            <a:extLst>
              <a:ext uri="{FF2B5EF4-FFF2-40B4-BE49-F238E27FC236}">
                <a16:creationId xmlns:a16="http://schemas.microsoft.com/office/drawing/2014/main" id="{9899CCAA-5F3E-282B-712D-F0D7E7C6936A}"/>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11</a:t>
            </a:fld>
            <a:endParaRPr lang="en-MY" sz="1600" dirty="0">
              <a:latin typeface="Arial Narrow" panose="020B0606020202030204" pitchFamily="34" charset="0"/>
            </a:endParaRPr>
          </a:p>
        </p:txBody>
      </p:sp>
    </p:spTree>
    <p:extLst>
      <p:ext uri="{BB962C8B-B14F-4D97-AF65-F5344CB8AC3E}">
        <p14:creationId xmlns:p14="http://schemas.microsoft.com/office/powerpoint/2010/main" val="98160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8B35F-6508-0FD1-FF36-B64BBDD743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1F00A9-EA9D-4DD5-9B6D-82F5BD1A43AF}"/>
              </a:ext>
            </a:extLst>
          </p:cNvPr>
          <p:cNvSpPr>
            <a:spLocks noGrp="1"/>
          </p:cNvSpPr>
          <p:nvPr>
            <p:ph type="body" sz="quarter" idx="11"/>
          </p:nvPr>
        </p:nvSpPr>
        <p:spPr>
          <a:xfrm>
            <a:off x="379112" y="3580098"/>
            <a:ext cx="6012163" cy="678126"/>
          </a:xfrm>
        </p:spPr>
        <p:txBody>
          <a:bodyPr/>
          <a:lstStyle/>
          <a:p>
            <a:r>
              <a:rPr lang="en-AU" dirty="0"/>
              <a:t>Kong Yue Xuan</a:t>
            </a:r>
          </a:p>
        </p:txBody>
      </p:sp>
      <p:sp>
        <p:nvSpPr>
          <p:cNvPr id="3" name="Text Placeholder 2">
            <a:extLst>
              <a:ext uri="{FF2B5EF4-FFF2-40B4-BE49-F238E27FC236}">
                <a16:creationId xmlns:a16="http://schemas.microsoft.com/office/drawing/2014/main" id="{BFAC5597-5720-F707-C1C5-A2DC24D227B3}"/>
              </a:ext>
            </a:extLst>
          </p:cNvPr>
          <p:cNvSpPr>
            <a:spLocks noGrp="1"/>
          </p:cNvSpPr>
          <p:nvPr>
            <p:ph type="body" sz="quarter" idx="12"/>
          </p:nvPr>
        </p:nvSpPr>
        <p:spPr/>
        <p:txBody>
          <a:bodyPr/>
          <a:lstStyle/>
          <a:p>
            <a:r>
              <a:rPr lang="en-AU" dirty="0"/>
              <a:t>03/06/2026 9am</a:t>
            </a:r>
          </a:p>
        </p:txBody>
      </p:sp>
      <p:sp>
        <p:nvSpPr>
          <p:cNvPr id="4" name="Text Placeholder 3">
            <a:extLst>
              <a:ext uri="{FF2B5EF4-FFF2-40B4-BE49-F238E27FC236}">
                <a16:creationId xmlns:a16="http://schemas.microsoft.com/office/drawing/2014/main" id="{E9A091A6-5E00-471C-932E-C7D75864C44D}"/>
              </a:ext>
            </a:extLst>
          </p:cNvPr>
          <p:cNvSpPr>
            <a:spLocks noGrp="1"/>
          </p:cNvSpPr>
          <p:nvPr>
            <p:ph type="body" sz="quarter" idx="13"/>
          </p:nvPr>
        </p:nvSpPr>
        <p:spPr>
          <a:xfrm>
            <a:off x="379112" y="1604889"/>
            <a:ext cx="7998276" cy="1180231"/>
          </a:xfrm>
        </p:spPr>
        <p:txBody>
          <a:bodyPr/>
          <a:lstStyle/>
          <a:p>
            <a:r>
              <a:rPr lang="en-US" dirty="0"/>
              <a:t>Valorization of Pyrolysis Oil towards Marine Fuel and Asphalt Utilization</a:t>
            </a:r>
            <a:endParaRPr lang="en-AU" dirty="0"/>
          </a:p>
        </p:txBody>
      </p:sp>
      <p:sp>
        <p:nvSpPr>
          <p:cNvPr id="5" name="Text Placeholder 4">
            <a:extLst>
              <a:ext uri="{FF2B5EF4-FFF2-40B4-BE49-F238E27FC236}">
                <a16:creationId xmlns:a16="http://schemas.microsoft.com/office/drawing/2014/main" id="{57CAE466-3668-DBC1-8A60-8C187277C57B}"/>
              </a:ext>
            </a:extLst>
          </p:cNvPr>
          <p:cNvSpPr>
            <a:spLocks noGrp="1"/>
          </p:cNvSpPr>
          <p:nvPr>
            <p:ph type="body" sz="quarter" idx="14"/>
          </p:nvPr>
        </p:nvSpPr>
        <p:spPr/>
        <p:txBody>
          <a:bodyPr/>
          <a:lstStyle/>
          <a:p>
            <a:r>
              <a:rPr lang="en-AU" dirty="0"/>
              <a:t>PR Meeting and Presentation</a:t>
            </a:r>
          </a:p>
        </p:txBody>
      </p:sp>
      <p:sp>
        <p:nvSpPr>
          <p:cNvPr id="6" name="Slide Number Placeholder 3">
            <a:extLst>
              <a:ext uri="{FF2B5EF4-FFF2-40B4-BE49-F238E27FC236}">
                <a16:creationId xmlns:a16="http://schemas.microsoft.com/office/drawing/2014/main" id="{824864BD-1DE5-1942-9C08-47B01DEB4CEF}"/>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12</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290BC4FB-BFFE-75B5-3A16-197D34076688}"/>
              </a:ext>
            </a:extLst>
          </p:cNvPr>
          <p:cNvGrpSpPr/>
          <p:nvPr/>
        </p:nvGrpSpPr>
        <p:grpSpPr>
          <a:xfrm>
            <a:off x="2983078" y="352517"/>
            <a:ext cx="1796393" cy="774699"/>
            <a:chOff x="5342217" y="1473060"/>
            <a:chExt cx="3054298" cy="1317173"/>
          </a:xfrm>
        </p:grpSpPr>
        <p:pic>
          <p:nvPicPr>
            <p:cNvPr id="9" name="Picture 8">
              <a:extLst>
                <a:ext uri="{FF2B5EF4-FFF2-40B4-BE49-F238E27FC236}">
                  <a16:creationId xmlns:a16="http://schemas.microsoft.com/office/drawing/2014/main" id="{56D61F07-47C0-DCD4-15D0-3511330D1D41}"/>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11" name="Straight Connector 10">
              <a:extLst>
                <a:ext uri="{FF2B5EF4-FFF2-40B4-BE49-F238E27FC236}">
                  <a16:creationId xmlns:a16="http://schemas.microsoft.com/office/drawing/2014/main" id="{D3ABDA02-C9F2-8539-1BF4-48C14C2F08EC}"/>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52973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99D20-109B-26F9-E019-51D45B9E43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BDBB8FB-F460-D81F-9526-1DAF8728F191}"/>
              </a:ext>
            </a:extLst>
          </p:cNvPr>
          <p:cNvSpPr>
            <a:spLocks noGrp="1"/>
          </p:cNvSpPr>
          <p:nvPr>
            <p:ph type="body" sz="quarter" idx="13"/>
          </p:nvPr>
        </p:nvSpPr>
        <p:spPr/>
        <p:txBody>
          <a:bodyPr/>
          <a:lstStyle/>
          <a:p>
            <a:r>
              <a:rPr lang="en-AU" dirty="0"/>
              <a:t>Current Experimental Rig</a:t>
            </a:r>
          </a:p>
        </p:txBody>
      </p:sp>
      <p:sp>
        <p:nvSpPr>
          <p:cNvPr id="6" name="Slide Number Placeholder 3">
            <a:extLst>
              <a:ext uri="{FF2B5EF4-FFF2-40B4-BE49-F238E27FC236}">
                <a16:creationId xmlns:a16="http://schemas.microsoft.com/office/drawing/2014/main" id="{3EF59EE5-CDB8-6548-8776-11662082293B}"/>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13</a:t>
            </a:fld>
            <a:endParaRPr lang="en-MY" sz="1600" dirty="0">
              <a:latin typeface="Arial Narrow" panose="020B0606020202030204" pitchFamily="34" charset="0"/>
            </a:endParaRPr>
          </a:p>
        </p:txBody>
      </p:sp>
      <p:grpSp>
        <p:nvGrpSpPr>
          <p:cNvPr id="28" name="Group 27">
            <a:extLst>
              <a:ext uri="{FF2B5EF4-FFF2-40B4-BE49-F238E27FC236}">
                <a16:creationId xmlns:a16="http://schemas.microsoft.com/office/drawing/2014/main" id="{7745E6AA-C0B0-48DF-97F9-1A64C4F93524}"/>
              </a:ext>
            </a:extLst>
          </p:cNvPr>
          <p:cNvGrpSpPr/>
          <p:nvPr/>
        </p:nvGrpSpPr>
        <p:grpSpPr>
          <a:xfrm>
            <a:off x="2004239" y="898472"/>
            <a:ext cx="7592045" cy="4902561"/>
            <a:chOff x="2004239" y="898472"/>
            <a:chExt cx="7592045" cy="4902561"/>
          </a:xfrm>
        </p:grpSpPr>
        <p:sp>
          <p:nvSpPr>
            <p:cNvPr id="9" name="Rectangle 8">
              <a:extLst>
                <a:ext uri="{FF2B5EF4-FFF2-40B4-BE49-F238E27FC236}">
                  <a16:creationId xmlns:a16="http://schemas.microsoft.com/office/drawing/2014/main" id="{BC82F943-7292-9D6B-C76C-041EC820FEF2}"/>
                </a:ext>
              </a:extLst>
            </p:cNvPr>
            <p:cNvSpPr/>
            <p:nvPr/>
          </p:nvSpPr>
          <p:spPr>
            <a:xfrm>
              <a:off x="7138654" y="4365523"/>
              <a:ext cx="2457630" cy="14355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Reboiler Pot (T1)</a:t>
              </a:r>
              <a:endParaRPr lang="en-IE" dirty="0">
                <a:solidFill>
                  <a:sysClr val="windowText" lastClr="000000"/>
                </a:solidFill>
              </a:endParaRPr>
            </a:p>
          </p:txBody>
        </p:sp>
        <p:cxnSp>
          <p:nvCxnSpPr>
            <p:cNvPr id="11" name="Straight Arrow Connector 10">
              <a:extLst>
                <a:ext uri="{FF2B5EF4-FFF2-40B4-BE49-F238E27FC236}">
                  <a16:creationId xmlns:a16="http://schemas.microsoft.com/office/drawing/2014/main" id="{EA7CF89D-195E-90BA-4C71-6B42B66169FB}"/>
                </a:ext>
              </a:extLst>
            </p:cNvPr>
            <p:cNvCxnSpPr>
              <a:cxnSpLocks/>
              <a:stCxn id="9" idx="0"/>
            </p:cNvCxnSpPr>
            <p:nvPr/>
          </p:nvCxnSpPr>
          <p:spPr>
            <a:xfrm flipV="1">
              <a:off x="8367469" y="4188542"/>
              <a:ext cx="0" cy="1769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0D9A079-7FF1-BD49-7A27-67143846B9F0}"/>
                </a:ext>
              </a:extLst>
            </p:cNvPr>
            <p:cNvSpPr/>
            <p:nvPr/>
          </p:nvSpPr>
          <p:spPr>
            <a:xfrm rot="5400000">
              <a:off x="7374412" y="3006318"/>
              <a:ext cx="1986114" cy="3783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ysClr val="windowText" lastClr="000000"/>
                  </a:solidFill>
                </a:rPr>
                <a:t>Vigruex</a:t>
              </a:r>
              <a:r>
                <a:rPr lang="en-US" dirty="0">
                  <a:solidFill>
                    <a:sysClr val="windowText" lastClr="000000"/>
                  </a:solidFill>
                </a:rPr>
                <a:t> Column</a:t>
              </a:r>
              <a:endParaRPr lang="en-IE" dirty="0">
                <a:solidFill>
                  <a:sysClr val="windowText" lastClr="000000"/>
                </a:solidFill>
              </a:endParaRPr>
            </a:p>
          </p:txBody>
        </p:sp>
        <p:sp>
          <p:nvSpPr>
            <p:cNvPr id="15" name="Rectangle 14">
              <a:extLst>
                <a:ext uri="{FF2B5EF4-FFF2-40B4-BE49-F238E27FC236}">
                  <a16:creationId xmlns:a16="http://schemas.microsoft.com/office/drawing/2014/main" id="{3CFEB23E-0917-6A7D-5139-FCD92414D215}"/>
                </a:ext>
              </a:extLst>
            </p:cNvPr>
            <p:cNvSpPr/>
            <p:nvPr/>
          </p:nvSpPr>
          <p:spPr>
            <a:xfrm>
              <a:off x="7492398" y="898472"/>
              <a:ext cx="1750142" cy="8849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Vapor Temp Collection (T2)</a:t>
              </a:r>
              <a:endParaRPr lang="en-IE" dirty="0">
                <a:solidFill>
                  <a:sysClr val="windowText" lastClr="000000"/>
                </a:solidFill>
              </a:endParaRPr>
            </a:p>
          </p:txBody>
        </p:sp>
        <p:cxnSp>
          <p:nvCxnSpPr>
            <p:cNvPr id="17" name="Straight Arrow Connector 16">
              <a:extLst>
                <a:ext uri="{FF2B5EF4-FFF2-40B4-BE49-F238E27FC236}">
                  <a16:creationId xmlns:a16="http://schemas.microsoft.com/office/drawing/2014/main" id="{D561005D-011C-C658-A801-69BC438F43DE}"/>
                </a:ext>
              </a:extLst>
            </p:cNvPr>
            <p:cNvCxnSpPr>
              <a:stCxn id="14" idx="1"/>
              <a:endCxn id="15" idx="2"/>
            </p:cNvCxnSpPr>
            <p:nvPr/>
          </p:nvCxnSpPr>
          <p:spPr>
            <a:xfrm flipV="1">
              <a:off x="8367469" y="1783375"/>
              <a:ext cx="0" cy="4190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215C2CB-9E14-4B66-A152-D1C51B2B0DF8}"/>
                </a:ext>
              </a:extLst>
            </p:cNvPr>
            <p:cNvSpPr/>
            <p:nvPr/>
          </p:nvSpPr>
          <p:spPr>
            <a:xfrm rot="20375612">
              <a:off x="2895338" y="2161857"/>
              <a:ext cx="3826829" cy="3783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Long Liebig Condenser (5C)</a:t>
              </a:r>
              <a:endParaRPr lang="en-IE" dirty="0">
                <a:solidFill>
                  <a:sysClr val="windowText" lastClr="000000"/>
                </a:solidFill>
              </a:endParaRPr>
            </a:p>
          </p:txBody>
        </p:sp>
        <p:cxnSp>
          <p:nvCxnSpPr>
            <p:cNvPr id="20" name="Straight Arrow Connector 19">
              <a:extLst>
                <a:ext uri="{FF2B5EF4-FFF2-40B4-BE49-F238E27FC236}">
                  <a16:creationId xmlns:a16="http://schemas.microsoft.com/office/drawing/2014/main" id="{C35F7080-455B-C630-C92E-A5B80B757027}"/>
                </a:ext>
              </a:extLst>
            </p:cNvPr>
            <p:cNvCxnSpPr>
              <a:cxnSpLocks/>
              <a:stCxn id="15" idx="1"/>
              <a:endCxn id="19" idx="3"/>
            </p:cNvCxnSpPr>
            <p:nvPr/>
          </p:nvCxnSpPr>
          <p:spPr>
            <a:xfrm flipH="1">
              <a:off x="6602086" y="1340924"/>
              <a:ext cx="890312" cy="3429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6D9185E9-264E-5634-80BD-482B72580C24}"/>
                </a:ext>
              </a:extLst>
            </p:cNvPr>
            <p:cNvCxnSpPr>
              <a:cxnSpLocks/>
              <a:stCxn id="19" idx="1"/>
            </p:cNvCxnSpPr>
            <p:nvPr/>
          </p:nvCxnSpPr>
          <p:spPr>
            <a:xfrm rot="10800000" flipV="1">
              <a:off x="2585885" y="3018189"/>
              <a:ext cx="429535" cy="1081863"/>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9C8A118-36FD-C10B-BD11-2E5991723AE3}"/>
                </a:ext>
              </a:extLst>
            </p:cNvPr>
            <p:cNvSpPr/>
            <p:nvPr/>
          </p:nvSpPr>
          <p:spPr>
            <a:xfrm>
              <a:off x="2004239" y="4100053"/>
              <a:ext cx="1592826" cy="9733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Collection</a:t>
              </a:r>
              <a:endParaRPr lang="en-IE" dirty="0">
                <a:solidFill>
                  <a:sysClr val="windowText" lastClr="000000"/>
                </a:solidFill>
              </a:endParaRPr>
            </a:p>
          </p:txBody>
        </p:sp>
      </p:grpSp>
    </p:spTree>
    <p:extLst>
      <p:ext uri="{BB962C8B-B14F-4D97-AF65-F5344CB8AC3E}">
        <p14:creationId xmlns:p14="http://schemas.microsoft.com/office/powerpoint/2010/main" val="699881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6E366-4464-EC88-622B-F3851F4CA1D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DCF2134-CB6A-0148-10A3-9BC0860328EA}"/>
              </a:ext>
            </a:extLst>
          </p:cNvPr>
          <p:cNvSpPr>
            <a:spLocks noGrp="1"/>
          </p:cNvSpPr>
          <p:nvPr>
            <p:ph type="body" sz="quarter" idx="13"/>
          </p:nvPr>
        </p:nvSpPr>
        <p:spPr/>
        <p:txBody>
          <a:bodyPr/>
          <a:lstStyle/>
          <a:p>
            <a:r>
              <a:rPr lang="en-AU" dirty="0"/>
              <a:t>Current Experimental Design</a:t>
            </a:r>
          </a:p>
        </p:txBody>
      </p:sp>
      <p:sp>
        <p:nvSpPr>
          <p:cNvPr id="6" name="Slide Number Placeholder 3">
            <a:extLst>
              <a:ext uri="{FF2B5EF4-FFF2-40B4-BE49-F238E27FC236}">
                <a16:creationId xmlns:a16="http://schemas.microsoft.com/office/drawing/2014/main" id="{36A12103-BBDB-1BE6-E205-E645145CE503}"/>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14</a:t>
            </a:fld>
            <a:endParaRPr lang="en-MY" sz="1600" dirty="0">
              <a:latin typeface="Arial Narrow" panose="020B0606020202030204" pitchFamily="34" charset="0"/>
            </a:endParaRPr>
          </a:p>
        </p:txBody>
      </p:sp>
      <p:pic>
        <p:nvPicPr>
          <p:cNvPr id="5" name="Picture 4">
            <a:extLst>
              <a:ext uri="{FF2B5EF4-FFF2-40B4-BE49-F238E27FC236}">
                <a16:creationId xmlns:a16="http://schemas.microsoft.com/office/drawing/2014/main" id="{78D46020-DB63-1A21-86AA-9FCBA2D48D15}"/>
              </a:ext>
            </a:extLst>
          </p:cNvPr>
          <p:cNvPicPr>
            <a:picLocks noChangeAspect="1"/>
          </p:cNvPicPr>
          <p:nvPr/>
        </p:nvPicPr>
        <p:blipFill>
          <a:blip r:embed="rId2"/>
          <a:stretch>
            <a:fillRect/>
          </a:stretch>
        </p:blipFill>
        <p:spPr>
          <a:xfrm>
            <a:off x="6617110" y="2328027"/>
            <a:ext cx="4729316" cy="3058119"/>
          </a:xfrm>
          <a:prstGeom prst="rect">
            <a:avLst/>
          </a:prstGeom>
        </p:spPr>
      </p:pic>
      <p:sp>
        <p:nvSpPr>
          <p:cNvPr id="7" name="TextBox 6">
            <a:extLst>
              <a:ext uri="{FF2B5EF4-FFF2-40B4-BE49-F238E27FC236}">
                <a16:creationId xmlns:a16="http://schemas.microsoft.com/office/drawing/2014/main" id="{B8E86F40-653B-055C-5830-F205E3C76892}"/>
              </a:ext>
            </a:extLst>
          </p:cNvPr>
          <p:cNvSpPr txBox="1"/>
          <p:nvPr/>
        </p:nvSpPr>
        <p:spPr>
          <a:xfrm>
            <a:off x="306060" y="2467354"/>
            <a:ext cx="5476569" cy="2862322"/>
          </a:xfrm>
          <a:prstGeom prst="rect">
            <a:avLst/>
          </a:prstGeom>
          <a:noFill/>
        </p:spPr>
        <p:txBody>
          <a:bodyPr wrap="square" rtlCol="0">
            <a:spAutoFit/>
          </a:bodyPr>
          <a:lstStyle/>
          <a:p>
            <a:pPr marL="285750" indent="-285750">
              <a:buFontTx/>
              <a:buChar char="-"/>
            </a:pPr>
            <a:r>
              <a:rPr lang="en-US" sz="2000" dirty="0"/>
              <a:t>Varying reboiler temperature (T1) and system Pressure</a:t>
            </a:r>
          </a:p>
          <a:p>
            <a:pPr marL="742950" lvl="1" indent="-285750">
              <a:buFontTx/>
              <a:buChar char="-"/>
            </a:pPr>
            <a:r>
              <a:rPr lang="en-US" sz="2000" dirty="0"/>
              <a:t>150 to 350C</a:t>
            </a:r>
          </a:p>
          <a:p>
            <a:pPr marL="742950" lvl="1" indent="-285750">
              <a:buFontTx/>
              <a:buChar char="-"/>
            </a:pPr>
            <a:r>
              <a:rPr lang="en-US" sz="2000" dirty="0"/>
              <a:t>1atm, 10-30mbar (depending on vac pump)</a:t>
            </a:r>
          </a:p>
          <a:p>
            <a:pPr marL="285750" indent="-285750">
              <a:buFontTx/>
              <a:buChar char="-"/>
            </a:pPr>
            <a:r>
              <a:rPr lang="en-US" sz="2000" dirty="0"/>
              <a:t>Measuring the product</a:t>
            </a:r>
          </a:p>
          <a:p>
            <a:pPr marL="285750" indent="-285750">
              <a:buFontTx/>
              <a:buChar char="-"/>
            </a:pPr>
            <a:r>
              <a:rPr lang="en-US" sz="2000" dirty="0"/>
              <a:t>Yield, composition (GCMS), corresponding vapor temperature (T2)</a:t>
            </a:r>
          </a:p>
          <a:p>
            <a:endParaRPr lang="en-IE" sz="2000" dirty="0"/>
          </a:p>
        </p:txBody>
      </p:sp>
      <p:sp>
        <p:nvSpPr>
          <p:cNvPr id="8" name="TextBox 7">
            <a:extLst>
              <a:ext uri="{FF2B5EF4-FFF2-40B4-BE49-F238E27FC236}">
                <a16:creationId xmlns:a16="http://schemas.microsoft.com/office/drawing/2014/main" id="{711A09EA-210E-46DD-072B-DFF14DB24D69}"/>
              </a:ext>
            </a:extLst>
          </p:cNvPr>
          <p:cNvSpPr txBox="1"/>
          <p:nvPr/>
        </p:nvSpPr>
        <p:spPr>
          <a:xfrm>
            <a:off x="168408" y="1759468"/>
            <a:ext cx="7235282" cy="707886"/>
          </a:xfrm>
          <a:prstGeom prst="rect">
            <a:avLst/>
          </a:prstGeom>
          <a:noFill/>
        </p:spPr>
        <p:txBody>
          <a:bodyPr wrap="square" rtlCol="0">
            <a:spAutoFit/>
          </a:bodyPr>
          <a:lstStyle/>
          <a:p>
            <a:r>
              <a:rPr lang="en-US" sz="2000" b="1" dirty="0"/>
              <a:t>Aim: To investigate the effects of distillation temperature and pressure to product yield and composition. </a:t>
            </a:r>
            <a:endParaRPr lang="en-IE" sz="2000" b="1" dirty="0"/>
          </a:p>
        </p:txBody>
      </p:sp>
      <p:sp>
        <p:nvSpPr>
          <p:cNvPr id="4" name="TextBox 3">
            <a:extLst>
              <a:ext uri="{FF2B5EF4-FFF2-40B4-BE49-F238E27FC236}">
                <a16:creationId xmlns:a16="http://schemas.microsoft.com/office/drawing/2014/main" id="{993DD368-4820-422B-B734-E14816BA1CAF}"/>
              </a:ext>
            </a:extLst>
          </p:cNvPr>
          <p:cNvSpPr txBox="1"/>
          <p:nvPr/>
        </p:nvSpPr>
        <p:spPr>
          <a:xfrm>
            <a:off x="306060" y="5420053"/>
            <a:ext cx="7235282" cy="1015663"/>
          </a:xfrm>
          <a:prstGeom prst="rect">
            <a:avLst/>
          </a:prstGeom>
          <a:noFill/>
        </p:spPr>
        <p:txBody>
          <a:bodyPr wrap="square" rtlCol="0">
            <a:spAutoFit/>
          </a:bodyPr>
          <a:lstStyle/>
          <a:p>
            <a:r>
              <a:rPr lang="en-US" sz="2000" b="1" dirty="0"/>
              <a:t>Hypothesis: Reboiler temperature is the only significant factor of distillate yield, due to the reactive nature of the process. </a:t>
            </a:r>
            <a:endParaRPr lang="en-IE" sz="2000" b="1" dirty="0"/>
          </a:p>
        </p:txBody>
      </p:sp>
    </p:spTree>
    <p:extLst>
      <p:ext uri="{BB962C8B-B14F-4D97-AF65-F5344CB8AC3E}">
        <p14:creationId xmlns:p14="http://schemas.microsoft.com/office/powerpoint/2010/main" val="3569483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E374-D8CE-BE78-0752-7D4A38CE84B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FBA5EFB-BF76-FC31-0ED0-156858C310B4}"/>
              </a:ext>
            </a:extLst>
          </p:cNvPr>
          <p:cNvSpPr>
            <a:spLocks noGrp="1"/>
          </p:cNvSpPr>
          <p:nvPr>
            <p:ph type="body" sz="quarter" idx="13"/>
          </p:nvPr>
        </p:nvSpPr>
        <p:spPr>
          <a:xfrm>
            <a:off x="306059" y="326309"/>
            <a:ext cx="10027643" cy="736956"/>
          </a:xfrm>
        </p:spPr>
        <p:txBody>
          <a:bodyPr/>
          <a:lstStyle/>
          <a:p>
            <a:r>
              <a:rPr lang="en-AU" dirty="0"/>
              <a:t>Current Experimental Progress/Observations</a:t>
            </a:r>
          </a:p>
        </p:txBody>
      </p:sp>
      <p:sp>
        <p:nvSpPr>
          <p:cNvPr id="5" name="Text Placeholder 4">
            <a:extLst>
              <a:ext uri="{FF2B5EF4-FFF2-40B4-BE49-F238E27FC236}">
                <a16:creationId xmlns:a16="http://schemas.microsoft.com/office/drawing/2014/main" id="{9ABC1C59-3A8A-B3AC-1E39-079F98327248}"/>
              </a:ext>
            </a:extLst>
          </p:cNvPr>
          <p:cNvSpPr>
            <a:spLocks noGrp="1"/>
          </p:cNvSpPr>
          <p:nvPr>
            <p:ph type="body" sz="quarter" idx="16"/>
          </p:nvPr>
        </p:nvSpPr>
        <p:spPr>
          <a:xfrm>
            <a:off x="300211" y="3235867"/>
            <a:ext cx="10815464" cy="3295824"/>
          </a:xfrm>
        </p:spPr>
        <p:txBody>
          <a:bodyPr/>
          <a:lstStyle/>
          <a:p>
            <a:pPr marL="1028700" lvl="1" indent="-342900">
              <a:buFont typeface="Arial" panose="020B0604020202020204" pitchFamily="34" charset="0"/>
              <a:buChar char="•"/>
            </a:pPr>
            <a:r>
              <a:rPr lang="en-AU" sz="2000" dirty="0"/>
              <a:t>Note the lack of non-water distillate (&gt;100C distillate) at &lt;200C reboiler temperatures</a:t>
            </a:r>
          </a:p>
          <a:p>
            <a:pPr marL="1028700" lvl="1" indent="-342900">
              <a:buFont typeface="Arial" panose="020B0604020202020204" pitchFamily="34" charset="0"/>
              <a:buChar char="•"/>
            </a:pPr>
            <a:r>
              <a:rPr lang="en-AU" sz="2000" dirty="0"/>
              <a:t>Observation when conducting the 250C reboiler temperature run: vapor temperature reached a local peak at 104C(Reboiler temp at 220C), decreased to 101C and then peaked at 186.6C </a:t>
            </a:r>
          </a:p>
          <a:p>
            <a:pPr marL="1028700" lvl="1" indent="-342900">
              <a:buFont typeface="Arial" panose="020B0604020202020204" pitchFamily="34" charset="0"/>
              <a:buChar char="•"/>
            </a:pPr>
            <a:r>
              <a:rPr lang="en-AU" sz="2000" dirty="0"/>
              <a:t>Distillation did not stop after vapor temperature peaked, indicative of production of lower BP compounds </a:t>
            </a:r>
          </a:p>
        </p:txBody>
      </p:sp>
      <p:sp>
        <p:nvSpPr>
          <p:cNvPr id="6" name="Slide Number Placeholder 3">
            <a:extLst>
              <a:ext uri="{FF2B5EF4-FFF2-40B4-BE49-F238E27FC236}">
                <a16:creationId xmlns:a16="http://schemas.microsoft.com/office/drawing/2014/main" id="{1606D3C1-C4D7-074C-91D4-C4681ACCBD6A}"/>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15</a:t>
            </a:fld>
            <a:endParaRPr lang="en-MY" sz="1600" dirty="0">
              <a:latin typeface="Arial Narrow" panose="020B0606020202030204" pitchFamily="34" charset="0"/>
            </a:endParaRPr>
          </a:p>
        </p:txBody>
      </p:sp>
      <p:graphicFrame>
        <p:nvGraphicFramePr>
          <p:cNvPr id="2" name="Table 1">
            <a:extLst>
              <a:ext uri="{FF2B5EF4-FFF2-40B4-BE49-F238E27FC236}">
                <a16:creationId xmlns:a16="http://schemas.microsoft.com/office/drawing/2014/main" id="{496922F1-A0E9-2AB0-365E-6519AD2F21D9}"/>
              </a:ext>
            </a:extLst>
          </p:cNvPr>
          <p:cNvGraphicFramePr>
            <a:graphicFrameLocks noGrp="1"/>
          </p:cNvGraphicFramePr>
          <p:nvPr>
            <p:extLst>
              <p:ext uri="{D42A27DB-BD31-4B8C-83A1-F6EECF244321}">
                <p14:modId xmlns:p14="http://schemas.microsoft.com/office/powerpoint/2010/main" val="2773701946"/>
              </p:ext>
            </p:extLst>
          </p:nvPr>
        </p:nvGraphicFramePr>
        <p:xfrm>
          <a:off x="1942500" y="1063265"/>
          <a:ext cx="6754760" cy="2123440"/>
        </p:xfrm>
        <a:graphic>
          <a:graphicData uri="http://schemas.openxmlformats.org/drawingml/2006/table">
            <a:tbl>
              <a:tblPr firstRow="1" bandRow="1">
                <a:tableStyleId>{5C22544A-7EE6-4342-B048-85BDC9FD1C3A}</a:tableStyleId>
              </a:tblPr>
              <a:tblGrid>
                <a:gridCol w="3451122">
                  <a:extLst>
                    <a:ext uri="{9D8B030D-6E8A-4147-A177-3AD203B41FA5}">
                      <a16:colId xmlns:a16="http://schemas.microsoft.com/office/drawing/2014/main" val="4125842896"/>
                    </a:ext>
                  </a:extLst>
                </a:gridCol>
                <a:gridCol w="1061884">
                  <a:extLst>
                    <a:ext uri="{9D8B030D-6E8A-4147-A177-3AD203B41FA5}">
                      <a16:colId xmlns:a16="http://schemas.microsoft.com/office/drawing/2014/main" val="1267795130"/>
                    </a:ext>
                  </a:extLst>
                </a:gridCol>
                <a:gridCol w="1022555">
                  <a:extLst>
                    <a:ext uri="{9D8B030D-6E8A-4147-A177-3AD203B41FA5}">
                      <a16:colId xmlns:a16="http://schemas.microsoft.com/office/drawing/2014/main" val="1379724030"/>
                    </a:ext>
                  </a:extLst>
                </a:gridCol>
                <a:gridCol w="1219199">
                  <a:extLst>
                    <a:ext uri="{9D8B030D-6E8A-4147-A177-3AD203B41FA5}">
                      <a16:colId xmlns:a16="http://schemas.microsoft.com/office/drawing/2014/main" val="2314288588"/>
                    </a:ext>
                  </a:extLst>
                </a:gridCol>
              </a:tblGrid>
              <a:tr h="284261">
                <a:tc>
                  <a:txBody>
                    <a:bodyPr/>
                    <a:lstStyle/>
                    <a:p>
                      <a:r>
                        <a:rPr lang="en-US" dirty="0"/>
                        <a:t>Reboiler Temperature \ Measured Parameters</a:t>
                      </a:r>
                      <a:endParaRPr lang="en-IE" dirty="0"/>
                    </a:p>
                  </a:txBody>
                  <a:tcPr/>
                </a:tc>
                <a:tc>
                  <a:txBody>
                    <a:bodyPr/>
                    <a:lstStyle/>
                    <a:p>
                      <a:r>
                        <a:rPr lang="en-US" dirty="0"/>
                        <a:t>150C</a:t>
                      </a:r>
                      <a:endParaRPr lang="en-IE" dirty="0"/>
                    </a:p>
                  </a:txBody>
                  <a:tcPr/>
                </a:tc>
                <a:tc>
                  <a:txBody>
                    <a:bodyPr/>
                    <a:lstStyle/>
                    <a:p>
                      <a:r>
                        <a:rPr lang="en-US" dirty="0"/>
                        <a:t>200C</a:t>
                      </a:r>
                      <a:endParaRPr lang="en-IE" dirty="0"/>
                    </a:p>
                  </a:txBody>
                  <a:tcPr/>
                </a:tc>
                <a:tc>
                  <a:txBody>
                    <a:bodyPr/>
                    <a:lstStyle/>
                    <a:p>
                      <a:r>
                        <a:rPr lang="en-US" dirty="0"/>
                        <a:t>250C</a:t>
                      </a:r>
                      <a:endParaRPr lang="en-IE" dirty="0"/>
                    </a:p>
                  </a:txBody>
                  <a:tcPr/>
                </a:tc>
                <a:extLst>
                  <a:ext uri="{0D108BD9-81ED-4DB2-BD59-A6C34878D82A}">
                    <a16:rowId xmlns:a16="http://schemas.microsoft.com/office/drawing/2014/main" val="3310061164"/>
                  </a:ext>
                </a:extLst>
              </a:tr>
              <a:tr h="370840">
                <a:tc>
                  <a:txBody>
                    <a:bodyPr/>
                    <a:lstStyle/>
                    <a:p>
                      <a:r>
                        <a:rPr lang="en-US" dirty="0"/>
                        <a:t>Lighter than water distillate</a:t>
                      </a:r>
                      <a:endParaRPr lang="en-IE" dirty="0"/>
                    </a:p>
                  </a:txBody>
                  <a:tcPr/>
                </a:tc>
                <a:tc>
                  <a:txBody>
                    <a:bodyPr/>
                    <a:lstStyle/>
                    <a:p>
                      <a:r>
                        <a:rPr lang="en-US" dirty="0"/>
                        <a:t>Yes</a:t>
                      </a:r>
                      <a:endParaRPr lang="en-IE" dirty="0"/>
                    </a:p>
                  </a:txBody>
                  <a:tcPr/>
                </a:tc>
                <a:tc>
                  <a:txBody>
                    <a:bodyPr/>
                    <a:lstStyle/>
                    <a:p>
                      <a:r>
                        <a:rPr lang="en-US" dirty="0"/>
                        <a:t>Yes</a:t>
                      </a:r>
                      <a:endParaRPr lang="en-IE" dirty="0"/>
                    </a:p>
                  </a:txBody>
                  <a:tcPr/>
                </a:tc>
                <a:tc>
                  <a:txBody>
                    <a:bodyPr/>
                    <a:lstStyle/>
                    <a:p>
                      <a:r>
                        <a:rPr lang="en-US" dirty="0"/>
                        <a:t>Yes</a:t>
                      </a:r>
                      <a:endParaRPr lang="en-IE" dirty="0"/>
                    </a:p>
                  </a:txBody>
                  <a:tcPr/>
                </a:tc>
                <a:extLst>
                  <a:ext uri="{0D108BD9-81ED-4DB2-BD59-A6C34878D82A}">
                    <a16:rowId xmlns:a16="http://schemas.microsoft.com/office/drawing/2014/main" val="1312869190"/>
                  </a:ext>
                </a:extLst>
              </a:tr>
              <a:tr h="370840">
                <a:tc>
                  <a:txBody>
                    <a:bodyPr/>
                    <a:lstStyle/>
                    <a:p>
                      <a:r>
                        <a:rPr lang="en-US" dirty="0"/>
                        <a:t>Water distillate</a:t>
                      </a:r>
                      <a:endParaRPr lang="en-IE" dirty="0"/>
                    </a:p>
                  </a:txBody>
                  <a:tcPr/>
                </a:tc>
                <a:tc>
                  <a:txBody>
                    <a:bodyPr/>
                    <a:lstStyle/>
                    <a:p>
                      <a:r>
                        <a:rPr lang="en-US" dirty="0"/>
                        <a:t>Yes</a:t>
                      </a:r>
                      <a:endParaRPr lang="en-IE" dirty="0"/>
                    </a:p>
                  </a:txBody>
                  <a:tcPr/>
                </a:tc>
                <a:tc>
                  <a:txBody>
                    <a:bodyPr/>
                    <a:lstStyle/>
                    <a:p>
                      <a:r>
                        <a:rPr lang="en-US" dirty="0"/>
                        <a:t>Yes</a:t>
                      </a:r>
                      <a:endParaRPr lang="en-IE" dirty="0"/>
                    </a:p>
                  </a:txBody>
                  <a:tcPr/>
                </a:tc>
                <a:tc>
                  <a:txBody>
                    <a:bodyPr/>
                    <a:lstStyle/>
                    <a:p>
                      <a:r>
                        <a:rPr lang="en-US" dirty="0"/>
                        <a:t>Yes</a:t>
                      </a:r>
                      <a:endParaRPr lang="en-IE" dirty="0"/>
                    </a:p>
                  </a:txBody>
                  <a:tcPr/>
                </a:tc>
                <a:extLst>
                  <a:ext uri="{0D108BD9-81ED-4DB2-BD59-A6C34878D82A}">
                    <a16:rowId xmlns:a16="http://schemas.microsoft.com/office/drawing/2014/main" val="507263"/>
                  </a:ext>
                </a:extLst>
              </a:tr>
              <a:tr h="370840">
                <a:tc>
                  <a:txBody>
                    <a:bodyPr/>
                    <a:lstStyle/>
                    <a:p>
                      <a:r>
                        <a:rPr lang="en-US" dirty="0"/>
                        <a:t>Non-water distillate</a:t>
                      </a:r>
                      <a:endParaRPr lang="en-IE" dirty="0"/>
                    </a:p>
                  </a:txBody>
                  <a:tcPr/>
                </a:tc>
                <a:tc>
                  <a:txBody>
                    <a:bodyPr/>
                    <a:lstStyle/>
                    <a:p>
                      <a:r>
                        <a:rPr lang="en-US" dirty="0"/>
                        <a:t>No</a:t>
                      </a:r>
                      <a:endParaRPr lang="en-IE" dirty="0"/>
                    </a:p>
                  </a:txBody>
                  <a:tcPr/>
                </a:tc>
                <a:tc>
                  <a:txBody>
                    <a:bodyPr/>
                    <a:lstStyle/>
                    <a:p>
                      <a:r>
                        <a:rPr lang="en-US" dirty="0"/>
                        <a:t>No</a:t>
                      </a:r>
                      <a:endParaRPr lang="en-IE" dirty="0"/>
                    </a:p>
                  </a:txBody>
                  <a:tcPr/>
                </a:tc>
                <a:tc>
                  <a:txBody>
                    <a:bodyPr/>
                    <a:lstStyle/>
                    <a:p>
                      <a:r>
                        <a:rPr lang="en-US" dirty="0"/>
                        <a:t>Yes</a:t>
                      </a:r>
                      <a:endParaRPr lang="en-IE" dirty="0"/>
                    </a:p>
                  </a:txBody>
                  <a:tcPr/>
                </a:tc>
                <a:extLst>
                  <a:ext uri="{0D108BD9-81ED-4DB2-BD59-A6C34878D82A}">
                    <a16:rowId xmlns:a16="http://schemas.microsoft.com/office/drawing/2014/main" val="2219627243"/>
                  </a:ext>
                </a:extLst>
              </a:tr>
              <a:tr h="370840">
                <a:tc>
                  <a:txBody>
                    <a:bodyPr/>
                    <a:lstStyle/>
                    <a:p>
                      <a:r>
                        <a:rPr lang="en-US" dirty="0"/>
                        <a:t>Peak Vapor Temperature</a:t>
                      </a:r>
                      <a:endParaRPr lang="en-IE" dirty="0"/>
                    </a:p>
                  </a:txBody>
                  <a:tcPr/>
                </a:tc>
                <a:tc>
                  <a:txBody>
                    <a:bodyPr/>
                    <a:lstStyle/>
                    <a:p>
                      <a:r>
                        <a:rPr lang="en-US" dirty="0"/>
                        <a:t>100</a:t>
                      </a:r>
                      <a:endParaRPr lang="en-IE" dirty="0"/>
                    </a:p>
                  </a:txBody>
                  <a:tcPr/>
                </a:tc>
                <a:tc>
                  <a:txBody>
                    <a:bodyPr/>
                    <a:lstStyle/>
                    <a:p>
                      <a:r>
                        <a:rPr lang="en-US" dirty="0"/>
                        <a:t>100.8</a:t>
                      </a:r>
                      <a:endParaRPr lang="en-IE" dirty="0"/>
                    </a:p>
                  </a:txBody>
                  <a:tcPr/>
                </a:tc>
                <a:tc>
                  <a:txBody>
                    <a:bodyPr/>
                    <a:lstStyle/>
                    <a:p>
                      <a:r>
                        <a:rPr lang="en-US" dirty="0"/>
                        <a:t>186.6</a:t>
                      </a:r>
                      <a:endParaRPr lang="en-IE" dirty="0"/>
                    </a:p>
                  </a:txBody>
                  <a:tcPr/>
                </a:tc>
                <a:extLst>
                  <a:ext uri="{0D108BD9-81ED-4DB2-BD59-A6C34878D82A}">
                    <a16:rowId xmlns:a16="http://schemas.microsoft.com/office/drawing/2014/main" val="2583707201"/>
                  </a:ext>
                </a:extLst>
              </a:tr>
            </a:tbl>
          </a:graphicData>
        </a:graphic>
      </p:graphicFrame>
    </p:spTree>
    <p:extLst>
      <p:ext uri="{BB962C8B-B14F-4D97-AF65-F5344CB8AC3E}">
        <p14:creationId xmlns:p14="http://schemas.microsoft.com/office/powerpoint/2010/main" val="2687107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C84D0-81C8-8B2E-84BF-839F3E4091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2ABC258-2A2D-B3FF-E807-A96AE2FF4E22}"/>
              </a:ext>
            </a:extLst>
          </p:cNvPr>
          <p:cNvSpPr>
            <a:spLocks noGrp="1"/>
          </p:cNvSpPr>
          <p:nvPr>
            <p:ph type="body" sz="quarter" idx="13"/>
          </p:nvPr>
        </p:nvSpPr>
        <p:spPr/>
        <p:txBody>
          <a:bodyPr/>
          <a:lstStyle/>
          <a:p>
            <a:r>
              <a:rPr lang="en-AU" dirty="0"/>
              <a:t>Regarding the Water phase</a:t>
            </a:r>
          </a:p>
        </p:txBody>
      </p:sp>
      <p:sp>
        <p:nvSpPr>
          <p:cNvPr id="5" name="Text Placeholder 4">
            <a:extLst>
              <a:ext uri="{FF2B5EF4-FFF2-40B4-BE49-F238E27FC236}">
                <a16:creationId xmlns:a16="http://schemas.microsoft.com/office/drawing/2014/main" id="{1BD8BEA1-9FA5-7DDD-BD6F-8292244B68E7}"/>
              </a:ext>
            </a:extLst>
          </p:cNvPr>
          <p:cNvSpPr>
            <a:spLocks noGrp="1"/>
          </p:cNvSpPr>
          <p:nvPr>
            <p:ph type="body" sz="quarter" idx="16"/>
          </p:nvPr>
        </p:nvSpPr>
        <p:spPr/>
        <p:txBody>
          <a:bodyPr/>
          <a:lstStyle/>
          <a:p>
            <a:pPr marL="342900" indent="-342900">
              <a:buFont typeface="Arial" panose="020B0604020202020204" pitchFamily="34" charset="0"/>
              <a:buChar char="•"/>
            </a:pPr>
            <a:r>
              <a:rPr lang="en-AU" dirty="0"/>
              <a:t>Some preliminary GCMS results suggest that the water phase can be directly used as wood vinegar</a:t>
            </a:r>
          </a:p>
          <a:p>
            <a:pPr marL="342900" indent="-342900">
              <a:buFont typeface="Arial" panose="020B0604020202020204" pitchFamily="34" charset="0"/>
              <a:buChar char="•"/>
            </a:pPr>
            <a:r>
              <a:rPr lang="en-AU" dirty="0"/>
              <a:t>What is required to be properly sure</a:t>
            </a:r>
          </a:p>
          <a:p>
            <a:pPr marL="1028700" lvl="1" indent="-342900">
              <a:buFont typeface="Arial" panose="020B0604020202020204" pitchFamily="34" charset="0"/>
              <a:buChar char="•"/>
            </a:pPr>
            <a:r>
              <a:rPr lang="en-AU" sz="2000" dirty="0"/>
              <a:t>OMRI database search (very time consuming) </a:t>
            </a:r>
          </a:p>
          <a:p>
            <a:pPr marL="342900" indent="-342900">
              <a:buFont typeface="Arial" panose="020B0604020202020204" pitchFamily="34" charset="0"/>
              <a:buChar char="•"/>
            </a:pPr>
            <a:r>
              <a:rPr lang="en-AU" dirty="0"/>
              <a:t>Not expected to be in scope of research project</a:t>
            </a:r>
          </a:p>
        </p:txBody>
      </p:sp>
      <p:sp>
        <p:nvSpPr>
          <p:cNvPr id="6" name="Slide Number Placeholder 3">
            <a:extLst>
              <a:ext uri="{FF2B5EF4-FFF2-40B4-BE49-F238E27FC236}">
                <a16:creationId xmlns:a16="http://schemas.microsoft.com/office/drawing/2014/main" id="{8F051357-3D94-198C-AEA0-9FD776E9C6C0}"/>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16</a:t>
            </a:fld>
            <a:endParaRPr lang="en-MY" sz="1600" dirty="0">
              <a:latin typeface="Arial Narrow" panose="020B0606020202030204" pitchFamily="34" charset="0"/>
            </a:endParaRPr>
          </a:p>
        </p:txBody>
      </p:sp>
    </p:spTree>
    <p:extLst>
      <p:ext uri="{BB962C8B-B14F-4D97-AF65-F5344CB8AC3E}">
        <p14:creationId xmlns:p14="http://schemas.microsoft.com/office/powerpoint/2010/main" val="911229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B8E9A-2C4F-C64E-4F1D-C54874CA26D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6E14043-A107-3A57-E074-932831186C04}"/>
              </a:ext>
            </a:extLst>
          </p:cNvPr>
          <p:cNvSpPr>
            <a:spLocks noGrp="1"/>
          </p:cNvSpPr>
          <p:nvPr>
            <p:ph type="body" sz="quarter" idx="13"/>
          </p:nvPr>
        </p:nvSpPr>
        <p:spPr/>
        <p:txBody>
          <a:bodyPr/>
          <a:lstStyle/>
          <a:p>
            <a:r>
              <a:rPr lang="en-AU" dirty="0"/>
              <a:t>The bottom phase</a:t>
            </a:r>
          </a:p>
        </p:txBody>
      </p:sp>
      <p:sp>
        <p:nvSpPr>
          <p:cNvPr id="5" name="Text Placeholder 4">
            <a:extLst>
              <a:ext uri="{FF2B5EF4-FFF2-40B4-BE49-F238E27FC236}">
                <a16:creationId xmlns:a16="http://schemas.microsoft.com/office/drawing/2014/main" id="{62E13B34-0ECA-EFDA-A75E-9025780B85C0}"/>
              </a:ext>
            </a:extLst>
          </p:cNvPr>
          <p:cNvSpPr>
            <a:spLocks noGrp="1"/>
          </p:cNvSpPr>
          <p:nvPr>
            <p:ph type="body" sz="quarter" idx="16"/>
          </p:nvPr>
        </p:nvSpPr>
        <p:spPr/>
        <p:txBody>
          <a:bodyPr/>
          <a:lstStyle/>
          <a:p>
            <a:pPr marL="342900" indent="-342900">
              <a:buFont typeface="Arial" panose="020B0604020202020204" pitchFamily="34" charset="0"/>
              <a:buChar char="•"/>
            </a:pPr>
            <a:r>
              <a:rPr lang="en-AU" dirty="0"/>
              <a:t>Low temperature distillation (reboiler temp &lt; 200C) runs seems to only result in water removal, producing a heavy and highly acidic bottom phase </a:t>
            </a:r>
          </a:p>
          <a:p>
            <a:pPr marL="342900" indent="-342900">
              <a:buFont typeface="Arial" panose="020B0604020202020204" pitchFamily="34" charset="0"/>
              <a:buChar char="•"/>
            </a:pPr>
            <a:r>
              <a:rPr lang="en-AU" dirty="0"/>
              <a:t>Heavy phase properties: </a:t>
            </a:r>
          </a:p>
          <a:p>
            <a:pPr marL="1028700" lvl="1" indent="-342900">
              <a:buFont typeface="Arial" panose="020B0604020202020204" pitchFamily="34" charset="0"/>
              <a:buChar char="•"/>
            </a:pPr>
            <a:r>
              <a:rPr lang="en-AU" sz="2000" dirty="0"/>
              <a:t>High viscosity (flowable at room temperature)</a:t>
            </a:r>
          </a:p>
          <a:p>
            <a:pPr marL="1028700" lvl="1" indent="-342900">
              <a:buFont typeface="Arial" panose="020B0604020202020204" pitchFamily="34" charset="0"/>
              <a:buChar char="•"/>
            </a:pPr>
            <a:r>
              <a:rPr lang="en-AU" sz="2000" dirty="0"/>
              <a:t>High acidity </a:t>
            </a:r>
          </a:p>
          <a:p>
            <a:pPr marL="1028700" lvl="1" indent="-342900">
              <a:buFont typeface="Arial" panose="020B0604020202020204" pitchFamily="34" charset="0"/>
              <a:buChar char="•"/>
            </a:pPr>
            <a:r>
              <a:rPr lang="en-AU" sz="2000" dirty="0"/>
              <a:t>Low water content (around 0.8%)</a:t>
            </a:r>
          </a:p>
          <a:p>
            <a:pPr marL="1028700" lvl="1" indent="-342900">
              <a:buFont typeface="Arial" panose="020B0604020202020204" pitchFamily="34" charset="0"/>
              <a:buChar char="•"/>
            </a:pPr>
            <a:r>
              <a:rPr lang="en-AU" sz="2000" dirty="0"/>
              <a:t>Possibility for blending with MFO if the acidity can be managed(?)</a:t>
            </a:r>
          </a:p>
        </p:txBody>
      </p:sp>
      <p:sp>
        <p:nvSpPr>
          <p:cNvPr id="6" name="Slide Number Placeholder 3">
            <a:extLst>
              <a:ext uri="{FF2B5EF4-FFF2-40B4-BE49-F238E27FC236}">
                <a16:creationId xmlns:a16="http://schemas.microsoft.com/office/drawing/2014/main" id="{F7F7660D-7214-1A9D-75F9-86D2B639400B}"/>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17</a:t>
            </a:fld>
            <a:endParaRPr lang="en-MY" sz="1600" dirty="0">
              <a:latin typeface="Arial Narrow" panose="020B0606020202030204" pitchFamily="34" charset="0"/>
            </a:endParaRPr>
          </a:p>
        </p:txBody>
      </p:sp>
    </p:spTree>
    <p:extLst>
      <p:ext uri="{BB962C8B-B14F-4D97-AF65-F5344CB8AC3E}">
        <p14:creationId xmlns:p14="http://schemas.microsoft.com/office/powerpoint/2010/main" val="274121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AU" dirty="0"/>
              <a:t>8/9/2026</a:t>
            </a:r>
          </a:p>
        </p:txBody>
      </p:sp>
      <p:sp>
        <p:nvSpPr>
          <p:cNvPr id="4" name="Text Placeholder 3"/>
          <p:cNvSpPr>
            <a:spLocks noGrp="1"/>
          </p:cNvSpPr>
          <p:nvPr>
            <p:ph type="body" sz="quarter" idx="13"/>
          </p:nvPr>
        </p:nvSpPr>
        <p:spPr>
          <a:xfrm>
            <a:off x="379112" y="1214683"/>
            <a:ext cx="7516192" cy="1180231"/>
          </a:xfrm>
        </p:spPr>
        <p:txBody>
          <a:bodyPr/>
          <a:lstStyle/>
          <a:p>
            <a:r>
              <a:rPr lang="en-US" dirty="0"/>
              <a:t>Valorization of Pyrolysis Oil towards Marine Fuel and Wood Vinegar Utilization</a:t>
            </a:r>
            <a:endParaRPr lang="en-AU" dirty="0"/>
          </a:p>
          <a:p>
            <a:endParaRPr lang="en-AU" dirty="0"/>
          </a:p>
        </p:txBody>
      </p:sp>
      <p:sp>
        <p:nvSpPr>
          <p:cNvPr id="5" name="Text Placeholder 4"/>
          <p:cNvSpPr>
            <a:spLocks noGrp="1"/>
          </p:cNvSpPr>
          <p:nvPr>
            <p:ph type="body" sz="quarter" idx="14"/>
          </p:nvPr>
        </p:nvSpPr>
        <p:spPr/>
        <p:txBody>
          <a:bodyPr/>
          <a:lstStyle/>
          <a:p>
            <a:r>
              <a:rPr lang="en-AU" dirty="0"/>
              <a:t>Kong Yue Xuan, GRS Meeting</a:t>
            </a:r>
          </a:p>
        </p:txBody>
      </p:sp>
      <p:sp>
        <p:nvSpPr>
          <p:cNvPr id="6" name="Slide Number Placeholder 3">
            <a:extLst>
              <a:ext uri="{FF2B5EF4-FFF2-40B4-BE49-F238E27FC236}">
                <a16:creationId xmlns:a16="http://schemas.microsoft.com/office/drawing/2014/main" id="{B69B543F-BC3A-D0B0-D15C-D0EA6B449FF9}"/>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18</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5D7685C5-8B03-680B-46B6-6AE921B20F19}"/>
              </a:ext>
            </a:extLst>
          </p:cNvPr>
          <p:cNvGrpSpPr/>
          <p:nvPr/>
        </p:nvGrpSpPr>
        <p:grpSpPr>
          <a:xfrm>
            <a:off x="2983078" y="352517"/>
            <a:ext cx="1796393" cy="774699"/>
            <a:chOff x="5342217" y="1473060"/>
            <a:chExt cx="3054298" cy="1317173"/>
          </a:xfrm>
        </p:grpSpPr>
        <p:pic>
          <p:nvPicPr>
            <p:cNvPr id="8" name="Picture 7">
              <a:extLst>
                <a:ext uri="{FF2B5EF4-FFF2-40B4-BE49-F238E27FC236}">
                  <a16:creationId xmlns:a16="http://schemas.microsoft.com/office/drawing/2014/main" id="{F469DCF0-C6CE-D0AD-119D-386BB08D6C98}"/>
                </a:ext>
              </a:extLst>
            </p:cNvPr>
            <p:cNvPicPr>
              <a:picLocks noChangeAspect="1"/>
            </p:cNvPicPr>
            <p:nvPr/>
          </p:nvPicPr>
          <p:blipFill rotWithShape="1">
            <a:blip r:embed="rId2"/>
            <a:srcRect l="14901" t="32358" r="15890" b="28755"/>
            <a:stretch/>
          </p:blipFill>
          <p:spPr>
            <a:xfrm>
              <a:off x="5466198" y="1473060"/>
              <a:ext cx="2930317" cy="1317173"/>
            </a:xfrm>
            <a:prstGeom prst="rect">
              <a:avLst/>
            </a:prstGeom>
          </p:spPr>
        </p:pic>
        <p:cxnSp>
          <p:nvCxnSpPr>
            <p:cNvPr id="9" name="Straight Connector 8">
              <a:extLst>
                <a:ext uri="{FF2B5EF4-FFF2-40B4-BE49-F238E27FC236}">
                  <a16:creationId xmlns:a16="http://schemas.microsoft.com/office/drawing/2014/main" id="{F415556B-7400-4217-A310-6830C15076B4}"/>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01183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AU" dirty="0"/>
              <a:t>Direct single batch water addition</a:t>
            </a:r>
          </a:p>
        </p:txBody>
      </p:sp>
      <p:sp>
        <p:nvSpPr>
          <p:cNvPr id="3" name="Text Placeholder 2"/>
          <p:cNvSpPr>
            <a:spLocks noGrp="1"/>
          </p:cNvSpPr>
          <p:nvPr>
            <p:ph type="body" sz="quarter" idx="13"/>
          </p:nvPr>
        </p:nvSpPr>
        <p:spPr>
          <a:xfrm>
            <a:off x="306060" y="326309"/>
            <a:ext cx="10047308" cy="736956"/>
          </a:xfrm>
        </p:spPr>
        <p:txBody>
          <a:bodyPr/>
          <a:lstStyle/>
          <a:p>
            <a:r>
              <a:rPr lang="en-AU" dirty="0"/>
              <a:t>Follow up on water stripping method</a:t>
            </a:r>
          </a:p>
        </p:txBody>
      </p:sp>
      <p:sp>
        <p:nvSpPr>
          <p:cNvPr id="4" name="Text Placeholder 3"/>
          <p:cNvSpPr>
            <a:spLocks noGrp="1"/>
          </p:cNvSpPr>
          <p:nvPr>
            <p:ph type="body" sz="quarter" idx="14"/>
          </p:nvPr>
        </p:nvSpPr>
        <p:spPr/>
        <p:txBody>
          <a:bodyPr/>
          <a:lstStyle/>
          <a:p>
            <a:r>
              <a:rPr lang="en-AU" dirty="0"/>
              <a:t>Scanning range between 0 to 100 </a:t>
            </a:r>
            <a:r>
              <a:rPr lang="en-AU" dirty="0" err="1"/>
              <a:t>wt</a:t>
            </a:r>
            <a:r>
              <a:rPr lang="en-AU" dirty="0"/>
              <a:t>% water addition </a:t>
            </a:r>
            <a:r>
              <a:rPr lang="en-AU" dirty="0" err="1"/>
              <a:t>wrt</a:t>
            </a:r>
            <a:r>
              <a:rPr lang="en-AU" dirty="0"/>
              <a:t> oil mass</a:t>
            </a:r>
          </a:p>
          <a:p>
            <a:r>
              <a:rPr lang="en-AU" dirty="0"/>
              <a:t>Results here are “earliest analysis possible results”, red results are remeasured due to method changes. 	</a:t>
            </a:r>
          </a:p>
        </p:txBody>
      </p:sp>
      <p:sp>
        <p:nvSpPr>
          <p:cNvPr id="6" name="Slide Number Placeholder 3">
            <a:extLst>
              <a:ext uri="{FF2B5EF4-FFF2-40B4-BE49-F238E27FC236}">
                <a16:creationId xmlns:a16="http://schemas.microsoft.com/office/drawing/2014/main" id="{E5A3AFAF-94AA-CA06-1AE3-9D865110C8D7}"/>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19</a:t>
            </a:fld>
            <a:endParaRPr lang="en-MY" sz="1600" dirty="0">
              <a:latin typeface="Arial Narrow" panose="020B0606020202030204" pitchFamily="34" charset="0"/>
            </a:endParaRPr>
          </a:p>
        </p:txBody>
      </p:sp>
      <p:graphicFrame>
        <p:nvGraphicFramePr>
          <p:cNvPr id="7" name="Table 6">
            <a:extLst>
              <a:ext uri="{FF2B5EF4-FFF2-40B4-BE49-F238E27FC236}">
                <a16:creationId xmlns:a16="http://schemas.microsoft.com/office/drawing/2014/main" id="{8A36E0DE-34B1-FE2F-D590-9CEDBD7344D5}"/>
              </a:ext>
            </a:extLst>
          </p:cNvPr>
          <p:cNvGraphicFramePr>
            <a:graphicFrameLocks noGrp="1"/>
          </p:cNvGraphicFramePr>
          <p:nvPr>
            <p:extLst>
              <p:ext uri="{D42A27DB-BD31-4B8C-83A1-F6EECF244321}">
                <p14:modId xmlns:p14="http://schemas.microsoft.com/office/powerpoint/2010/main" val="3857913989"/>
              </p:ext>
            </p:extLst>
          </p:nvPr>
        </p:nvGraphicFramePr>
        <p:xfrm>
          <a:off x="589936" y="2503413"/>
          <a:ext cx="7030064" cy="3510280"/>
        </p:xfrm>
        <a:graphic>
          <a:graphicData uri="http://schemas.openxmlformats.org/drawingml/2006/table">
            <a:tbl>
              <a:tblPr firstRow="1" bandRow="1">
                <a:tableStyleId>{5C22544A-7EE6-4342-B048-85BDC9FD1C3A}</a:tableStyleId>
              </a:tblPr>
              <a:tblGrid>
                <a:gridCol w="1573161">
                  <a:extLst>
                    <a:ext uri="{9D8B030D-6E8A-4147-A177-3AD203B41FA5}">
                      <a16:colId xmlns:a16="http://schemas.microsoft.com/office/drawing/2014/main" val="570298247"/>
                    </a:ext>
                  </a:extLst>
                </a:gridCol>
                <a:gridCol w="1268361">
                  <a:extLst>
                    <a:ext uri="{9D8B030D-6E8A-4147-A177-3AD203B41FA5}">
                      <a16:colId xmlns:a16="http://schemas.microsoft.com/office/drawing/2014/main" val="2331068302"/>
                    </a:ext>
                  </a:extLst>
                </a:gridCol>
                <a:gridCol w="1582994">
                  <a:extLst>
                    <a:ext uri="{9D8B030D-6E8A-4147-A177-3AD203B41FA5}">
                      <a16:colId xmlns:a16="http://schemas.microsoft.com/office/drawing/2014/main" val="1070014073"/>
                    </a:ext>
                  </a:extLst>
                </a:gridCol>
                <a:gridCol w="2605548">
                  <a:extLst>
                    <a:ext uri="{9D8B030D-6E8A-4147-A177-3AD203B41FA5}">
                      <a16:colId xmlns:a16="http://schemas.microsoft.com/office/drawing/2014/main" val="2915215997"/>
                    </a:ext>
                  </a:extLst>
                </a:gridCol>
              </a:tblGrid>
              <a:tr h="370840">
                <a:tc>
                  <a:txBody>
                    <a:bodyPr/>
                    <a:lstStyle/>
                    <a:p>
                      <a:r>
                        <a:rPr lang="en-US" dirty="0"/>
                        <a:t>Water </a:t>
                      </a:r>
                    </a:p>
                    <a:p>
                      <a:r>
                        <a:rPr lang="en-US" dirty="0"/>
                        <a:t>(</a:t>
                      </a:r>
                      <a:r>
                        <a:rPr lang="en-US" dirty="0" err="1"/>
                        <a:t>wt</a:t>
                      </a:r>
                      <a:r>
                        <a:rPr lang="en-US" dirty="0"/>
                        <a:t>% </a:t>
                      </a:r>
                      <a:r>
                        <a:rPr lang="en-US" dirty="0" err="1"/>
                        <a:t>wrt</a:t>
                      </a:r>
                      <a:r>
                        <a:rPr lang="en-US" dirty="0"/>
                        <a:t> Oil)</a:t>
                      </a:r>
                      <a:endParaRPr lang="en-IE" dirty="0"/>
                    </a:p>
                  </a:txBody>
                  <a:tcPr/>
                </a:tc>
                <a:tc>
                  <a:txBody>
                    <a:bodyPr/>
                    <a:lstStyle/>
                    <a:p>
                      <a:r>
                        <a:rPr lang="en-US" dirty="0"/>
                        <a:t>Yield </a:t>
                      </a:r>
                    </a:p>
                    <a:p>
                      <a:r>
                        <a:rPr lang="en-US" dirty="0"/>
                        <a:t>(</a:t>
                      </a:r>
                      <a:r>
                        <a:rPr lang="en-US" dirty="0" err="1"/>
                        <a:t>wt</a:t>
                      </a:r>
                      <a:r>
                        <a:rPr lang="en-US" dirty="0"/>
                        <a:t>/</a:t>
                      </a:r>
                      <a:r>
                        <a:rPr lang="en-US" dirty="0" err="1"/>
                        <a:t>wt</a:t>
                      </a:r>
                      <a:r>
                        <a:rPr lang="en-US" dirty="0"/>
                        <a:t> oil)</a:t>
                      </a:r>
                      <a:endParaRPr lang="en-IE" dirty="0"/>
                    </a:p>
                  </a:txBody>
                  <a:tcPr/>
                </a:tc>
                <a:tc>
                  <a:txBody>
                    <a:bodyPr/>
                    <a:lstStyle/>
                    <a:p>
                      <a:r>
                        <a:rPr lang="en-US" dirty="0"/>
                        <a:t>TAN </a:t>
                      </a:r>
                    </a:p>
                    <a:p>
                      <a:r>
                        <a:rPr lang="en-US" dirty="0"/>
                        <a:t>[old method]</a:t>
                      </a:r>
                    </a:p>
                    <a:p>
                      <a:r>
                        <a:rPr lang="en-US" dirty="0"/>
                        <a:t>(mg KOH/g)</a:t>
                      </a:r>
                      <a:endParaRPr lang="en-IE" dirty="0"/>
                    </a:p>
                  </a:txBody>
                  <a:tcPr/>
                </a:tc>
                <a:tc>
                  <a:txBody>
                    <a:bodyPr/>
                    <a:lstStyle/>
                    <a:p>
                      <a:r>
                        <a:rPr lang="en-US" dirty="0"/>
                        <a:t>TAN </a:t>
                      </a:r>
                    </a:p>
                    <a:p>
                      <a:r>
                        <a:rPr lang="en-US" dirty="0"/>
                        <a:t>[new “better” method]</a:t>
                      </a:r>
                    </a:p>
                    <a:p>
                      <a:r>
                        <a:rPr lang="en-US" dirty="0"/>
                        <a:t>(mg KOH/g)</a:t>
                      </a:r>
                      <a:endParaRPr lang="en-IE" dirty="0"/>
                    </a:p>
                  </a:txBody>
                  <a:tcPr/>
                </a:tc>
                <a:extLst>
                  <a:ext uri="{0D108BD9-81ED-4DB2-BD59-A6C34878D82A}">
                    <a16:rowId xmlns:a16="http://schemas.microsoft.com/office/drawing/2014/main" val="3813409601"/>
                  </a:ext>
                </a:extLst>
              </a:tr>
              <a:tr h="370840">
                <a:tc>
                  <a:txBody>
                    <a:bodyPr/>
                    <a:lstStyle/>
                    <a:p>
                      <a:r>
                        <a:rPr lang="en-US" dirty="0"/>
                        <a:t>0</a:t>
                      </a:r>
                      <a:endParaRPr lang="en-IE" dirty="0"/>
                    </a:p>
                  </a:txBody>
                  <a:tcPr/>
                </a:tc>
                <a:tc>
                  <a:txBody>
                    <a:bodyPr/>
                    <a:lstStyle/>
                    <a:p>
                      <a:r>
                        <a:rPr lang="en-US" dirty="0"/>
                        <a:t>0.87</a:t>
                      </a:r>
                      <a:endParaRPr lang="en-IE" dirty="0"/>
                    </a:p>
                  </a:txBody>
                  <a:tcPr/>
                </a:tc>
                <a:tc>
                  <a:txBody>
                    <a:bodyPr/>
                    <a:lstStyle/>
                    <a:p>
                      <a:r>
                        <a:rPr lang="en-US" dirty="0"/>
                        <a:t>68.64 ± 0.04</a:t>
                      </a:r>
                      <a:endParaRPr lang="en-IE" dirty="0"/>
                    </a:p>
                  </a:txBody>
                  <a:tcPr/>
                </a:tc>
                <a:tc>
                  <a:txBody>
                    <a:bodyPr/>
                    <a:lstStyle/>
                    <a:p>
                      <a:r>
                        <a:rPr lang="en-US" dirty="0">
                          <a:solidFill>
                            <a:srgbClr val="FF0000"/>
                          </a:solidFill>
                        </a:rPr>
                        <a:t>77.65 ± 1.88*</a:t>
                      </a:r>
                      <a:endParaRPr lang="en-IE" dirty="0">
                        <a:solidFill>
                          <a:srgbClr val="FF0000"/>
                        </a:solidFill>
                      </a:endParaRPr>
                    </a:p>
                  </a:txBody>
                  <a:tcPr/>
                </a:tc>
                <a:extLst>
                  <a:ext uri="{0D108BD9-81ED-4DB2-BD59-A6C34878D82A}">
                    <a16:rowId xmlns:a16="http://schemas.microsoft.com/office/drawing/2014/main" val="4054311232"/>
                  </a:ext>
                </a:extLst>
              </a:tr>
              <a:tr h="370840">
                <a:tc>
                  <a:txBody>
                    <a:bodyPr/>
                    <a:lstStyle/>
                    <a:p>
                      <a:r>
                        <a:rPr lang="en-US" dirty="0"/>
                        <a:t>10</a:t>
                      </a:r>
                      <a:endParaRPr lang="en-IE" dirty="0"/>
                    </a:p>
                  </a:txBody>
                  <a:tcPr/>
                </a:tc>
                <a:tc>
                  <a:txBody>
                    <a:bodyPr/>
                    <a:lstStyle/>
                    <a:p>
                      <a:r>
                        <a:rPr lang="en-US" dirty="0"/>
                        <a:t>0.84</a:t>
                      </a:r>
                      <a:endParaRPr lang="en-IE" dirty="0"/>
                    </a:p>
                  </a:txBody>
                  <a:tcPr/>
                </a:tc>
                <a:tc>
                  <a:txBody>
                    <a:bodyPr/>
                    <a:lstStyle/>
                    <a:p>
                      <a:r>
                        <a:rPr lang="en-US" dirty="0"/>
                        <a:t>66 ± 0.58</a:t>
                      </a:r>
                      <a:endParaRPr lang="en-IE" dirty="0"/>
                    </a:p>
                  </a:txBody>
                  <a:tcPr/>
                </a:tc>
                <a:tc>
                  <a:txBody>
                    <a:bodyPr/>
                    <a:lstStyle/>
                    <a:p>
                      <a:r>
                        <a:rPr lang="en-US" dirty="0">
                          <a:solidFill>
                            <a:srgbClr val="FF0000"/>
                          </a:solidFill>
                        </a:rPr>
                        <a:t>76.47 ± 1.89*</a:t>
                      </a:r>
                      <a:endParaRPr lang="en-IE" dirty="0">
                        <a:solidFill>
                          <a:srgbClr val="FF0000"/>
                        </a:solidFill>
                      </a:endParaRPr>
                    </a:p>
                  </a:txBody>
                  <a:tcPr/>
                </a:tc>
                <a:extLst>
                  <a:ext uri="{0D108BD9-81ED-4DB2-BD59-A6C34878D82A}">
                    <a16:rowId xmlns:a16="http://schemas.microsoft.com/office/drawing/2014/main" val="3216203530"/>
                  </a:ext>
                </a:extLst>
              </a:tr>
              <a:tr h="370840">
                <a:tc>
                  <a:txBody>
                    <a:bodyPr/>
                    <a:lstStyle/>
                    <a:p>
                      <a:r>
                        <a:rPr lang="en-US" dirty="0"/>
                        <a:t>20</a:t>
                      </a:r>
                      <a:endParaRPr lang="en-IE" dirty="0"/>
                    </a:p>
                  </a:txBody>
                  <a:tcPr/>
                </a:tc>
                <a:tc>
                  <a:txBody>
                    <a:bodyPr/>
                    <a:lstStyle/>
                    <a:p>
                      <a:r>
                        <a:rPr lang="en-US" dirty="0"/>
                        <a:t>0.82</a:t>
                      </a:r>
                      <a:endParaRPr lang="en-IE" dirty="0"/>
                    </a:p>
                  </a:txBody>
                  <a:tcPr/>
                </a:tc>
                <a:tc>
                  <a:txBody>
                    <a:bodyPr/>
                    <a:lstStyle/>
                    <a:p>
                      <a:r>
                        <a:rPr lang="en-US" dirty="0"/>
                        <a:t>62.69 ± 1.50</a:t>
                      </a:r>
                      <a:endParaRPr lang="en-IE" dirty="0"/>
                    </a:p>
                  </a:txBody>
                  <a:tcPr/>
                </a:tc>
                <a:tc>
                  <a:txBody>
                    <a:bodyPr/>
                    <a:lstStyle/>
                    <a:p>
                      <a:r>
                        <a:rPr lang="en-US" dirty="0">
                          <a:solidFill>
                            <a:srgbClr val="FF0000"/>
                          </a:solidFill>
                        </a:rPr>
                        <a:t>75.46 ±1.94*</a:t>
                      </a:r>
                      <a:endParaRPr lang="en-IE" dirty="0">
                        <a:solidFill>
                          <a:srgbClr val="FF0000"/>
                        </a:solidFill>
                      </a:endParaRPr>
                    </a:p>
                  </a:txBody>
                  <a:tcPr/>
                </a:tc>
                <a:extLst>
                  <a:ext uri="{0D108BD9-81ED-4DB2-BD59-A6C34878D82A}">
                    <a16:rowId xmlns:a16="http://schemas.microsoft.com/office/drawing/2014/main" val="2150229666"/>
                  </a:ext>
                </a:extLst>
              </a:tr>
              <a:tr h="370840">
                <a:tc>
                  <a:txBody>
                    <a:bodyPr/>
                    <a:lstStyle/>
                    <a:p>
                      <a:r>
                        <a:rPr lang="en-US" dirty="0"/>
                        <a:t>30</a:t>
                      </a:r>
                      <a:endParaRPr lang="en-IE" dirty="0"/>
                    </a:p>
                  </a:txBody>
                  <a:tcPr/>
                </a:tc>
                <a:tc>
                  <a:txBody>
                    <a:bodyPr/>
                    <a:lstStyle/>
                    <a:p>
                      <a:r>
                        <a:rPr lang="en-US" dirty="0"/>
                        <a:t>0.81</a:t>
                      </a:r>
                      <a:endParaRPr lang="en-IE" dirty="0"/>
                    </a:p>
                  </a:txBody>
                  <a:tcPr/>
                </a:tc>
                <a:tc>
                  <a:txBody>
                    <a:bodyPr/>
                    <a:lstStyle/>
                    <a:p>
                      <a:r>
                        <a:rPr lang="en-US" dirty="0"/>
                        <a:t>59.205 ± 1.80</a:t>
                      </a:r>
                      <a:endParaRPr lang="en-IE" dirty="0"/>
                    </a:p>
                  </a:txBody>
                  <a:tcPr/>
                </a:tc>
                <a:tc>
                  <a:txBody>
                    <a:bodyPr/>
                    <a:lstStyle/>
                    <a:p>
                      <a:r>
                        <a:rPr lang="en-US" dirty="0">
                          <a:solidFill>
                            <a:srgbClr val="FF0000"/>
                          </a:solidFill>
                        </a:rPr>
                        <a:t>75.03 ± 1.68*</a:t>
                      </a:r>
                      <a:endParaRPr lang="en-IE" dirty="0">
                        <a:solidFill>
                          <a:srgbClr val="FF0000"/>
                        </a:solidFill>
                      </a:endParaRPr>
                    </a:p>
                  </a:txBody>
                  <a:tcPr/>
                </a:tc>
                <a:extLst>
                  <a:ext uri="{0D108BD9-81ED-4DB2-BD59-A6C34878D82A}">
                    <a16:rowId xmlns:a16="http://schemas.microsoft.com/office/drawing/2014/main" val="4065142334"/>
                  </a:ext>
                </a:extLst>
              </a:tr>
              <a:tr h="370840">
                <a:tc>
                  <a:txBody>
                    <a:bodyPr/>
                    <a:lstStyle/>
                    <a:p>
                      <a:r>
                        <a:rPr lang="en-US" dirty="0"/>
                        <a:t>40</a:t>
                      </a:r>
                      <a:endParaRPr lang="en-IE" dirty="0"/>
                    </a:p>
                  </a:txBody>
                  <a:tcPr/>
                </a:tc>
                <a:tc>
                  <a:txBody>
                    <a:bodyPr/>
                    <a:lstStyle/>
                    <a:p>
                      <a:r>
                        <a:rPr lang="en-US" dirty="0"/>
                        <a:t>0.84</a:t>
                      </a:r>
                      <a:endParaRPr lang="en-IE" dirty="0"/>
                    </a:p>
                  </a:txBody>
                  <a:tcPr/>
                </a:tc>
                <a:tc>
                  <a:txBody>
                    <a:bodyPr/>
                    <a:lstStyle/>
                    <a:p>
                      <a:r>
                        <a:rPr lang="en-US" dirty="0"/>
                        <a:t>55 ± 1.00</a:t>
                      </a:r>
                      <a:endParaRPr lang="en-IE" dirty="0"/>
                    </a:p>
                  </a:txBody>
                  <a:tcPr/>
                </a:tc>
                <a:tc>
                  <a:txBody>
                    <a:bodyPr/>
                    <a:lstStyle/>
                    <a:p>
                      <a:r>
                        <a:rPr lang="en-US" dirty="0">
                          <a:solidFill>
                            <a:srgbClr val="FF0000"/>
                          </a:solidFill>
                        </a:rPr>
                        <a:t>73.79 ± 1.71</a:t>
                      </a:r>
                      <a:endParaRPr lang="en-IE" dirty="0">
                        <a:solidFill>
                          <a:srgbClr val="FF0000"/>
                        </a:solidFill>
                      </a:endParaRPr>
                    </a:p>
                  </a:txBody>
                  <a:tcPr/>
                </a:tc>
                <a:extLst>
                  <a:ext uri="{0D108BD9-81ED-4DB2-BD59-A6C34878D82A}">
                    <a16:rowId xmlns:a16="http://schemas.microsoft.com/office/drawing/2014/main" val="2028659378"/>
                  </a:ext>
                </a:extLst>
              </a:tr>
              <a:tr h="370840">
                <a:tc>
                  <a:txBody>
                    <a:bodyPr/>
                    <a:lstStyle/>
                    <a:p>
                      <a:r>
                        <a:rPr lang="en-US" dirty="0"/>
                        <a:t>50</a:t>
                      </a:r>
                      <a:endParaRPr lang="en-IE" dirty="0"/>
                    </a:p>
                  </a:txBody>
                  <a:tcPr/>
                </a:tc>
                <a:tc>
                  <a:txBody>
                    <a:bodyPr/>
                    <a:lstStyle/>
                    <a:p>
                      <a:r>
                        <a:rPr lang="en-US" dirty="0"/>
                        <a:t>0.81</a:t>
                      </a:r>
                      <a:endParaRPr lang="en-IE" dirty="0"/>
                    </a:p>
                  </a:txBody>
                  <a:tcPr/>
                </a:tc>
                <a:tc>
                  <a:txBody>
                    <a:bodyPr/>
                    <a:lstStyle/>
                    <a:p>
                      <a:r>
                        <a:rPr lang="en-US" dirty="0"/>
                        <a:t>51 ± 1.00</a:t>
                      </a:r>
                      <a:endParaRPr lang="en-IE" dirty="0"/>
                    </a:p>
                  </a:txBody>
                  <a:tcPr/>
                </a:tc>
                <a:tc>
                  <a:txBody>
                    <a:bodyPr/>
                    <a:lstStyle/>
                    <a:p>
                      <a:r>
                        <a:rPr lang="en-US" dirty="0"/>
                        <a:t>67.47 ± 1.36</a:t>
                      </a:r>
                      <a:endParaRPr lang="en-IE" dirty="0"/>
                    </a:p>
                  </a:txBody>
                  <a:tcPr/>
                </a:tc>
                <a:extLst>
                  <a:ext uri="{0D108BD9-81ED-4DB2-BD59-A6C34878D82A}">
                    <a16:rowId xmlns:a16="http://schemas.microsoft.com/office/drawing/2014/main" val="630259874"/>
                  </a:ext>
                </a:extLst>
              </a:tr>
              <a:tr h="370840">
                <a:tc>
                  <a:txBody>
                    <a:bodyPr/>
                    <a:lstStyle/>
                    <a:p>
                      <a:r>
                        <a:rPr lang="en-US" dirty="0"/>
                        <a:t>100</a:t>
                      </a:r>
                      <a:endParaRPr lang="en-IE" dirty="0"/>
                    </a:p>
                  </a:txBody>
                  <a:tcPr/>
                </a:tc>
                <a:tc>
                  <a:txBody>
                    <a:bodyPr/>
                    <a:lstStyle/>
                    <a:p>
                      <a:r>
                        <a:rPr lang="en-US" dirty="0"/>
                        <a:t>0.80</a:t>
                      </a:r>
                      <a:endParaRPr lang="en-IE" dirty="0"/>
                    </a:p>
                  </a:txBody>
                  <a:tcPr/>
                </a:tc>
                <a:tc>
                  <a:txBody>
                    <a:bodyPr/>
                    <a:lstStyle/>
                    <a:p>
                      <a:endParaRPr lang="en-IE" dirty="0"/>
                    </a:p>
                  </a:txBody>
                  <a:tcPr/>
                </a:tc>
                <a:tc>
                  <a:txBody>
                    <a:bodyPr/>
                    <a:lstStyle/>
                    <a:p>
                      <a:r>
                        <a:rPr lang="en-US" dirty="0"/>
                        <a:t>61.30 ± 0.59</a:t>
                      </a:r>
                      <a:endParaRPr lang="en-IE" dirty="0"/>
                    </a:p>
                  </a:txBody>
                  <a:tcPr/>
                </a:tc>
                <a:extLst>
                  <a:ext uri="{0D108BD9-81ED-4DB2-BD59-A6C34878D82A}">
                    <a16:rowId xmlns:a16="http://schemas.microsoft.com/office/drawing/2014/main" val="1748476734"/>
                  </a:ext>
                </a:extLst>
              </a:tr>
            </a:tbl>
          </a:graphicData>
        </a:graphic>
      </p:graphicFrame>
      <p:sp>
        <p:nvSpPr>
          <p:cNvPr id="8" name="TextBox 7">
            <a:extLst>
              <a:ext uri="{FF2B5EF4-FFF2-40B4-BE49-F238E27FC236}">
                <a16:creationId xmlns:a16="http://schemas.microsoft.com/office/drawing/2014/main" id="{FB1B42C4-91AB-B8E7-27FB-E0D84B1F1A34}"/>
              </a:ext>
            </a:extLst>
          </p:cNvPr>
          <p:cNvSpPr txBox="1"/>
          <p:nvPr/>
        </p:nvSpPr>
        <p:spPr>
          <a:xfrm>
            <a:off x="791259" y="6137574"/>
            <a:ext cx="6481326" cy="369332"/>
          </a:xfrm>
          <a:prstGeom prst="rect">
            <a:avLst/>
          </a:prstGeom>
          <a:noFill/>
        </p:spPr>
        <p:txBody>
          <a:bodyPr wrap="none" rtlCol="0">
            <a:spAutoFit/>
          </a:bodyPr>
          <a:lstStyle/>
          <a:p>
            <a:r>
              <a:rPr lang="en-US" dirty="0"/>
              <a:t>*need to remeasure as the TAN method develops to maturity. </a:t>
            </a:r>
            <a:endParaRPr lang="en-IE"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D8DB90B-14AE-1EA3-A529-383EA9BBB982}"/>
                  </a:ext>
                </a:extLst>
              </p14:cNvPr>
              <p14:cNvContentPartPr/>
              <p14:nvPr/>
            </p14:nvContentPartPr>
            <p14:xfrm>
              <a:off x="6802200" y="2455200"/>
              <a:ext cx="5479560" cy="3170880"/>
            </p14:xfrm>
          </p:contentPart>
        </mc:Choice>
        <mc:Fallback xmlns="">
          <p:pic>
            <p:nvPicPr>
              <p:cNvPr id="5" name="Ink 4">
                <a:extLst>
                  <a:ext uri="{FF2B5EF4-FFF2-40B4-BE49-F238E27FC236}">
                    <a16:creationId xmlns:a16="http://schemas.microsoft.com/office/drawing/2014/main" id="{9D8DB90B-14AE-1EA3-A529-383EA9BBB982}"/>
                  </a:ext>
                </a:extLst>
              </p:cNvPr>
              <p:cNvPicPr/>
              <p:nvPr/>
            </p:nvPicPr>
            <p:blipFill>
              <a:blip r:embed="rId4"/>
              <a:stretch>
                <a:fillRect/>
              </a:stretch>
            </p:blipFill>
            <p:spPr>
              <a:xfrm>
                <a:off x="6792840" y="2445840"/>
                <a:ext cx="5498280" cy="3189600"/>
              </a:xfrm>
              <a:prstGeom prst="rect">
                <a:avLst/>
              </a:prstGeom>
            </p:spPr>
          </p:pic>
        </mc:Fallback>
      </mc:AlternateContent>
    </p:spTree>
    <p:extLst>
      <p:ext uri="{BB962C8B-B14F-4D97-AF65-F5344CB8AC3E}">
        <p14:creationId xmlns:p14="http://schemas.microsoft.com/office/powerpoint/2010/main" val="4097071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A9D-F250-CECF-B6B4-5A0DA135071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334DFE-128A-DD30-4FAE-64F161F75F3D}"/>
              </a:ext>
            </a:extLst>
          </p:cNvPr>
          <p:cNvSpPr>
            <a:spLocks noGrp="1"/>
          </p:cNvSpPr>
          <p:nvPr>
            <p:ph type="body" sz="quarter" idx="11"/>
          </p:nvPr>
        </p:nvSpPr>
        <p:spPr/>
        <p:txBody>
          <a:bodyPr/>
          <a:lstStyle/>
          <a:p>
            <a:r>
              <a:rPr lang="en-AU" dirty="0"/>
              <a:t>Direct single batch water addition</a:t>
            </a:r>
          </a:p>
        </p:txBody>
      </p:sp>
      <p:sp>
        <p:nvSpPr>
          <p:cNvPr id="3" name="Text Placeholder 2">
            <a:extLst>
              <a:ext uri="{FF2B5EF4-FFF2-40B4-BE49-F238E27FC236}">
                <a16:creationId xmlns:a16="http://schemas.microsoft.com/office/drawing/2014/main" id="{C9FE6206-A5C3-B45A-47C8-2EEE6ED35B51}"/>
              </a:ext>
            </a:extLst>
          </p:cNvPr>
          <p:cNvSpPr>
            <a:spLocks noGrp="1"/>
          </p:cNvSpPr>
          <p:nvPr>
            <p:ph type="body" sz="quarter" idx="13"/>
          </p:nvPr>
        </p:nvSpPr>
        <p:spPr>
          <a:xfrm>
            <a:off x="306060" y="326309"/>
            <a:ext cx="10047308" cy="736956"/>
          </a:xfrm>
        </p:spPr>
        <p:txBody>
          <a:bodyPr/>
          <a:lstStyle/>
          <a:p>
            <a:r>
              <a:rPr lang="en-AU" dirty="0"/>
              <a:t>Follow up on water stripping method</a:t>
            </a:r>
          </a:p>
        </p:txBody>
      </p:sp>
      <p:sp>
        <p:nvSpPr>
          <p:cNvPr id="4" name="Text Placeholder 3">
            <a:extLst>
              <a:ext uri="{FF2B5EF4-FFF2-40B4-BE49-F238E27FC236}">
                <a16:creationId xmlns:a16="http://schemas.microsoft.com/office/drawing/2014/main" id="{724C75DA-415B-ECB0-0B48-4B000CF97D43}"/>
              </a:ext>
            </a:extLst>
          </p:cNvPr>
          <p:cNvSpPr>
            <a:spLocks noGrp="1"/>
          </p:cNvSpPr>
          <p:nvPr>
            <p:ph type="body" sz="quarter" idx="14"/>
          </p:nvPr>
        </p:nvSpPr>
        <p:spPr/>
        <p:txBody>
          <a:bodyPr/>
          <a:lstStyle/>
          <a:p>
            <a:r>
              <a:rPr lang="en-AU" dirty="0"/>
              <a:t>Scanning range between 0 to 100 </a:t>
            </a:r>
            <a:r>
              <a:rPr lang="en-AU" dirty="0" err="1"/>
              <a:t>wt</a:t>
            </a:r>
            <a:r>
              <a:rPr lang="en-AU" dirty="0"/>
              <a:t>% water addition </a:t>
            </a:r>
            <a:r>
              <a:rPr lang="en-AU" dirty="0" err="1"/>
              <a:t>wrt</a:t>
            </a:r>
            <a:r>
              <a:rPr lang="en-AU" dirty="0"/>
              <a:t> oil mass</a:t>
            </a:r>
          </a:p>
          <a:p>
            <a:r>
              <a:rPr lang="en-AU" dirty="0"/>
              <a:t>Results here are “earliest analysis possible results”, red results are remeasured due to method changes. 	</a:t>
            </a:r>
          </a:p>
        </p:txBody>
      </p:sp>
      <p:sp>
        <p:nvSpPr>
          <p:cNvPr id="6" name="Slide Number Placeholder 3">
            <a:extLst>
              <a:ext uri="{FF2B5EF4-FFF2-40B4-BE49-F238E27FC236}">
                <a16:creationId xmlns:a16="http://schemas.microsoft.com/office/drawing/2014/main" id="{6199437A-C52A-0931-D306-1B7EA0EE3BBD}"/>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20</a:t>
            </a:fld>
            <a:endParaRPr lang="en-MY" sz="1600" dirty="0">
              <a:latin typeface="Arial Narrow" panose="020B0606020202030204" pitchFamily="34" charset="0"/>
            </a:endParaRPr>
          </a:p>
        </p:txBody>
      </p:sp>
      <p:sp>
        <p:nvSpPr>
          <p:cNvPr id="8" name="TextBox 7">
            <a:extLst>
              <a:ext uri="{FF2B5EF4-FFF2-40B4-BE49-F238E27FC236}">
                <a16:creationId xmlns:a16="http://schemas.microsoft.com/office/drawing/2014/main" id="{1144E23E-86D5-3617-4A7C-F453923C14B6}"/>
              </a:ext>
            </a:extLst>
          </p:cNvPr>
          <p:cNvSpPr txBox="1"/>
          <p:nvPr/>
        </p:nvSpPr>
        <p:spPr>
          <a:xfrm>
            <a:off x="791259" y="6137574"/>
            <a:ext cx="6481326" cy="369332"/>
          </a:xfrm>
          <a:prstGeom prst="rect">
            <a:avLst/>
          </a:prstGeom>
          <a:noFill/>
        </p:spPr>
        <p:txBody>
          <a:bodyPr wrap="none" rtlCol="0">
            <a:spAutoFit/>
          </a:bodyPr>
          <a:lstStyle/>
          <a:p>
            <a:r>
              <a:rPr lang="en-US" dirty="0"/>
              <a:t>*need to remeasure as the TAN method develops to maturity. </a:t>
            </a:r>
            <a:endParaRPr lang="en-IE" dirty="0"/>
          </a:p>
        </p:txBody>
      </p:sp>
      <p:graphicFrame>
        <p:nvGraphicFramePr>
          <p:cNvPr id="9" name="Chart 8">
            <a:extLst>
              <a:ext uri="{FF2B5EF4-FFF2-40B4-BE49-F238E27FC236}">
                <a16:creationId xmlns:a16="http://schemas.microsoft.com/office/drawing/2014/main" id="{7676C887-6FB1-4F65-90A5-77BFABA4665D}"/>
              </a:ext>
            </a:extLst>
          </p:cNvPr>
          <p:cNvGraphicFramePr>
            <a:graphicFrameLocks/>
          </p:cNvGraphicFramePr>
          <p:nvPr>
            <p:extLst>
              <p:ext uri="{D42A27DB-BD31-4B8C-83A1-F6EECF244321}">
                <p14:modId xmlns:p14="http://schemas.microsoft.com/office/powerpoint/2010/main" val="2940331838"/>
              </p:ext>
            </p:extLst>
          </p:nvPr>
        </p:nvGraphicFramePr>
        <p:xfrm>
          <a:off x="5710867" y="2431189"/>
          <a:ext cx="5052060" cy="34480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4A83CF14-9303-733C-6982-952017CDE647}"/>
              </a:ext>
            </a:extLst>
          </p:cNvPr>
          <p:cNvGraphicFramePr>
            <a:graphicFrameLocks/>
          </p:cNvGraphicFramePr>
          <p:nvPr>
            <p:extLst>
              <p:ext uri="{D42A27DB-BD31-4B8C-83A1-F6EECF244321}">
                <p14:modId xmlns:p14="http://schemas.microsoft.com/office/powerpoint/2010/main" val="1213795526"/>
              </p:ext>
            </p:extLst>
          </p:nvPr>
        </p:nvGraphicFramePr>
        <p:xfrm>
          <a:off x="551237" y="2940696"/>
          <a:ext cx="4778477" cy="293854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90776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54522-8B3B-86B3-D829-7FF10B9372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D1F6CAE-FEB8-9282-E10F-F13C6F2C38D4}"/>
              </a:ext>
            </a:extLst>
          </p:cNvPr>
          <p:cNvSpPr>
            <a:spLocks noGrp="1"/>
          </p:cNvSpPr>
          <p:nvPr>
            <p:ph type="body" sz="quarter" idx="11"/>
          </p:nvPr>
        </p:nvSpPr>
        <p:spPr/>
        <p:txBody>
          <a:bodyPr/>
          <a:lstStyle/>
          <a:p>
            <a:r>
              <a:rPr lang="en-AU" dirty="0"/>
              <a:t>Direct single batch water addition: aging</a:t>
            </a:r>
          </a:p>
        </p:txBody>
      </p:sp>
      <p:sp>
        <p:nvSpPr>
          <p:cNvPr id="3" name="Text Placeholder 2">
            <a:extLst>
              <a:ext uri="{FF2B5EF4-FFF2-40B4-BE49-F238E27FC236}">
                <a16:creationId xmlns:a16="http://schemas.microsoft.com/office/drawing/2014/main" id="{EC374889-0E35-B716-5F7A-F05988892167}"/>
              </a:ext>
            </a:extLst>
          </p:cNvPr>
          <p:cNvSpPr>
            <a:spLocks noGrp="1"/>
          </p:cNvSpPr>
          <p:nvPr>
            <p:ph type="body" sz="quarter" idx="13"/>
          </p:nvPr>
        </p:nvSpPr>
        <p:spPr>
          <a:xfrm>
            <a:off x="306060" y="326309"/>
            <a:ext cx="10047308" cy="736956"/>
          </a:xfrm>
        </p:spPr>
        <p:txBody>
          <a:bodyPr/>
          <a:lstStyle/>
          <a:p>
            <a:r>
              <a:rPr lang="en-AU" dirty="0"/>
              <a:t>Follow up on water stripping method</a:t>
            </a:r>
          </a:p>
        </p:txBody>
      </p:sp>
      <p:sp>
        <p:nvSpPr>
          <p:cNvPr id="4" name="Text Placeholder 3">
            <a:extLst>
              <a:ext uri="{FF2B5EF4-FFF2-40B4-BE49-F238E27FC236}">
                <a16:creationId xmlns:a16="http://schemas.microsoft.com/office/drawing/2014/main" id="{2822E8D8-03BF-942A-6632-245D8B82AF3F}"/>
              </a:ext>
            </a:extLst>
          </p:cNvPr>
          <p:cNvSpPr>
            <a:spLocks noGrp="1"/>
          </p:cNvSpPr>
          <p:nvPr>
            <p:ph type="body" sz="quarter" idx="14"/>
          </p:nvPr>
        </p:nvSpPr>
        <p:spPr/>
        <p:txBody>
          <a:bodyPr/>
          <a:lstStyle/>
          <a:p>
            <a:r>
              <a:rPr lang="en-AU" dirty="0"/>
              <a:t>Sample aged for 3 days and remeasured. Both use the new “better” method</a:t>
            </a:r>
          </a:p>
        </p:txBody>
      </p:sp>
      <p:sp>
        <p:nvSpPr>
          <p:cNvPr id="6" name="Slide Number Placeholder 3">
            <a:extLst>
              <a:ext uri="{FF2B5EF4-FFF2-40B4-BE49-F238E27FC236}">
                <a16:creationId xmlns:a16="http://schemas.microsoft.com/office/drawing/2014/main" id="{0BF4EBDE-2296-54C6-959B-0BB82163F0D3}"/>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21</a:t>
            </a:fld>
            <a:endParaRPr lang="en-MY" sz="1600" dirty="0">
              <a:latin typeface="Arial Narrow" panose="020B0606020202030204" pitchFamily="34" charset="0"/>
            </a:endParaRPr>
          </a:p>
        </p:txBody>
      </p:sp>
      <p:graphicFrame>
        <p:nvGraphicFramePr>
          <p:cNvPr id="7" name="Table 6">
            <a:extLst>
              <a:ext uri="{FF2B5EF4-FFF2-40B4-BE49-F238E27FC236}">
                <a16:creationId xmlns:a16="http://schemas.microsoft.com/office/drawing/2014/main" id="{E65A1241-1BD1-26AE-FCF3-3F049F4B39A6}"/>
              </a:ext>
            </a:extLst>
          </p:cNvPr>
          <p:cNvGraphicFramePr>
            <a:graphicFrameLocks noGrp="1"/>
          </p:cNvGraphicFramePr>
          <p:nvPr>
            <p:extLst>
              <p:ext uri="{D42A27DB-BD31-4B8C-83A1-F6EECF244321}">
                <p14:modId xmlns:p14="http://schemas.microsoft.com/office/powerpoint/2010/main" val="427361544"/>
              </p:ext>
            </p:extLst>
          </p:nvPr>
        </p:nvGraphicFramePr>
        <p:xfrm>
          <a:off x="589936" y="2503413"/>
          <a:ext cx="7030064" cy="1285240"/>
        </p:xfrm>
        <a:graphic>
          <a:graphicData uri="http://schemas.openxmlformats.org/drawingml/2006/table">
            <a:tbl>
              <a:tblPr firstRow="1" bandRow="1">
                <a:tableStyleId>{5C22544A-7EE6-4342-B048-85BDC9FD1C3A}</a:tableStyleId>
              </a:tblPr>
              <a:tblGrid>
                <a:gridCol w="1573161">
                  <a:extLst>
                    <a:ext uri="{9D8B030D-6E8A-4147-A177-3AD203B41FA5}">
                      <a16:colId xmlns:a16="http://schemas.microsoft.com/office/drawing/2014/main" val="570298247"/>
                    </a:ext>
                  </a:extLst>
                </a:gridCol>
                <a:gridCol w="1268361">
                  <a:extLst>
                    <a:ext uri="{9D8B030D-6E8A-4147-A177-3AD203B41FA5}">
                      <a16:colId xmlns:a16="http://schemas.microsoft.com/office/drawing/2014/main" val="2331068302"/>
                    </a:ext>
                  </a:extLst>
                </a:gridCol>
                <a:gridCol w="1582994">
                  <a:extLst>
                    <a:ext uri="{9D8B030D-6E8A-4147-A177-3AD203B41FA5}">
                      <a16:colId xmlns:a16="http://schemas.microsoft.com/office/drawing/2014/main" val="1070014073"/>
                    </a:ext>
                  </a:extLst>
                </a:gridCol>
                <a:gridCol w="2605548">
                  <a:extLst>
                    <a:ext uri="{9D8B030D-6E8A-4147-A177-3AD203B41FA5}">
                      <a16:colId xmlns:a16="http://schemas.microsoft.com/office/drawing/2014/main" val="2915215997"/>
                    </a:ext>
                  </a:extLst>
                </a:gridCol>
              </a:tblGrid>
              <a:tr h="370840">
                <a:tc>
                  <a:txBody>
                    <a:bodyPr/>
                    <a:lstStyle/>
                    <a:p>
                      <a:r>
                        <a:rPr lang="en-US" dirty="0"/>
                        <a:t>Water </a:t>
                      </a:r>
                    </a:p>
                    <a:p>
                      <a:r>
                        <a:rPr lang="en-US" dirty="0"/>
                        <a:t>(</a:t>
                      </a:r>
                      <a:r>
                        <a:rPr lang="en-US" dirty="0" err="1"/>
                        <a:t>wt</a:t>
                      </a:r>
                      <a:r>
                        <a:rPr lang="en-US" dirty="0"/>
                        <a:t>% </a:t>
                      </a:r>
                      <a:r>
                        <a:rPr lang="en-US" dirty="0" err="1"/>
                        <a:t>wrt</a:t>
                      </a:r>
                      <a:r>
                        <a:rPr lang="en-US" dirty="0"/>
                        <a:t> Oil)</a:t>
                      </a:r>
                      <a:endParaRPr lang="en-IE" dirty="0"/>
                    </a:p>
                  </a:txBody>
                  <a:tcPr/>
                </a:tc>
                <a:tc>
                  <a:txBody>
                    <a:bodyPr/>
                    <a:lstStyle/>
                    <a:p>
                      <a:r>
                        <a:rPr lang="en-US" dirty="0"/>
                        <a:t>Yield </a:t>
                      </a:r>
                    </a:p>
                    <a:p>
                      <a:r>
                        <a:rPr lang="en-US" dirty="0"/>
                        <a:t>(</a:t>
                      </a:r>
                      <a:r>
                        <a:rPr lang="en-US" dirty="0" err="1"/>
                        <a:t>wt</a:t>
                      </a:r>
                      <a:r>
                        <a:rPr lang="en-US" dirty="0"/>
                        <a:t>/</a:t>
                      </a:r>
                      <a:r>
                        <a:rPr lang="en-US" dirty="0" err="1"/>
                        <a:t>wt</a:t>
                      </a:r>
                      <a:r>
                        <a:rPr lang="en-US" dirty="0"/>
                        <a:t> oil)</a:t>
                      </a:r>
                      <a:endParaRPr lang="en-IE" dirty="0"/>
                    </a:p>
                  </a:txBody>
                  <a:tcPr/>
                </a:tc>
                <a:tc>
                  <a:txBody>
                    <a:bodyPr/>
                    <a:lstStyle/>
                    <a:p>
                      <a:r>
                        <a:rPr lang="en-US" dirty="0"/>
                        <a:t>TAN </a:t>
                      </a:r>
                    </a:p>
                    <a:p>
                      <a:r>
                        <a:rPr lang="en-US" dirty="0"/>
                        <a:t>[T+0 days]</a:t>
                      </a:r>
                    </a:p>
                    <a:p>
                      <a:r>
                        <a:rPr lang="en-US" dirty="0"/>
                        <a:t>(mg KOH/g)</a:t>
                      </a:r>
                      <a:endParaRPr lang="en-IE" dirty="0"/>
                    </a:p>
                  </a:txBody>
                  <a:tcPr/>
                </a:tc>
                <a:tc>
                  <a:txBody>
                    <a:bodyPr/>
                    <a:lstStyle/>
                    <a:p>
                      <a:r>
                        <a:rPr lang="en-US" dirty="0"/>
                        <a:t>TAN </a:t>
                      </a:r>
                    </a:p>
                    <a:p>
                      <a:r>
                        <a:rPr lang="en-US" dirty="0"/>
                        <a:t>[T+3 days]</a:t>
                      </a:r>
                    </a:p>
                    <a:p>
                      <a:r>
                        <a:rPr lang="en-US" dirty="0"/>
                        <a:t>(mg KOH/g)</a:t>
                      </a:r>
                      <a:endParaRPr lang="en-IE" dirty="0"/>
                    </a:p>
                  </a:txBody>
                  <a:tcPr/>
                </a:tc>
                <a:extLst>
                  <a:ext uri="{0D108BD9-81ED-4DB2-BD59-A6C34878D82A}">
                    <a16:rowId xmlns:a16="http://schemas.microsoft.com/office/drawing/2014/main" val="3813409601"/>
                  </a:ext>
                </a:extLst>
              </a:tr>
              <a:tr h="370840">
                <a:tc>
                  <a:txBody>
                    <a:bodyPr/>
                    <a:lstStyle/>
                    <a:p>
                      <a:r>
                        <a:rPr lang="en-US" dirty="0"/>
                        <a:t>100</a:t>
                      </a:r>
                      <a:endParaRPr lang="en-IE" dirty="0"/>
                    </a:p>
                  </a:txBody>
                  <a:tcPr/>
                </a:tc>
                <a:tc>
                  <a:txBody>
                    <a:bodyPr/>
                    <a:lstStyle/>
                    <a:p>
                      <a:r>
                        <a:rPr lang="en-US" dirty="0"/>
                        <a:t>0.80</a:t>
                      </a:r>
                      <a:endParaRPr lang="en-IE" dirty="0"/>
                    </a:p>
                  </a:txBody>
                  <a:tcPr/>
                </a:tc>
                <a:tc>
                  <a:txBody>
                    <a:bodyPr/>
                    <a:lstStyle/>
                    <a:p>
                      <a:r>
                        <a:rPr lang="en-US" dirty="0"/>
                        <a:t>61.30 ± 0.59</a:t>
                      </a:r>
                      <a:endParaRPr lang="en-IE" dirty="0"/>
                    </a:p>
                  </a:txBody>
                  <a:tcPr/>
                </a:tc>
                <a:tc>
                  <a:txBody>
                    <a:bodyPr/>
                    <a:lstStyle/>
                    <a:p>
                      <a:r>
                        <a:rPr lang="en-US" dirty="0">
                          <a:solidFill>
                            <a:srgbClr val="FF0000"/>
                          </a:solidFill>
                        </a:rPr>
                        <a:t>68.22 ± 2.08</a:t>
                      </a:r>
                      <a:endParaRPr lang="en-IE" dirty="0">
                        <a:solidFill>
                          <a:srgbClr val="FF0000"/>
                        </a:solidFill>
                      </a:endParaRPr>
                    </a:p>
                  </a:txBody>
                  <a:tcPr/>
                </a:tc>
                <a:extLst>
                  <a:ext uri="{0D108BD9-81ED-4DB2-BD59-A6C34878D82A}">
                    <a16:rowId xmlns:a16="http://schemas.microsoft.com/office/drawing/2014/main" val="4054311232"/>
                  </a:ext>
                </a:extLst>
              </a:tr>
            </a:tbl>
          </a:graphicData>
        </a:graphic>
      </p:graphicFrame>
    </p:spTree>
    <p:extLst>
      <p:ext uri="{BB962C8B-B14F-4D97-AF65-F5344CB8AC3E}">
        <p14:creationId xmlns:p14="http://schemas.microsoft.com/office/powerpoint/2010/main" val="3372808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46199-C877-FC4C-FBC8-8DF8C00A52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73C868E-7BD0-4C64-C4DB-BC9C7F2CF9ED}"/>
              </a:ext>
            </a:extLst>
          </p:cNvPr>
          <p:cNvSpPr>
            <a:spLocks noGrp="1"/>
          </p:cNvSpPr>
          <p:nvPr>
            <p:ph type="body" sz="quarter" idx="11"/>
          </p:nvPr>
        </p:nvSpPr>
        <p:spPr/>
        <p:txBody>
          <a:bodyPr/>
          <a:lstStyle/>
          <a:p>
            <a:r>
              <a:rPr lang="en-AU" dirty="0"/>
              <a:t>Everything I can think of that’s not batch water addition</a:t>
            </a:r>
          </a:p>
        </p:txBody>
      </p:sp>
      <p:sp>
        <p:nvSpPr>
          <p:cNvPr id="3" name="Text Placeholder 2">
            <a:extLst>
              <a:ext uri="{FF2B5EF4-FFF2-40B4-BE49-F238E27FC236}">
                <a16:creationId xmlns:a16="http://schemas.microsoft.com/office/drawing/2014/main" id="{B3E9B2C9-7803-5B71-779C-90BA017F69D5}"/>
              </a:ext>
            </a:extLst>
          </p:cNvPr>
          <p:cNvSpPr>
            <a:spLocks noGrp="1"/>
          </p:cNvSpPr>
          <p:nvPr>
            <p:ph type="body" sz="quarter" idx="13"/>
          </p:nvPr>
        </p:nvSpPr>
        <p:spPr/>
        <p:txBody>
          <a:bodyPr/>
          <a:lstStyle/>
          <a:p>
            <a:r>
              <a:rPr lang="en-AU" dirty="0"/>
              <a:t>Other water stripping methods</a:t>
            </a:r>
          </a:p>
        </p:txBody>
      </p:sp>
      <p:sp>
        <p:nvSpPr>
          <p:cNvPr id="4" name="Text Placeholder 3">
            <a:extLst>
              <a:ext uri="{FF2B5EF4-FFF2-40B4-BE49-F238E27FC236}">
                <a16:creationId xmlns:a16="http://schemas.microsoft.com/office/drawing/2014/main" id="{7A276EDB-8CCE-BA81-7DFA-D9BA7609C620}"/>
              </a:ext>
            </a:extLst>
          </p:cNvPr>
          <p:cNvSpPr>
            <a:spLocks noGrp="1"/>
          </p:cNvSpPr>
          <p:nvPr>
            <p:ph type="body" sz="quarter" idx="14"/>
          </p:nvPr>
        </p:nvSpPr>
        <p:spPr/>
        <p:txBody>
          <a:bodyPr/>
          <a:lstStyle/>
          <a:p>
            <a:endParaRPr lang="en-AU" dirty="0"/>
          </a:p>
        </p:txBody>
      </p:sp>
      <p:sp>
        <p:nvSpPr>
          <p:cNvPr id="5" name="Text Placeholder 4">
            <a:extLst>
              <a:ext uri="{FF2B5EF4-FFF2-40B4-BE49-F238E27FC236}">
                <a16:creationId xmlns:a16="http://schemas.microsoft.com/office/drawing/2014/main" id="{132CADFE-1234-CAB4-5BAC-BFDF3631AAEE}"/>
              </a:ext>
            </a:extLst>
          </p:cNvPr>
          <p:cNvSpPr>
            <a:spLocks noGrp="1"/>
          </p:cNvSpPr>
          <p:nvPr>
            <p:ph type="body" sz="quarter" idx="16"/>
          </p:nvPr>
        </p:nvSpPr>
        <p:spPr>
          <a:xfrm>
            <a:off x="300211" y="2097681"/>
            <a:ext cx="10815464" cy="4258669"/>
          </a:xfrm>
        </p:spPr>
        <p:txBody>
          <a:bodyPr/>
          <a:lstStyle/>
          <a:p>
            <a:pPr marL="342900" indent="-342900">
              <a:buFontTx/>
              <a:buChar char="-"/>
            </a:pPr>
            <a:r>
              <a:rPr lang="en-AU" dirty="0"/>
              <a:t>Use peristaltic pump to drip water into dry oil (some </a:t>
            </a:r>
            <a:r>
              <a:rPr lang="en-AU" dirty="0" err="1"/>
              <a:t>yt</a:t>
            </a:r>
            <a:r>
              <a:rPr lang="en-AU" dirty="0"/>
              <a:t> videos show the schema) </a:t>
            </a:r>
          </a:p>
          <a:p>
            <a:pPr marL="1028700" lvl="1" indent="-342900">
              <a:buFontTx/>
              <a:buChar char="-"/>
            </a:pPr>
            <a:r>
              <a:rPr lang="en-AU" sz="2000" dirty="0"/>
              <a:t>Requires POC</a:t>
            </a:r>
          </a:p>
          <a:p>
            <a:pPr marL="342900" indent="-342900">
              <a:buFontTx/>
              <a:buChar char="-"/>
            </a:pPr>
            <a:r>
              <a:rPr lang="en-AU" dirty="0"/>
              <a:t>Use glass delivery tube with rubber stopper to push steam to bubble through oil (requires prototyping)</a:t>
            </a:r>
          </a:p>
          <a:p>
            <a:pPr marL="1028700" lvl="1" indent="-342900">
              <a:buFontTx/>
              <a:buChar char="-"/>
            </a:pPr>
            <a:r>
              <a:rPr lang="en-AU" sz="2000" dirty="0"/>
              <a:t>Requires glass delivery tube 90 degrees and a second heating mantle </a:t>
            </a:r>
          </a:p>
          <a:p>
            <a:pPr marL="1028700" lvl="1" indent="-342900">
              <a:buFontTx/>
              <a:buChar char="-"/>
            </a:pPr>
            <a:r>
              <a:rPr lang="en-AU" sz="2000" dirty="0"/>
              <a:t>Downside is the flowrate of steam is not easily known unless you do a super mat balance</a:t>
            </a:r>
          </a:p>
          <a:p>
            <a:pPr marL="342900" indent="-342900">
              <a:buFontTx/>
              <a:buChar char="-"/>
            </a:pPr>
            <a:r>
              <a:rPr lang="en-AU" dirty="0"/>
              <a:t>The steam coil stripping thing</a:t>
            </a:r>
          </a:p>
          <a:p>
            <a:pPr marL="1028700" lvl="1" indent="-342900">
              <a:buFontTx/>
              <a:buChar char="-"/>
            </a:pPr>
            <a:r>
              <a:rPr lang="en-AU" sz="2000" dirty="0"/>
              <a:t>Maybe do when the other two fail  </a:t>
            </a:r>
          </a:p>
          <a:p>
            <a:pPr marL="1028700" lvl="1" indent="-342900">
              <a:buFontTx/>
              <a:buChar char="-"/>
            </a:pPr>
            <a:r>
              <a:rPr lang="en-AU" sz="2000" dirty="0"/>
              <a:t>Requires equipment assessment and POC first. </a:t>
            </a:r>
          </a:p>
          <a:p>
            <a:pPr marL="342900" indent="-342900">
              <a:buFontTx/>
              <a:buChar char="-"/>
            </a:pPr>
            <a:r>
              <a:rPr lang="en-AU" dirty="0"/>
              <a:t>Direct water extraction</a:t>
            </a:r>
          </a:p>
          <a:p>
            <a:pPr marL="1028700" lvl="1" indent="-342900">
              <a:buFontTx/>
              <a:buChar char="-"/>
            </a:pPr>
            <a:r>
              <a:rPr lang="en-AU" sz="2000" dirty="0"/>
              <a:t>Not novel, but might be necessary as a benchmark</a:t>
            </a:r>
          </a:p>
        </p:txBody>
      </p:sp>
      <p:sp>
        <p:nvSpPr>
          <p:cNvPr id="6" name="Slide Number Placeholder 3">
            <a:extLst>
              <a:ext uri="{FF2B5EF4-FFF2-40B4-BE49-F238E27FC236}">
                <a16:creationId xmlns:a16="http://schemas.microsoft.com/office/drawing/2014/main" id="{3585F99A-3B8C-35A4-335C-7701079C394A}"/>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22</a:t>
            </a:fld>
            <a:endParaRPr lang="en-MY" sz="1600" dirty="0">
              <a:latin typeface="Arial Narrow" panose="020B0606020202030204" pitchFamily="34" charset="0"/>
            </a:endParaRPr>
          </a:p>
        </p:txBody>
      </p:sp>
    </p:spTree>
    <p:extLst>
      <p:ext uri="{BB962C8B-B14F-4D97-AF65-F5344CB8AC3E}">
        <p14:creationId xmlns:p14="http://schemas.microsoft.com/office/powerpoint/2010/main" val="1344791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16995-930E-B241-066A-488C2DB836B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B5098D-877F-2002-5870-11EF6D832B47}"/>
              </a:ext>
            </a:extLst>
          </p:cNvPr>
          <p:cNvSpPr>
            <a:spLocks noGrp="1"/>
          </p:cNvSpPr>
          <p:nvPr>
            <p:ph type="body" sz="quarter" idx="11"/>
          </p:nvPr>
        </p:nvSpPr>
        <p:spPr/>
        <p:txBody>
          <a:bodyPr/>
          <a:lstStyle/>
          <a:p>
            <a:r>
              <a:rPr lang="en-AU" dirty="0"/>
              <a:t>Seems to work(?)</a:t>
            </a:r>
          </a:p>
        </p:txBody>
      </p:sp>
      <p:sp>
        <p:nvSpPr>
          <p:cNvPr id="3" name="Text Placeholder 2">
            <a:extLst>
              <a:ext uri="{FF2B5EF4-FFF2-40B4-BE49-F238E27FC236}">
                <a16:creationId xmlns:a16="http://schemas.microsoft.com/office/drawing/2014/main" id="{34E9DAF9-C09B-9F86-203B-322046287D3E}"/>
              </a:ext>
            </a:extLst>
          </p:cNvPr>
          <p:cNvSpPr>
            <a:spLocks noGrp="1"/>
          </p:cNvSpPr>
          <p:nvPr>
            <p:ph type="body" sz="quarter" idx="13"/>
          </p:nvPr>
        </p:nvSpPr>
        <p:spPr/>
        <p:txBody>
          <a:bodyPr/>
          <a:lstStyle/>
          <a:p>
            <a:r>
              <a:rPr lang="en-AU" dirty="0"/>
              <a:t>The phenyl ester pathway: a POC</a:t>
            </a:r>
          </a:p>
        </p:txBody>
      </p:sp>
      <p:sp>
        <p:nvSpPr>
          <p:cNvPr id="4" name="Text Placeholder 3">
            <a:extLst>
              <a:ext uri="{FF2B5EF4-FFF2-40B4-BE49-F238E27FC236}">
                <a16:creationId xmlns:a16="http://schemas.microsoft.com/office/drawing/2014/main" id="{23148ACB-8C92-A916-2B57-A0FE119A14FA}"/>
              </a:ext>
            </a:extLst>
          </p:cNvPr>
          <p:cNvSpPr>
            <a:spLocks noGrp="1"/>
          </p:cNvSpPr>
          <p:nvPr>
            <p:ph type="body" sz="quarter" idx="14"/>
          </p:nvPr>
        </p:nvSpPr>
        <p:spPr/>
        <p:txBody>
          <a:bodyPr/>
          <a:lstStyle/>
          <a:p>
            <a:endParaRPr lang="en-AU" dirty="0"/>
          </a:p>
        </p:txBody>
      </p:sp>
      <p:sp>
        <p:nvSpPr>
          <p:cNvPr id="5" name="Text Placeholder 4">
            <a:extLst>
              <a:ext uri="{FF2B5EF4-FFF2-40B4-BE49-F238E27FC236}">
                <a16:creationId xmlns:a16="http://schemas.microsoft.com/office/drawing/2014/main" id="{8985396B-9D71-3126-C06D-D6B2D2E88299}"/>
              </a:ext>
            </a:extLst>
          </p:cNvPr>
          <p:cNvSpPr>
            <a:spLocks noGrp="1"/>
          </p:cNvSpPr>
          <p:nvPr>
            <p:ph type="body" sz="quarter" idx="16"/>
          </p:nvPr>
        </p:nvSpPr>
        <p:spPr>
          <a:xfrm>
            <a:off x="300211" y="2097681"/>
            <a:ext cx="10815464" cy="4258669"/>
          </a:xfrm>
        </p:spPr>
        <p:txBody>
          <a:bodyPr/>
          <a:lstStyle/>
          <a:p>
            <a:pPr marL="342900" indent="-342900">
              <a:buFontTx/>
              <a:buChar char="-"/>
            </a:pPr>
            <a:r>
              <a:rPr lang="en-AU" dirty="0"/>
              <a:t>Reaction conditions: Azeotropic Dean stark setup: 48h, 1:1 oil/cyclohexane, 1% sulphuric acid and 1% boric acid.  Pot temp is slightly higher than reflux temperature (85C) to maintain overall temperature. </a:t>
            </a:r>
          </a:p>
          <a:p>
            <a:pPr marL="342900" indent="-342900">
              <a:buFontTx/>
              <a:buChar char="-"/>
            </a:pPr>
            <a:r>
              <a:rPr lang="en-AU" sz="2000" dirty="0"/>
              <a:t>Result: a TAN of 47, correcting for the two-acid catalyst is 35. </a:t>
            </a:r>
          </a:p>
          <a:p>
            <a:pPr marL="342900" indent="-342900">
              <a:buFontTx/>
              <a:buChar char="-"/>
            </a:pPr>
            <a:r>
              <a:rPr lang="en-AU" dirty="0"/>
              <a:t>Water content is stable at around 0.3%. </a:t>
            </a:r>
            <a:endParaRPr lang="en-AU" sz="2000" dirty="0"/>
          </a:p>
        </p:txBody>
      </p:sp>
      <p:sp>
        <p:nvSpPr>
          <p:cNvPr id="6" name="Slide Number Placeholder 3">
            <a:extLst>
              <a:ext uri="{FF2B5EF4-FFF2-40B4-BE49-F238E27FC236}">
                <a16:creationId xmlns:a16="http://schemas.microsoft.com/office/drawing/2014/main" id="{AA342248-B804-38AD-29B1-284E3F12C735}"/>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23</a:t>
            </a:fld>
            <a:endParaRPr lang="en-MY" sz="1600" dirty="0">
              <a:latin typeface="Arial Narrow" panose="020B0606020202030204" pitchFamily="34" charset="0"/>
            </a:endParaRPr>
          </a:p>
        </p:txBody>
      </p:sp>
    </p:spTree>
    <p:extLst>
      <p:ext uri="{BB962C8B-B14F-4D97-AF65-F5344CB8AC3E}">
        <p14:creationId xmlns:p14="http://schemas.microsoft.com/office/powerpoint/2010/main" val="1870313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A73B7-CECA-BA76-BD3A-589F2E524C0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AB95F9-D0E1-97BE-DF38-1328AAA43599}"/>
              </a:ext>
            </a:extLst>
          </p:cNvPr>
          <p:cNvSpPr>
            <a:spLocks noGrp="1"/>
          </p:cNvSpPr>
          <p:nvPr>
            <p:ph type="body" sz="quarter" idx="11"/>
          </p:nvPr>
        </p:nvSpPr>
        <p:spPr/>
        <p:txBody>
          <a:bodyPr/>
          <a:lstStyle/>
          <a:p>
            <a:endParaRPr lang="en-AU" dirty="0"/>
          </a:p>
        </p:txBody>
      </p:sp>
      <p:sp>
        <p:nvSpPr>
          <p:cNvPr id="3" name="Text Placeholder 2">
            <a:extLst>
              <a:ext uri="{FF2B5EF4-FFF2-40B4-BE49-F238E27FC236}">
                <a16:creationId xmlns:a16="http://schemas.microsoft.com/office/drawing/2014/main" id="{2055D9AD-4625-BED6-7893-E7B233A2BE60}"/>
              </a:ext>
            </a:extLst>
          </p:cNvPr>
          <p:cNvSpPr>
            <a:spLocks noGrp="1"/>
          </p:cNvSpPr>
          <p:nvPr>
            <p:ph type="body" sz="quarter" idx="13"/>
          </p:nvPr>
        </p:nvSpPr>
        <p:spPr/>
        <p:txBody>
          <a:bodyPr/>
          <a:lstStyle/>
          <a:p>
            <a:r>
              <a:rPr lang="en-AU" dirty="0"/>
              <a:t>Some current problems</a:t>
            </a:r>
          </a:p>
        </p:txBody>
      </p:sp>
      <p:sp>
        <p:nvSpPr>
          <p:cNvPr id="4" name="Text Placeholder 3">
            <a:extLst>
              <a:ext uri="{FF2B5EF4-FFF2-40B4-BE49-F238E27FC236}">
                <a16:creationId xmlns:a16="http://schemas.microsoft.com/office/drawing/2014/main" id="{CC7A81EE-10A6-8362-4D0C-541BEDF6C325}"/>
              </a:ext>
            </a:extLst>
          </p:cNvPr>
          <p:cNvSpPr>
            <a:spLocks noGrp="1"/>
          </p:cNvSpPr>
          <p:nvPr>
            <p:ph type="body" sz="quarter" idx="14"/>
          </p:nvPr>
        </p:nvSpPr>
        <p:spPr/>
        <p:txBody>
          <a:bodyPr/>
          <a:lstStyle/>
          <a:p>
            <a:endParaRPr lang="en-AU" dirty="0"/>
          </a:p>
        </p:txBody>
      </p:sp>
      <p:sp>
        <p:nvSpPr>
          <p:cNvPr id="5" name="Text Placeholder 4">
            <a:extLst>
              <a:ext uri="{FF2B5EF4-FFF2-40B4-BE49-F238E27FC236}">
                <a16:creationId xmlns:a16="http://schemas.microsoft.com/office/drawing/2014/main" id="{74F63257-2CB9-1900-E94F-2BCAA4D08D04}"/>
              </a:ext>
            </a:extLst>
          </p:cNvPr>
          <p:cNvSpPr>
            <a:spLocks noGrp="1"/>
          </p:cNvSpPr>
          <p:nvPr>
            <p:ph type="body" sz="quarter" idx="16"/>
          </p:nvPr>
        </p:nvSpPr>
        <p:spPr>
          <a:xfrm>
            <a:off x="300211" y="1029576"/>
            <a:ext cx="10815464" cy="4258669"/>
          </a:xfrm>
        </p:spPr>
        <p:txBody>
          <a:bodyPr/>
          <a:lstStyle/>
          <a:p>
            <a:pPr marL="342900" indent="-342900">
              <a:buFontTx/>
              <a:buChar char="-"/>
            </a:pPr>
            <a:r>
              <a:rPr lang="en-AU" dirty="0"/>
              <a:t>Glassware: the three neck and bent neck I only have one set that connects perpendicularly (see picture) </a:t>
            </a:r>
          </a:p>
          <a:p>
            <a:pPr marL="342900" indent="-342900">
              <a:buFontTx/>
              <a:buChar char="-"/>
            </a:pPr>
            <a:r>
              <a:rPr lang="en-AU" dirty="0"/>
              <a:t>GC-MS still not working, need to find time to see if Agilent’s low capacity method (3 vials at a time) can work. </a:t>
            </a:r>
          </a:p>
          <a:p>
            <a:pPr marL="342900" indent="-342900">
              <a:buFontTx/>
              <a:buChar char="-"/>
            </a:pPr>
            <a:r>
              <a:rPr lang="en-AU" sz="2000" dirty="0"/>
              <a:t>Still has some issues with the TAN measurement, particularly due to NaOH precipitation over time. Needs some time to iron out the operational details. </a:t>
            </a:r>
          </a:p>
        </p:txBody>
      </p:sp>
      <p:sp>
        <p:nvSpPr>
          <p:cNvPr id="6" name="Slide Number Placeholder 3">
            <a:extLst>
              <a:ext uri="{FF2B5EF4-FFF2-40B4-BE49-F238E27FC236}">
                <a16:creationId xmlns:a16="http://schemas.microsoft.com/office/drawing/2014/main" id="{7AA97C2C-8217-CD11-A43C-329A1EE9C964}"/>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24</a:t>
            </a:fld>
            <a:endParaRPr lang="en-MY" sz="1600" dirty="0">
              <a:latin typeface="Arial Narrow" panose="020B0606020202030204" pitchFamily="34" charset="0"/>
            </a:endParaRPr>
          </a:p>
        </p:txBody>
      </p:sp>
      <p:pic>
        <p:nvPicPr>
          <p:cNvPr id="8" name="Picture 7">
            <a:extLst>
              <a:ext uri="{FF2B5EF4-FFF2-40B4-BE49-F238E27FC236}">
                <a16:creationId xmlns:a16="http://schemas.microsoft.com/office/drawing/2014/main" id="{30C8200B-7A67-68E4-3079-62BAAA52A338}"/>
              </a:ext>
            </a:extLst>
          </p:cNvPr>
          <p:cNvPicPr>
            <a:picLocks noChangeAspect="1"/>
          </p:cNvPicPr>
          <p:nvPr/>
        </p:nvPicPr>
        <p:blipFill>
          <a:blip r:embed="rId2"/>
          <a:srcRect t="12760" b="32186"/>
          <a:stretch>
            <a:fillRect/>
          </a:stretch>
        </p:blipFill>
        <p:spPr>
          <a:xfrm>
            <a:off x="3578941" y="3320822"/>
            <a:ext cx="3830279" cy="2811618"/>
          </a:xfrm>
          <a:prstGeom prst="rect">
            <a:avLst/>
          </a:prstGeom>
        </p:spPr>
      </p:pic>
    </p:spTree>
    <p:extLst>
      <p:ext uri="{BB962C8B-B14F-4D97-AF65-F5344CB8AC3E}">
        <p14:creationId xmlns:p14="http://schemas.microsoft.com/office/powerpoint/2010/main" val="393019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0F52E-584B-105B-A824-AF7FCC18AF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1D0AA1-49E8-DFE5-C7E8-23616DC9E4C9}"/>
              </a:ext>
            </a:extLst>
          </p:cNvPr>
          <p:cNvSpPr>
            <a:spLocks noGrp="1"/>
          </p:cNvSpPr>
          <p:nvPr>
            <p:ph type="body" sz="quarter" idx="11"/>
          </p:nvPr>
        </p:nvSpPr>
        <p:spPr/>
        <p:txBody>
          <a:bodyPr/>
          <a:lstStyle/>
          <a:p>
            <a:endParaRPr lang="en-AU" dirty="0"/>
          </a:p>
        </p:txBody>
      </p:sp>
      <p:sp>
        <p:nvSpPr>
          <p:cNvPr id="3" name="Text Placeholder 2">
            <a:extLst>
              <a:ext uri="{FF2B5EF4-FFF2-40B4-BE49-F238E27FC236}">
                <a16:creationId xmlns:a16="http://schemas.microsoft.com/office/drawing/2014/main" id="{437D15F5-67BE-7422-3FF0-ED9D7BDC3224}"/>
              </a:ext>
            </a:extLst>
          </p:cNvPr>
          <p:cNvSpPr>
            <a:spLocks noGrp="1"/>
          </p:cNvSpPr>
          <p:nvPr>
            <p:ph type="body" sz="quarter" idx="13"/>
          </p:nvPr>
        </p:nvSpPr>
        <p:spPr/>
        <p:txBody>
          <a:bodyPr/>
          <a:lstStyle/>
          <a:p>
            <a:r>
              <a:rPr lang="en-AU" dirty="0"/>
              <a:t>One more thing</a:t>
            </a:r>
          </a:p>
        </p:txBody>
      </p:sp>
      <p:sp>
        <p:nvSpPr>
          <p:cNvPr id="4" name="Text Placeholder 3">
            <a:extLst>
              <a:ext uri="{FF2B5EF4-FFF2-40B4-BE49-F238E27FC236}">
                <a16:creationId xmlns:a16="http://schemas.microsoft.com/office/drawing/2014/main" id="{05F52BE3-F64B-0AA8-D2DD-8EAF1DE3B795}"/>
              </a:ext>
            </a:extLst>
          </p:cNvPr>
          <p:cNvSpPr>
            <a:spLocks noGrp="1"/>
          </p:cNvSpPr>
          <p:nvPr>
            <p:ph type="body" sz="quarter" idx="14"/>
          </p:nvPr>
        </p:nvSpPr>
        <p:spPr/>
        <p:txBody>
          <a:bodyPr/>
          <a:lstStyle/>
          <a:p>
            <a:endParaRPr lang="en-AU" dirty="0"/>
          </a:p>
        </p:txBody>
      </p:sp>
      <p:sp>
        <p:nvSpPr>
          <p:cNvPr id="5" name="Text Placeholder 4">
            <a:extLst>
              <a:ext uri="{FF2B5EF4-FFF2-40B4-BE49-F238E27FC236}">
                <a16:creationId xmlns:a16="http://schemas.microsoft.com/office/drawing/2014/main" id="{867AFF02-7662-EFDE-2711-E86467E8C536}"/>
              </a:ext>
            </a:extLst>
          </p:cNvPr>
          <p:cNvSpPr>
            <a:spLocks noGrp="1"/>
          </p:cNvSpPr>
          <p:nvPr>
            <p:ph type="body" sz="quarter" idx="16"/>
          </p:nvPr>
        </p:nvSpPr>
        <p:spPr>
          <a:xfrm>
            <a:off x="300211" y="2097681"/>
            <a:ext cx="10815464" cy="4258669"/>
          </a:xfrm>
        </p:spPr>
        <p:txBody>
          <a:bodyPr/>
          <a:lstStyle/>
          <a:p>
            <a:pPr marL="342900" indent="-342900">
              <a:buFontTx/>
              <a:buChar char="-"/>
            </a:pPr>
            <a:r>
              <a:rPr lang="en-AU" dirty="0"/>
              <a:t>Request leave for 14</a:t>
            </a:r>
            <a:r>
              <a:rPr lang="en-AU" baseline="30000" dirty="0"/>
              <a:t>th</a:t>
            </a:r>
            <a:r>
              <a:rPr lang="en-AU" dirty="0"/>
              <a:t> October to 26</a:t>
            </a:r>
            <a:r>
              <a:rPr lang="en-AU" baseline="30000" dirty="0"/>
              <a:t>th</a:t>
            </a:r>
            <a:r>
              <a:rPr lang="en-AU" dirty="0"/>
              <a:t> October. </a:t>
            </a:r>
            <a:endParaRPr lang="en-AU" sz="2000" dirty="0"/>
          </a:p>
        </p:txBody>
      </p:sp>
      <p:sp>
        <p:nvSpPr>
          <p:cNvPr id="6" name="Slide Number Placeholder 3">
            <a:extLst>
              <a:ext uri="{FF2B5EF4-FFF2-40B4-BE49-F238E27FC236}">
                <a16:creationId xmlns:a16="http://schemas.microsoft.com/office/drawing/2014/main" id="{705DF526-B118-8221-5699-8B9A395A34C2}"/>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25</a:t>
            </a:fld>
            <a:endParaRPr lang="en-MY" sz="1600" dirty="0">
              <a:latin typeface="Arial Narrow" panose="020B0606020202030204" pitchFamily="34" charset="0"/>
            </a:endParaRPr>
          </a:p>
        </p:txBody>
      </p:sp>
    </p:spTree>
    <p:extLst>
      <p:ext uri="{BB962C8B-B14F-4D97-AF65-F5344CB8AC3E}">
        <p14:creationId xmlns:p14="http://schemas.microsoft.com/office/powerpoint/2010/main" val="159500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379112" y="4046363"/>
            <a:ext cx="6012163" cy="678126"/>
          </a:xfrm>
        </p:spPr>
        <p:txBody>
          <a:bodyPr/>
          <a:lstStyle/>
          <a:p>
            <a:r>
              <a:rPr lang="en-AU" dirty="0"/>
              <a:t>Kong Yue Xuan</a:t>
            </a:r>
          </a:p>
        </p:txBody>
      </p:sp>
      <p:sp>
        <p:nvSpPr>
          <p:cNvPr id="3" name="Text Placeholder 2"/>
          <p:cNvSpPr>
            <a:spLocks noGrp="1"/>
          </p:cNvSpPr>
          <p:nvPr>
            <p:ph type="body" sz="quarter" idx="12"/>
          </p:nvPr>
        </p:nvSpPr>
        <p:spPr/>
        <p:txBody>
          <a:bodyPr/>
          <a:lstStyle/>
          <a:p>
            <a:r>
              <a:rPr lang="en-AU" dirty="0"/>
              <a:t>21 Sep 2026</a:t>
            </a:r>
          </a:p>
        </p:txBody>
      </p:sp>
      <p:sp>
        <p:nvSpPr>
          <p:cNvPr id="4" name="Text Placeholder 3"/>
          <p:cNvSpPr>
            <a:spLocks noGrp="1"/>
          </p:cNvSpPr>
          <p:nvPr>
            <p:ph type="body" sz="quarter" idx="13"/>
          </p:nvPr>
        </p:nvSpPr>
        <p:spPr/>
        <p:txBody>
          <a:bodyPr/>
          <a:lstStyle/>
          <a:p>
            <a:r>
              <a:rPr lang="en-AU" dirty="0" err="1"/>
              <a:t>Valorization</a:t>
            </a:r>
            <a:r>
              <a:rPr lang="en-AU" dirty="0"/>
              <a:t> of pyrolysis oil towards Marine Fuel Oil and Wood Vinegar</a:t>
            </a:r>
          </a:p>
        </p:txBody>
      </p:sp>
      <p:sp>
        <p:nvSpPr>
          <p:cNvPr id="5" name="Text Placeholder 4"/>
          <p:cNvSpPr>
            <a:spLocks noGrp="1"/>
          </p:cNvSpPr>
          <p:nvPr>
            <p:ph type="body" sz="quarter" idx="14"/>
          </p:nvPr>
        </p:nvSpPr>
        <p:spPr/>
        <p:txBody>
          <a:bodyPr/>
          <a:lstStyle/>
          <a:p>
            <a:r>
              <a:rPr lang="en-AU"/>
              <a:t>5537 and 5414</a:t>
            </a:r>
          </a:p>
        </p:txBody>
      </p:sp>
      <p:sp>
        <p:nvSpPr>
          <p:cNvPr id="6" name="Slide Number Placeholder 3">
            <a:extLst>
              <a:ext uri="{FF2B5EF4-FFF2-40B4-BE49-F238E27FC236}">
                <a16:creationId xmlns:a16="http://schemas.microsoft.com/office/drawing/2014/main" id="{4F5235D8-811B-C0BC-0E1D-5EE0E3789CE6}"/>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26</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17B66392-CBE0-85C1-9380-59222AFAF5F6}"/>
              </a:ext>
            </a:extLst>
          </p:cNvPr>
          <p:cNvGrpSpPr/>
          <p:nvPr/>
        </p:nvGrpSpPr>
        <p:grpSpPr>
          <a:xfrm>
            <a:off x="2983078" y="352517"/>
            <a:ext cx="1796393" cy="774699"/>
            <a:chOff x="5342217" y="1473060"/>
            <a:chExt cx="3054298" cy="1317173"/>
          </a:xfrm>
        </p:grpSpPr>
        <p:pic>
          <p:nvPicPr>
            <p:cNvPr id="8" name="Picture 7">
              <a:extLst>
                <a:ext uri="{FF2B5EF4-FFF2-40B4-BE49-F238E27FC236}">
                  <a16:creationId xmlns:a16="http://schemas.microsoft.com/office/drawing/2014/main" id="{5A3B6BB6-2579-DECB-D3E9-49561B722F1A}"/>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9" name="Straight Connector 8">
              <a:extLst>
                <a:ext uri="{FF2B5EF4-FFF2-40B4-BE49-F238E27FC236}">
                  <a16:creationId xmlns:a16="http://schemas.microsoft.com/office/drawing/2014/main" id="{5431C032-1D97-E518-2735-E893EB758B7C}"/>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90343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3A15B5-BE67-8EC4-3BB9-0BB436E99225}"/>
              </a:ext>
            </a:extLst>
          </p:cNvPr>
          <p:cNvSpPr>
            <a:spLocks noGrp="1"/>
          </p:cNvSpPr>
          <p:nvPr>
            <p:ph type="body" sz="quarter" idx="11"/>
          </p:nvPr>
        </p:nvSpPr>
        <p:spPr/>
        <p:txBody>
          <a:bodyPr/>
          <a:lstStyle/>
          <a:p>
            <a:r>
              <a:rPr lang="en-US" dirty="0"/>
              <a:t>Decarbonization and Pyrolysis Oil</a:t>
            </a:r>
            <a:endParaRPr lang="en-IE" dirty="0"/>
          </a:p>
        </p:txBody>
      </p:sp>
      <p:sp>
        <p:nvSpPr>
          <p:cNvPr id="3" name="Text Placeholder 2">
            <a:extLst>
              <a:ext uri="{FF2B5EF4-FFF2-40B4-BE49-F238E27FC236}">
                <a16:creationId xmlns:a16="http://schemas.microsoft.com/office/drawing/2014/main" id="{9341D22A-0CB0-346B-46EE-93C8ECE72AFA}"/>
              </a:ext>
            </a:extLst>
          </p:cNvPr>
          <p:cNvSpPr>
            <a:spLocks noGrp="1"/>
          </p:cNvSpPr>
          <p:nvPr>
            <p:ph type="body" sz="quarter" idx="13"/>
          </p:nvPr>
        </p:nvSpPr>
        <p:spPr/>
        <p:txBody>
          <a:bodyPr/>
          <a:lstStyle/>
          <a:p>
            <a:r>
              <a:rPr lang="en-US" dirty="0"/>
              <a:t>Introduction</a:t>
            </a:r>
            <a:endParaRPr lang="en-IE" dirty="0"/>
          </a:p>
        </p:txBody>
      </p:sp>
      <p:sp>
        <p:nvSpPr>
          <p:cNvPr id="5" name="Text Placeholder 4">
            <a:extLst>
              <a:ext uri="{FF2B5EF4-FFF2-40B4-BE49-F238E27FC236}">
                <a16:creationId xmlns:a16="http://schemas.microsoft.com/office/drawing/2014/main" id="{24C6FEE8-45F7-C96E-D78F-934C4B169AF6}"/>
              </a:ext>
            </a:extLst>
          </p:cNvPr>
          <p:cNvSpPr>
            <a:spLocks noGrp="1"/>
          </p:cNvSpPr>
          <p:nvPr>
            <p:ph type="body" sz="quarter" idx="16"/>
          </p:nvPr>
        </p:nvSpPr>
        <p:spPr>
          <a:xfrm>
            <a:off x="300211" y="1445229"/>
            <a:ext cx="10815464" cy="3299167"/>
          </a:xfrm>
        </p:spPr>
        <p:txBody>
          <a:bodyPr/>
          <a:lstStyle/>
          <a:p>
            <a:pPr marL="342900" indent="-342900">
              <a:buFont typeface="Arial" panose="020B0604020202020204" pitchFamily="34" charset="0"/>
              <a:buChar char="•"/>
            </a:pPr>
            <a:r>
              <a:rPr lang="en-US" dirty="0"/>
              <a:t>Marine transportation</a:t>
            </a:r>
          </a:p>
          <a:p>
            <a:pPr marL="1028700" lvl="1" indent="-342900">
              <a:buFont typeface="Arial" panose="020B0604020202020204" pitchFamily="34" charset="0"/>
              <a:buChar char="•"/>
            </a:pPr>
            <a:r>
              <a:rPr lang="en-US" sz="2000" dirty="0"/>
              <a:t>3% of global emissions</a:t>
            </a:r>
          </a:p>
          <a:p>
            <a:pPr marL="1028700" lvl="1" indent="-342900">
              <a:buFont typeface="Arial" panose="020B0604020202020204" pitchFamily="34" charset="0"/>
              <a:buChar char="•"/>
            </a:pPr>
            <a:r>
              <a:rPr lang="en-US" sz="2000" dirty="0"/>
              <a:t>Critical to global economy</a:t>
            </a:r>
          </a:p>
          <a:p>
            <a:pPr marL="342900" indent="-342900">
              <a:buFont typeface="Arial" panose="020B0604020202020204" pitchFamily="34" charset="0"/>
              <a:buChar char="•"/>
            </a:pPr>
            <a:r>
              <a:rPr lang="en-US" dirty="0"/>
              <a:t>Introduction of EU ETS and </a:t>
            </a:r>
            <a:r>
              <a:rPr lang="en-US" dirty="0" err="1"/>
              <a:t>FuelEU</a:t>
            </a:r>
            <a:r>
              <a:rPr lang="en-US" dirty="0"/>
              <a:t>, carbon tax initiatives from the European Union </a:t>
            </a:r>
          </a:p>
          <a:p>
            <a:pPr marL="1028700" lvl="1" indent="-342900">
              <a:buFont typeface="Arial" panose="020B0604020202020204" pitchFamily="34" charset="0"/>
              <a:buChar char="•"/>
            </a:pPr>
            <a:r>
              <a:rPr lang="en-US" sz="2000" dirty="0"/>
              <a:t>A minimum of 6% renewable fuel blend required to achieve emission limits</a:t>
            </a:r>
          </a:p>
          <a:p>
            <a:pPr marL="342900" indent="-342900">
              <a:buFont typeface="Arial" panose="020B0604020202020204" pitchFamily="34" charset="0"/>
              <a:buChar char="•"/>
            </a:pPr>
            <a:r>
              <a:rPr lang="en-US" dirty="0"/>
              <a:t>Pyrolysis Oil </a:t>
            </a:r>
          </a:p>
          <a:p>
            <a:pPr marL="1028700" lvl="1" indent="-342900">
              <a:buFont typeface="Arial" panose="020B0604020202020204" pitchFamily="34" charset="0"/>
              <a:buChar char="•"/>
            </a:pPr>
            <a:r>
              <a:rPr lang="en-US" sz="2000" dirty="0"/>
              <a:t>Waste product from biochar production</a:t>
            </a:r>
          </a:p>
          <a:p>
            <a:pPr marL="1028700" lvl="1" indent="-342900">
              <a:buFont typeface="Arial" panose="020B0604020202020204" pitchFamily="34" charset="0"/>
              <a:buChar char="•"/>
            </a:pPr>
            <a:r>
              <a:rPr lang="en-US" sz="2000" dirty="0"/>
              <a:t>High potential</a:t>
            </a:r>
          </a:p>
          <a:p>
            <a:pPr marL="1485900" lvl="2" indent="-342900">
              <a:buFont typeface="Arial" panose="020B0604020202020204" pitchFamily="34" charset="0"/>
              <a:buChar char="•"/>
            </a:pPr>
            <a:r>
              <a:rPr lang="en-US" dirty="0"/>
              <a:t>Carbon and energy rich</a:t>
            </a:r>
          </a:p>
          <a:p>
            <a:pPr marL="1028700" lvl="1" indent="-342900">
              <a:buFont typeface="Arial" panose="020B0604020202020204" pitchFamily="34" charset="0"/>
              <a:buChar char="•"/>
            </a:pPr>
            <a:r>
              <a:rPr lang="en-US" sz="2000" dirty="0"/>
              <a:t>Underutilized</a:t>
            </a:r>
          </a:p>
          <a:p>
            <a:pPr marL="1485900" lvl="2" indent="-342900">
              <a:buFont typeface="Arial" panose="020B0604020202020204" pitchFamily="34" charset="0"/>
              <a:buChar char="•"/>
            </a:pPr>
            <a:r>
              <a:rPr lang="en-US" dirty="0"/>
              <a:t>Oxygenated groups: polar, polymerization </a:t>
            </a:r>
          </a:p>
          <a:p>
            <a:pPr marL="1485900" lvl="2" indent="-342900">
              <a:buFont typeface="Arial" panose="020B0604020202020204" pitchFamily="34" charset="0"/>
              <a:buChar char="•"/>
            </a:pPr>
            <a:r>
              <a:rPr lang="en-US" dirty="0"/>
              <a:t>Highly acidic, measured as Total Acid Number (TAN)</a:t>
            </a:r>
          </a:p>
          <a:p>
            <a:pPr marL="1485900" lvl="2" indent="-342900">
              <a:buFont typeface="Arial" panose="020B0604020202020204" pitchFamily="34" charset="0"/>
              <a:buChar char="•"/>
            </a:pPr>
            <a:r>
              <a:rPr lang="en-US" dirty="0"/>
              <a:t>High water content</a:t>
            </a:r>
          </a:p>
        </p:txBody>
      </p:sp>
      <p:sp>
        <p:nvSpPr>
          <p:cNvPr id="7" name="Text Placeholder 4">
            <a:extLst>
              <a:ext uri="{FF2B5EF4-FFF2-40B4-BE49-F238E27FC236}">
                <a16:creationId xmlns:a16="http://schemas.microsoft.com/office/drawing/2014/main" id="{C3F8D8CF-7687-9089-88C8-8F4E34F0415D}"/>
              </a:ext>
            </a:extLst>
          </p:cNvPr>
          <p:cNvSpPr txBox="1">
            <a:spLocks/>
          </p:cNvSpPr>
          <p:nvPr/>
        </p:nvSpPr>
        <p:spPr>
          <a:xfrm>
            <a:off x="306060" y="3763187"/>
            <a:ext cx="10815464" cy="3299167"/>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IE" sz="2000" dirty="0"/>
          </a:p>
        </p:txBody>
      </p:sp>
    </p:spTree>
    <p:extLst>
      <p:ext uri="{BB962C8B-B14F-4D97-AF65-F5344CB8AC3E}">
        <p14:creationId xmlns:p14="http://schemas.microsoft.com/office/powerpoint/2010/main" val="5512793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4731-0706-038F-AA34-E6AC028702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9DAA34-A002-6FAB-D124-A0DF7587150B}"/>
              </a:ext>
            </a:extLst>
          </p:cNvPr>
          <p:cNvSpPr>
            <a:spLocks noGrp="1"/>
          </p:cNvSpPr>
          <p:nvPr>
            <p:ph type="body" sz="quarter" idx="11"/>
          </p:nvPr>
        </p:nvSpPr>
        <p:spPr/>
        <p:txBody>
          <a:bodyPr/>
          <a:lstStyle/>
          <a:p>
            <a:r>
              <a:rPr lang="en-US" dirty="0"/>
              <a:t>Literature</a:t>
            </a:r>
            <a:endParaRPr lang="en-IE" dirty="0"/>
          </a:p>
        </p:txBody>
      </p:sp>
      <p:sp>
        <p:nvSpPr>
          <p:cNvPr id="3" name="Text Placeholder 2">
            <a:extLst>
              <a:ext uri="{FF2B5EF4-FFF2-40B4-BE49-F238E27FC236}">
                <a16:creationId xmlns:a16="http://schemas.microsoft.com/office/drawing/2014/main" id="{8F196B0A-8F49-DCC2-7149-4B046A047A7B}"/>
              </a:ext>
            </a:extLst>
          </p:cNvPr>
          <p:cNvSpPr>
            <a:spLocks noGrp="1"/>
          </p:cNvSpPr>
          <p:nvPr>
            <p:ph type="body" sz="quarter" idx="13"/>
          </p:nvPr>
        </p:nvSpPr>
        <p:spPr/>
        <p:txBody>
          <a:bodyPr/>
          <a:lstStyle/>
          <a:p>
            <a:r>
              <a:rPr lang="en-US" dirty="0"/>
              <a:t>Introduction</a:t>
            </a:r>
            <a:endParaRPr lang="en-IE" dirty="0"/>
          </a:p>
        </p:txBody>
      </p:sp>
      <p:sp>
        <p:nvSpPr>
          <p:cNvPr id="6" name="Text Placeholder 5">
            <a:extLst>
              <a:ext uri="{FF2B5EF4-FFF2-40B4-BE49-F238E27FC236}">
                <a16:creationId xmlns:a16="http://schemas.microsoft.com/office/drawing/2014/main" id="{3F45EFA0-7146-A0EB-56FD-1D94284D00A9}"/>
              </a:ext>
            </a:extLst>
          </p:cNvPr>
          <p:cNvSpPr>
            <a:spLocks noGrp="1"/>
          </p:cNvSpPr>
          <p:nvPr>
            <p:ph type="body" sz="quarter" idx="16"/>
          </p:nvPr>
        </p:nvSpPr>
        <p:spPr/>
        <p:txBody>
          <a:bodyPr/>
          <a:lstStyle/>
          <a:p>
            <a:pPr marL="342900" indent="-342900">
              <a:buFont typeface="Arial" panose="020B0604020202020204" pitchFamily="34" charset="0"/>
              <a:buChar char="•"/>
            </a:pPr>
            <a:r>
              <a:rPr lang="en-US" dirty="0"/>
              <a:t>Hydrogenation/Catalytic Cracking[1][2]: Produces high-quality gasoline/kerosene and syngas, but harsh conditions/high cost and catalyst deactivation</a:t>
            </a:r>
          </a:p>
          <a:p>
            <a:pPr marL="342900" indent="-342900">
              <a:buFont typeface="Arial" panose="020B0604020202020204" pitchFamily="34" charset="0"/>
              <a:buChar char="•"/>
            </a:pPr>
            <a:r>
              <a:rPr lang="en-US" dirty="0"/>
              <a:t>Alcoholic Esterification[3][4]: Acetalize and esterify problematic functional groups (</a:t>
            </a:r>
            <a:r>
              <a:rPr lang="en-US" dirty="0" err="1"/>
              <a:t>carboxylics</a:t>
            </a:r>
            <a:r>
              <a:rPr lang="en-US" dirty="0"/>
              <a:t> and carbonyls), generally </a:t>
            </a:r>
          </a:p>
          <a:p>
            <a:pPr marL="342900" indent="-342900">
              <a:buFont typeface="Arial" panose="020B0604020202020204" pitchFamily="34" charset="0"/>
              <a:buChar char="•"/>
            </a:pPr>
            <a:r>
              <a:rPr lang="en-US" dirty="0"/>
              <a:t>Direct distillation[5]: Useful to extract chemical compounds, but produces solid coke </a:t>
            </a:r>
          </a:p>
          <a:p>
            <a:pPr marL="342900" indent="-342900">
              <a:buFont typeface="Arial" panose="020B0604020202020204" pitchFamily="34" charset="0"/>
              <a:buChar char="•"/>
            </a:pPr>
            <a:r>
              <a:rPr lang="en-US" dirty="0"/>
              <a:t>Water extraction[6]: Removes acids, sugars and other highly polar compounds. </a:t>
            </a:r>
          </a:p>
          <a:p>
            <a:pPr marL="342900" indent="-342900">
              <a:buFont typeface="Arial" panose="020B0604020202020204" pitchFamily="34" charset="0"/>
              <a:buChar char="•"/>
            </a:pPr>
            <a:r>
              <a:rPr lang="en-US" dirty="0"/>
              <a:t>Phenyl Esterification[7]: Used to extract phenyl esters from pyrolysis oil. </a:t>
            </a:r>
          </a:p>
        </p:txBody>
      </p:sp>
    </p:spTree>
    <p:extLst>
      <p:ext uri="{BB962C8B-B14F-4D97-AF65-F5344CB8AC3E}">
        <p14:creationId xmlns:p14="http://schemas.microsoft.com/office/powerpoint/2010/main" val="1446248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E4D0-E58D-E0BE-ABF4-8B008EF2B0D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5F7A8AE-FB2E-C4F9-C776-933D3D344F1D}"/>
              </a:ext>
            </a:extLst>
          </p:cNvPr>
          <p:cNvSpPr>
            <a:spLocks noGrp="1"/>
          </p:cNvSpPr>
          <p:nvPr>
            <p:ph type="body" sz="quarter" idx="11"/>
          </p:nvPr>
        </p:nvSpPr>
        <p:spPr/>
        <p:txBody>
          <a:bodyPr/>
          <a:lstStyle/>
          <a:p>
            <a:r>
              <a:rPr lang="en-US" dirty="0"/>
              <a:t>Basis and direction</a:t>
            </a:r>
            <a:endParaRPr lang="en-IE" dirty="0"/>
          </a:p>
        </p:txBody>
      </p:sp>
      <p:sp>
        <p:nvSpPr>
          <p:cNvPr id="3" name="Text Placeholder 2">
            <a:extLst>
              <a:ext uri="{FF2B5EF4-FFF2-40B4-BE49-F238E27FC236}">
                <a16:creationId xmlns:a16="http://schemas.microsoft.com/office/drawing/2014/main" id="{AC1A5141-06E8-BBEA-904F-0170793ACDD5}"/>
              </a:ext>
            </a:extLst>
          </p:cNvPr>
          <p:cNvSpPr>
            <a:spLocks noGrp="1"/>
          </p:cNvSpPr>
          <p:nvPr>
            <p:ph type="body" sz="quarter" idx="13"/>
          </p:nvPr>
        </p:nvSpPr>
        <p:spPr/>
        <p:txBody>
          <a:bodyPr/>
          <a:lstStyle/>
          <a:p>
            <a:r>
              <a:rPr lang="en-US" dirty="0"/>
              <a:t>Problem Statement</a:t>
            </a:r>
            <a:endParaRPr lang="en-IE" dirty="0"/>
          </a:p>
        </p:txBody>
      </p:sp>
      <p:sp>
        <p:nvSpPr>
          <p:cNvPr id="6" name="Text Placeholder 5">
            <a:extLst>
              <a:ext uri="{FF2B5EF4-FFF2-40B4-BE49-F238E27FC236}">
                <a16:creationId xmlns:a16="http://schemas.microsoft.com/office/drawing/2014/main" id="{368F639C-B2D2-3209-90E8-EE087A73D9C3}"/>
              </a:ext>
            </a:extLst>
          </p:cNvPr>
          <p:cNvSpPr>
            <a:spLocks noGrp="1"/>
          </p:cNvSpPr>
          <p:nvPr>
            <p:ph type="body" sz="quarter" idx="16"/>
          </p:nvPr>
        </p:nvSpPr>
        <p:spPr/>
        <p:txBody>
          <a:bodyPr/>
          <a:lstStyle/>
          <a:p>
            <a:pPr marL="342900" indent="-342900">
              <a:buFont typeface="Arial" panose="020B0604020202020204" pitchFamily="34" charset="0"/>
              <a:buChar char="•"/>
            </a:pPr>
            <a:r>
              <a:rPr lang="en-US" dirty="0"/>
              <a:t>Theoretical basis: Phenols and short chain </a:t>
            </a:r>
            <a:r>
              <a:rPr lang="en-US" dirty="0" err="1"/>
              <a:t>carboxylics</a:t>
            </a:r>
            <a:r>
              <a:rPr lang="en-US" dirty="0"/>
              <a:t> are acidic and form minimum boiling azeotropes with water, therefore can be stripped with water. </a:t>
            </a:r>
          </a:p>
          <a:p>
            <a:pPr marL="1028700" lvl="1" indent="-342900">
              <a:buFont typeface="Arial" panose="020B0604020202020204" pitchFamily="34" charset="0"/>
              <a:buChar char="•"/>
            </a:pPr>
            <a:r>
              <a:rPr lang="en-US" sz="2000" dirty="0"/>
              <a:t>Hypothesis: Suitable addition of water into pyrolysis oil distillation can reduce the acidity of the oil.</a:t>
            </a:r>
          </a:p>
          <a:p>
            <a:pPr marL="342900" indent="-342900">
              <a:buFont typeface="Arial" panose="020B0604020202020204" pitchFamily="34" charset="0"/>
              <a:buChar char="•"/>
            </a:pPr>
            <a:r>
              <a:rPr lang="en-US" dirty="0"/>
              <a:t>Superiority to water extraction: retention of yield and polar compounds; single pot process, produces a wood vinegar-like distillate that may be of moderately high value.  </a:t>
            </a:r>
          </a:p>
        </p:txBody>
      </p:sp>
      <p:sp>
        <p:nvSpPr>
          <p:cNvPr id="4" name="TextBox 3">
            <a:extLst>
              <a:ext uri="{FF2B5EF4-FFF2-40B4-BE49-F238E27FC236}">
                <a16:creationId xmlns:a16="http://schemas.microsoft.com/office/drawing/2014/main" id="{0F6A9E95-C08C-DAC0-181F-D451AE5F1A05}"/>
              </a:ext>
            </a:extLst>
          </p:cNvPr>
          <p:cNvSpPr txBox="1"/>
          <p:nvPr/>
        </p:nvSpPr>
        <p:spPr>
          <a:xfrm>
            <a:off x="1332386" y="4176251"/>
            <a:ext cx="9148801" cy="830997"/>
          </a:xfrm>
          <a:prstGeom prst="rect">
            <a:avLst/>
          </a:prstGeom>
          <a:noFill/>
          <a:ln>
            <a:solidFill>
              <a:schemeClr val="tx1"/>
            </a:solidFill>
          </a:ln>
        </p:spPr>
        <p:txBody>
          <a:bodyPr wrap="square" rtlCol="0">
            <a:spAutoFit/>
          </a:bodyPr>
          <a:lstStyle/>
          <a:p>
            <a:r>
              <a:rPr lang="en-US" sz="2400" dirty="0"/>
              <a:t>No published studies have attempted water stripping of biomass-based pyrolysis oil.</a:t>
            </a:r>
            <a:endParaRPr lang="en-IE" sz="2400" dirty="0"/>
          </a:p>
        </p:txBody>
      </p:sp>
    </p:spTree>
    <p:extLst>
      <p:ext uri="{BB962C8B-B14F-4D97-AF65-F5344CB8AC3E}">
        <p14:creationId xmlns:p14="http://schemas.microsoft.com/office/powerpoint/2010/main" val="1768634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3809-5064-454F-EA35-63257DE98E9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D464F7-8A31-16B1-4EEF-53341310B06D}"/>
              </a:ext>
            </a:extLst>
          </p:cNvPr>
          <p:cNvSpPr>
            <a:spLocks noGrp="1"/>
          </p:cNvSpPr>
          <p:nvPr>
            <p:ph type="body" sz="quarter" idx="11"/>
          </p:nvPr>
        </p:nvSpPr>
        <p:spPr/>
        <p:txBody>
          <a:bodyPr/>
          <a:lstStyle/>
          <a:p>
            <a:r>
              <a:rPr lang="en-US" dirty="0"/>
              <a:t>Basis and direction</a:t>
            </a:r>
            <a:endParaRPr lang="en-IE" dirty="0"/>
          </a:p>
        </p:txBody>
      </p:sp>
      <p:sp>
        <p:nvSpPr>
          <p:cNvPr id="3" name="Text Placeholder 2">
            <a:extLst>
              <a:ext uri="{FF2B5EF4-FFF2-40B4-BE49-F238E27FC236}">
                <a16:creationId xmlns:a16="http://schemas.microsoft.com/office/drawing/2014/main" id="{EB265DF8-C773-E5AB-46A3-674E82AA631B}"/>
              </a:ext>
            </a:extLst>
          </p:cNvPr>
          <p:cNvSpPr>
            <a:spLocks noGrp="1"/>
          </p:cNvSpPr>
          <p:nvPr>
            <p:ph type="body" sz="quarter" idx="13"/>
          </p:nvPr>
        </p:nvSpPr>
        <p:spPr/>
        <p:txBody>
          <a:bodyPr/>
          <a:lstStyle/>
          <a:p>
            <a:r>
              <a:rPr lang="en-US" dirty="0"/>
              <a:t>Aims and Objectives</a:t>
            </a:r>
            <a:endParaRPr lang="en-IE" dirty="0"/>
          </a:p>
        </p:txBody>
      </p:sp>
      <p:sp>
        <p:nvSpPr>
          <p:cNvPr id="6" name="Text Placeholder 5">
            <a:extLst>
              <a:ext uri="{FF2B5EF4-FFF2-40B4-BE49-F238E27FC236}">
                <a16:creationId xmlns:a16="http://schemas.microsoft.com/office/drawing/2014/main" id="{FD8E2D76-4378-D8D1-0DE8-C47B2F43D883}"/>
              </a:ext>
            </a:extLst>
          </p:cNvPr>
          <p:cNvSpPr>
            <a:spLocks noGrp="1"/>
          </p:cNvSpPr>
          <p:nvPr>
            <p:ph type="body" sz="quarter" idx="16"/>
          </p:nvPr>
        </p:nvSpPr>
        <p:spPr>
          <a:xfrm>
            <a:off x="398534" y="1504223"/>
            <a:ext cx="10815464" cy="2280022"/>
          </a:xfrm>
        </p:spPr>
        <p:txBody>
          <a:bodyPr/>
          <a:lstStyle/>
          <a:p>
            <a:pPr marL="342900" indent="-342900">
              <a:buFont typeface="Arial" panose="020B0604020202020204" pitchFamily="34" charset="0"/>
              <a:buChar char="•"/>
            </a:pPr>
            <a:r>
              <a:rPr lang="en-US" dirty="0"/>
              <a:t>To assess the viability of water stripping on reducing acidity of biomass-derived pyrolysis oil. </a:t>
            </a:r>
          </a:p>
          <a:p>
            <a:pPr marL="1028700" lvl="1" indent="-342900">
              <a:buFont typeface="Arial" panose="020B0604020202020204" pitchFamily="34" charset="0"/>
              <a:buChar char="•"/>
            </a:pPr>
            <a:r>
              <a:rPr lang="en-US" sz="2000" dirty="0"/>
              <a:t>To optimize conditions for water stripping such as temperature and water dosing. </a:t>
            </a:r>
          </a:p>
          <a:p>
            <a:pPr marL="1028700" lvl="1" indent="-342900">
              <a:buFont typeface="Arial" panose="020B0604020202020204" pitchFamily="34" charset="0"/>
              <a:buChar char="•"/>
            </a:pPr>
            <a:r>
              <a:rPr lang="en-US" sz="2000" dirty="0"/>
              <a:t>To characterize the resulting pyrolysis oil for various physiochemical properties to determine blending ratios in marine fuel oil. </a:t>
            </a:r>
          </a:p>
          <a:p>
            <a:pPr marL="1028700" lvl="1" indent="-342900">
              <a:buFont typeface="Arial" panose="020B0604020202020204" pitchFamily="34" charset="0"/>
              <a:buChar char="•"/>
            </a:pPr>
            <a:r>
              <a:rPr lang="en-US" sz="2000" dirty="0"/>
              <a:t>To characterize the resulting water distillate for suitability as wood vinegar byproduct.</a:t>
            </a:r>
          </a:p>
        </p:txBody>
      </p:sp>
    </p:spTree>
    <p:extLst>
      <p:ext uri="{BB962C8B-B14F-4D97-AF65-F5344CB8AC3E}">
        <p14:creationId xmlns:p14="http://schemas.microsoft.com/office/powerpoint/2010/main" val="3449084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5C0F-1A4D-0A7A-8326-FCF92B3CA81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01D403-0014-4896-59EC-73F11F2B2DDF}"/>
              </a:ext>
            </a:extLst>
          </p:cNvPr>
          <p:cNvSpPr>
            <a:spLocks noGrp="1"/>
          </p:cNvSpPr>
          <p:nvPr>
            <p:ph type="body" sz="quarter" idx="11"/>
          </p:nvPr>
        </p:nvSpPr>
        <p:spPr/>
        <p:txBody>
          <a:bodyPr/>
          <a:lstStyle/>
          <a:p>
            <a:r>
              <a:rPr lang="en-US" dirty="0"/>
              <a:t>Lab work</a:t>
            </a:r>
            <a:endParaRPr lang="en-IE" dirty="0"/>
          </a:p>
        </p:txBody>
      </p:sp>
      <p:sp>
        <p:nvSpPr>
          <p:cNvPr id="3" name="Text Placeholder 2">
            <a:extLst>
              <a:ext uri="{FF2B5EF4-FFF2-40B4-BE49-F238E27FC236}">
                <a16:creationId xmlns:a16="http://schemas.microsoft.com/office/drawing/2014/main" id="{69096801-BF2C-0DE0-8A11-9DA3AC8E68DF}"/>
              </a:ext>
            </a:extLst>
          </p:cNvPr>
          <p:cNvSpPr>
            <a:spLocks noGrp="1"/>
          </p:cNvSpPr>
          <p:nvPr>
            <p:ph type="body" sz="quarter" idx="13"/>
          </p:nvPr>
        </p:nvSpPr>
        <p:spPr/>
        <p:txBody>
          <a:bodyPr/>
          <a:lstStyle/>
          <a:p>
            <a:r>
              <a:rPr lang="en-US" dirty="0" err="1"/>
              <a:t>Experimntal</a:t>
            </a:r>
            <a:r>
              <a:rPr lang="en-US" dirty="0"/>
              <a:t> Setup</a:t>
            </a:r>
            <a:endParaRPr lang="en-IE" dirty="0"/>
          </a:p>
        </p:txBody>
      </p:sp>
      <p:pic>
        <p:nvPicPr>
          <p:cNvPr id="7" name="Graphic 6" descr="Fractional distillation - Simple English Wikipedia, the free encyclopedia">
            <a:extLst>
              <a:ext uri="{FF2B5EF4-FFF2-40B4-BE49-F238E27FC236}">
                <a16:creationId xmlns:a16="http://schemas.microsoft.com/office/drawing/2014/main" id="{06539656-A412-36CD-D79F-1D44EF7A7B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25032" y="439738"/>
            <a:ext cx="3942057" cy="4763320"/>
          </a:xfrm>
          <a:prstGeom prst="rect">
            <a:avLst/>
          </a:prstGeom>
        </p:spPr>
      </p:pic>
      <p:sp>
        <p:nvSpPr>
          <p:cNvPr id="8" name="TextBox 7">
            <a:extLst>
              <a:ext uri="{FF2B5EF4-FFF2-40B4-BE49-F238E27FC236}">
                <a16:creationId xmlns:a16="http://schemas.microsoft.com/office/drawing/2014/main" id="{84F94BFB-F279-CE75-625F-0162A022D85B}"/>
              </a:ext>
            </a:extLst>
          </p:cNvPr>
          <p:cNvSpPr txBox="1"/>
          <p:nvPr/>
        </p:nvSpPr>
        <p:spPr>
          <a:xfrm>
            <a:off x="8150942" y="5360728"/>
            <a:ext cx="2582758" cy="369332"/>
          </a:xfrm>
          <a:prstGeom prst="rect">
            <a:avLst/>
          </a:prstGeom>
          <a:noFill/>
        </p:spPr>
        <p:txBody>
          <a:bodyPr wrap="none" rtlCol="0">
            <a:spAutoFit/>
          </a:bodyPr>
          <a:lstStyle/>
          <a:p>
            <a:r>
              <a:rPr lang="en-US" dirty="0"/>
              <a:t>Experimental Setup. [</a:t>
            </a:r>
            <a:r>
              <a:rPr lang="en-US" dirty="0">
                <a:hlinkClick r:id="rId3"/>
              </a:rPr>
              <a:t>8</a:t>
            </a:r>
            <a:r>
              <a:rPr lang="en-US" dirty="0"/>
              <a:t>]</a:t>
            </a:r>
            <a:endParaRPr lang="en-IE" dirty="0"/>
          </a:p>
        </p:txBody>
      </p:sp>
      <p:sp>
        <p:nvSpPr>
          <p:cNvPr id="9" name="Text Placeholder 5">
            <a:extLst>
              <a:ext uri="{FF2B5EF4-FFF2-40B4-BE49-F238E27FC236}">
                <a16:creationId xmlns:a16="http://schemas.microsoft.com/office/drawing/2014/main" id="{47303391-37AB-B31D-0515-2E867BF80AFA}"/>
              </a:ext>
            </a:extLst>
          </p:cNvPr>
          <p:cNvSpPr txBox="1">
            <a:spLocks/>
          </p:cNvSpPr>
          <p:nvPr/>
        </p:nvSpPr>
        <p:spPr>
          <a:xfrm>
            <a:off x="300211" y="2097681"/>
            <a:ext cx="6002266" cy="3299167"/>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Add 150g of oil + an amount of water into flask.</a:t>
            </a:r>
          </a:p>
          <a:p>
            <a:pPr marL="342900" indent="-342900">
              <a:buFont typeface="Arial" panose="020B0604020202020204" pitchFamily="34" charset="0"/>
              <a:buChar char="•"/>
            </a:pPr>
            <a:r>
              <a:rPr lang="en-US" dirty="0"/>
              <a:t>Heat flask until 150 °C to completely strip off water.  This is the optimal temperature to complete proper water removal without significantly increasing viscosity of pyrolysis oil. </a:t>
            </a:r>
          </a:p>
          <a:p>
            <a:pPr marL="342900" indent="-342900">
              <a:buFont typeface="Arial" panose="020B0604020202020204" pitchFamily="34" charset="0"/>
              <a:buChar char="•"/>
            </a:pPr>
            <a:r>
              <a:rPr lang="en-US" dirty="0"/>
              <a:t>Use of fractionation column: </a:t>
            </a:r>
            <a:r>
              <a:rPr lang="en-US" dirty="0" err="1"/>
              <a:t>Supresses</a:t>
            </a:r>
            <a:r>
              <a:rPr lang="en-US" dirty="0"/>
              <a:t> non-aqueous volatiles from escaping, decreasing yield.  </a:t>
            </a:r>
          </a:p>
        </p:txBody>
      </p:sp>
    </p:spTree>
    <p:extLst>
      <p:ext uri="{BB962C8B-B14F-4D97-AF65-F5344CB8AC3E}">
        <p14:creationId xmlns:p14="http://schemas.microsoft.com/office/powerpoint/2010/main" val="3282149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9488B-D383-40DB-4866-92618FA2011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47B674-F67B-327D-E4D9-F18571735C7C}"/>
              </a:ext>
            </a:extLst>
          </p:cNvPr>
          <p:cNvSpPr>
            <a:spLocks noGrp="1"/>
          </p:cNvSpPr>
          <p:nvPr>
            <p:ph type="body" sz="quarter" idx="11"/>
          </p:nvPr>
        </p:nvSpPr>
        <p:spPr/>
        <p:txBody>
          <a:bodyPr/>
          <a:lstStyle/>
          <a:p>
            <a:r>
              <a:rPr lang="en-US" dirty="0"/>
              <a:t>Effect of water dosage on acidity</a:t>
            </a:r>
            <a:endParaRPr lang="en-IE" dirty="0"/>
          </a:p>
        </p:txBody>
      </p:sp>
      <p:sp>
        <p:nvSpPr>
          <p:cNvPr id="3" name="Text Placeholder 2">
            <a:extLst>
              <a:ext uri="{FF2B5EF4-FFF2-40B4-BE49-F238E27FC236}">
                <a16:creationId xmlns:a16="http://schemas.microsoft.com/office/drawing/2014/main" id="{907C4E33-BBE6-A7A6-DDD3-3BBAA8C92252}"/>
              </a:ext>
            </a:extLst>
          </p:cNvPr>
          <p:cNvSpPr>
            <a:spLocks noGrp="1"/>
          </p:cNvSpPr>
          <p:nvPr>
            <p:ph type="body" sz="quarter" idx="13"/>
          </p:nvPr>
        </p:nvSpPr>
        <p:spPr/>
        <p:txBody>
          <a:bodyPr/>
          <a:lstStyle/>
          <a:p>
            <a:r>
              <a:rPr lang="en-US" dirty="0"/>
              <a:t>Results</a:t>
            </a:r>
            <a:endParaRPr lang="en-IE" dirty="0"/>
          </a:p>
        </p:txBody>
      </p:sp>
      <p:graphicFrame>
        <p:nvGraphicFramePr>
          <p:cNvPr id="8" name="Chart 7">
            <a:extLst>
              <a:ext uri="{FF2B5EF4-FFF2-40B4-BE49-F238E27FC236}">
                <a16:creationId xmlns:a16="http://schemas.microsoft.com/office/drawing/2014/main" id="{DD12209C-43A7-14E6-07DA-92C893AF4F8B}"/>
              </a:ext>
            </a:extLst>
          </p:cNvPr>
          <p:cNvGraphicFramePr>
            <a:graphicFrameLocks/>
          </p:cNvGraphicFramePr>
          <p:nvPr>
            <p:extLst>
              <p:ext uri="{D42A27DB-BD31-4B8C-83A1-F6EECF244321}">
                <p14:modId xmlns:p14="http://schemas.microsoft.com/office/powerpoint/2010/main" val="3928559000"/>
              </p:ext>
            </p:extLst>
          </p:nvPr>
        </p:nvGraphicFramePr>
        <p:xfrm>
          <a:off x="214634" y="1445229"/>
          <a:ext cx="6569623" cy="460161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5">
            <a:extLst>
              <a:ext uri="{FF2B5EF4-FFF2-40B4-BE49-F238E27FC236}">
                <a16:creationId xmlns:a16="http://schemas.microsoft.com/office/drawing/2014/main" id="{5438E055-E1F0-4818-7F8C-014D9FC89067}"/>
              </a:ext>
            </a:extLst>
          </p:cNvPr>
          <p:cNvSpPr txBox="1">
            <a:spLocks/>
          </p:cNvSpPr>
          <p:nvPr/>
        </p:nvSpPr>
        <p:spPr>
          <a:xfrm>
            <a:off x="6587614" y="2097681"/>
            <a:ext cx="5389752" cy="3299167"/>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Measured using ASTM 667. </a:t>
            </a:r>
          </a:p>
          <a:p>
            <a:pPr marL="342900" indent="-342900">
              <a:buFont typeface="Arial" panose="020B0604020202020204" pitchFamily="34" charset="0"/>
              <a:buChar char="•"/>
            </a:pPr>
            <a:r>
              <a:rPr lang="en-US" dirty="0"/>
              <a:t>Initial TAN before distillation was measured to be 103 mg KOH/g oil. </a:t>
            </a:r>
          </a:p>
          <a:p>
            <a:pPr marL="342900" indent="-342900">
              <a:buFont typeface="Arial" panose="020B0604020202020204" pitchFamily="34" charset="0"/>
              <a:buChar char="•"/>
            </a:pPr>
            <a:r>
              <a:rPr lang="en-US" dirty="0"/>
              <a:t>Water stripping shows minorly good results with some correlation. </a:t>
            </a:r>
          </a:p>
          <a:p>
            <a:pPr marL="342900" indent="-342900">
              <a:buFont typeface="Arial" panose="020B0604020202020204" pitchFamily="34" charset="0"/>
              <a:buChar char="•"/>
            </a:pPr>
            <a:r>
              <a:rPr lang="en-US" dirty="0"/>
              <a:t>Suspect that the main compound removed (phenolics) does not show up in measurements. </a:t>
            </a:r>
          </a:p>
        </p:txBody>
      </p:sp>
    </p:spTree>
    <p:extLst>
      <p:ext uri="{BB962C8B-B14F-4D97-AF65-F5344CB8AC3E}">
        <p14:creationId xmlns:p14="http://schemas.microsoft.com/office/powerpoint/2010/main" val="3712945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7045-AB00-AC6A-A482-E96939DB7DB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70E811B-130D-6B35-AC33-72342F49A4F5}"/>
              </a:ext>
            </a:extLst>
          </p:cNvPr>
          <p:cNvSpPr>
            <a:spLocks noGrp="1"/>
          </p:cNvSpPr>
          <p:nvPr>
            <p:ph type="body" sz="quarter" idx="11"/>
          </p:nvPr>
        </p:nvSpPr>
        <p:spPr/>
        <p:txBody>
          <a:bodyPr/>
          <a:lstStyle/>
          <a:p>
            <a:r>
              <a:rPr lang="en-US" dirty="0"/>
              <a:t>Effect of water dosage on acidity</a:t>
            </a:r>
            <a:endParaRPr lang="en-IE" dirty="0"/>
          </a:p>
        </p:txBody>
      </p:sp>
      <p:sp>
        <p:nvSpPr>
          <p:cNvPr id="3" name="Text Placeholder 2">
            <a:extLst>
              <a:ext uri="{FF2B5EF4-FFF2-40B4-BE49-F238E27FC236}">
                <a16:creationId xmlns:a16="http://schemas.microsoft.com/office/drawing/2014/main" id="{DCCCBDEC-86E3-B8FC-C55E-1FBC8D440067}"/>
              </a:ext>
            </a:extLst>
          </p:cNvPr>
          <p:cNvSpPr>
            <a:spLocks noGrp="1"/>
          </p:cNvSpPr>
          <p:nvPr>
            <p:ph type="body" sz="quarter" idx="13"/>
          </p:nvPr>
        </p:nvSpPr>
        <p:spPr/>
        <p:txBody>
          <a:bodyPr/>
          <a:lstStyle/>
          <a:p>
            <a:r>
              <a:rPr lang="en-US" dirty="0"/>
              <a:t>Results</a:t>
            </a:r>
            <a:endParaRPr lang="en-IE" dirty="0"/>
          </a:p>
        </p:txBody>
      </p:sp>
      <p:graphicFrame>
        <p:nvGraphicFramePr>
          <p:cNvPr id="5" name="Chart 4">
            <a:extLst>
              <a:ext uri="{FF2B5EF4-FFF2-40B4-BE49-F238E27FC236}">
                <a16:creationId xmlns:a16="http://schemas.microsoft.com/office/drawing/2014/main" id="{9D97BDF1-2D51-85D6-0407-6D4C1A904227}"/>
              </a:ext>
            </a:extLst>
          </p:cNvPr>
          <p:cNvGraphicFramePr>
            <a:graphicFrameLocks/>
          </p:cNvGraphicFramePr>
          <p:nvPr>
            <p:extLst>
              <p:ext uri="{D42A27DB-BD31-4B8C-83A1-F6EECF244321}">
                <p14:modId xmlns:p14="http://schemas.microsoft.com/office/powerpoint/2010/main" val="74351299"/>
              </p:ext>
            </p:extLst>
          </p:nvPr>
        </p:nvGraphicFramePr>
        <p:xfrm>
          <a:off x="191483" y="1713271"/>
          <a:ext cx="5717704" cy="343145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D7D612E4-3E5B-CB20-D945-0CA3329572E6}"/>
              </a:ext>
            </a:extLst>
          </p:cNvPr>
          <p:cNvSpPr txBox="1">
            <a:spLocks/>
          </p:cNvSpPr>
          <p:nvPr/>
        </p:nvSpPr>
        <p:spPr>
          <a:xfrm>
            <a:off x="5994911" y="3307490"/>
            <a:ext cx="5304811" cy="2571749"/>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t>Inflection point at around 15.4mL NaOH or -70 mV (see red marker).</a:t>
            </a:r>
          </a:p>
          <a:p>
            <a:pPr marL="342900" indent="-342900">
              <a:buFont typeface="Arial" panose="020B0604020202020204" pitchFamily="34" charset="0"/>
              <a:buChar char="•"/>
            </a:pPr>
            <a:r>
              <a:rPr lang="en-US" dirty="0"/>
              <a:t>Phenols deprotonate at a pH of &gt;10 [9].</a:t>
            </a:r>
          </a:p>
          <a:p>
            <a:pPr marL="342900" indent="-342900">
              <a:buFont typeface="Arial" panose="020B0604020202020204" pitchFamily="34" charset="0"/>
              <a:buChar char="•"/>
            </a:pPr>
            <a:r>
              <a:rPr lang="en-US" dirty="0"/>
              <a:t>Calibration against buffers demonstrate that pH10 corresponds to -124.1 mV (see green marker). </a:t>
            </a:r>
          </a:p>
          <a:p>
            <a:pPr marL="342900" indent="-342900">
              <a:buFont typeface="Arial" panose="020B0604020202020204" pitchFamily="34" charset="0"/>
              <a:buChar char="•"/>
            </a:pPr>
            <a:r>
              <a:rPr lang="en-US" dirty="0"/>
              <a:t>No significant inflection point there, evidenced by </a:t>
            </a:r>
            <a:r>
              <a:rPr lang="en-US" dirty="0" err="1"/>
              <a:t>dU</a:t>
            </a:r>
            <a:r>
              <a:rPr lang="en-US" dirty="0"/>
              <a:t>/</a:t>
            </a:r>
            <a:r>
              <a:rPr lang="en-US" dirty="0" err="1"/>
              <a:t>dV</a:t>
            </a:r>
            <a:r>
              <a:rPr lang="en-US" dirty="0"/>
              <a:t> curve. </a:t>
            </a:r>
            <a:endParaRPr lang="en-US" sz="2000" dirty="0"/>
          </a:p>
        </p:txBody>
      </p:sp>
      <p:cxnSp>
        <p:nvCxnSpPr>
          <p:cNvPr id="9" name="Straight Connector 8">
            <a:extLst>
              <a:ext uri="{FF2B5EF4-FFF2-40B4-BE49-F238E27FC236}">
                <a16:creationId xmlns:a16="http://schemas.microsoft.com/office/drawing/2014/main" id="{9C9FE6C6-1CBB-E123-D8F7-CF1E07FB2020}"/>
              </a:ext>
            </a:extLst>
          </p:cNvPr>
          <p:cNvCxnSpPr/>
          <p:nvPr/>
        </p:nvCxnSpPr>
        <p:spPr>
          <a:xfrm flipV="1">
            <a:off x="3209925" y="3924300"/>
            <a:ext cx="247650" cy="190500"/>
          </a:xfrm>
          <a:prstGeom prst="line">
            <a:avLst/>
          </a:prstGeom>
          <a:ln>
            <a:solidFill>
              <a:srgbClr val="00B050"/>
            </a:solidFill>
            <a:headEnd type="none" w="med" len="med"/>
            <a:tailEnd type="none" w="med" len="med"/>
          </a:ln>
        </p:spPr>
        <p:style>
          <a:lnRef idx="3">
            <a:schemeClr val="dk1"/>
          </a:lnRef>
          <a:fillRef idx="0">
            <a:schemeClr val="dk1"/>
          </a:fillRef>
          <a:effectRef idx="2">
            <a:schemeClr val="dk1"/>
          </a:effectRef>
          <a:fontRef idx="minor">
            <a:schemeClr val="tx1"/>
          </a:fontRef>
        </p:style>
      </p:cxnSp>
      <p:graphicFrame>
        <p:nvGraphicFramePr>
          <p:cNvPr id="10" name="Chart 9">
            <a:extLst>
              <a:ext uri="{FF2B5EF4-FFF2-40B4-BE49-F238E27FC236}">
                <a16:creationId xmlns:a16="http://schemas.microsoft.com/office/drawing/2014/main" id="{F18198CF-9CC5-F9E3-80F7-00B965D70DF6}"/>
              </a:ext>
            </a:extLst>
          </p:cNvPr>
          <p:cNvGraphicFramePr>
            <a:graphicFrameLocks/>
          </p:cNvGraphicFramePr>
          <p:nvPr>
            <p:extLst>
              <p:ext uri="{D42A27DB-BD31-4B8C-83A1-F6EECF244321}">
                <p14:modId xmlns:p14="http://schemas.microsoft.com/office/powerpoint/2010/main" val="2848503387"/>
              </p:ext>
            </p:extLst>
          </p:nvPr>
        </p:nvGraphicFramePr>
        <p:xfrm>
          <a:off x="6282815" y="80010"/>
          <a:ext cx="4914900" cy="3097530"/>
        </p:xfrm>
        <a:graphic>
          <a:graphicData uri="http://schemas.openxmlformats.org/drawingml/2006/chart">
            <c:chart xmlns:c="http://schemas.openxmlformats.org/drawingml/2006/chart" xmlns:r="http://schemas.openxmlformats.org/officeDocument/2006/relationships" r:id="rId3"/>
          </a:graphicData>
        </a:graphic>
      </p:graphicFrame>
      <p:cxnSp>
        <p:nvCxnSpPr>
          <p:cNvPr id="12" name="Straight Connector 11">
            <a:extLst>
              <a:ext uri="{FF2B5EF4-FFF2-40B4-BE49-F238E27FC236}">
                <a16:creationId xmlns:a16="http://schemas.microsoft.com/office/drawing/2014/main" id="{A4A2A8D4-6826-C8F3-CE0E-694681A31A2C}"/>
              </a:ext>
            </a:extLst>
          </p:cNvPr>
          <p:cNvCxnSpPr/>
          <p:nvPr/>
        </p:nvCxnSpPr>
        <p:spPr>
          <a:xfrm>
            <a:off x="8486775" y="1628775"/>
            <a:ext cx="0" cy="438150"/>
          </a:xfrm>
          <a:prstGeom prst="line">
            <a:avLst/>
          </a:prstGeom>
          <a:ln>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5703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11C4-754A-9BBE-0464-71E4305D8BC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2B20DD-90A8-3D3A-9BD1-4BC14D998C84}"/>
              </a:ext>
            </a:extLst>
          </p:cNvPr>
          <p:cNvSpPr>
            <a:spLocks noGrp="1"/>
          </p:cNvSpPr>
          <p:nvPr>
            <p:ph type="body" sz="quarter" idx="11"/>
          </p:nvPr>
        </p:nvSpPr>
        <p:spPr/>
        <p:txBody>
          <a:bodyPr/>
          <a:lstStyle/>
          <a:p>
            <a:r>
              <a:rPr lang="en-US" dirty="0"/>
              <a:t>Effect of water dosage on acidity</a:t>
            </a:r>
            <a:endParaRPr lang="en-IE" dirty="0"/>
          </a:p>
        </p:txBody>
      </p:sp>
      <p:sp>
        <p:nvSpPr>
          <p:cNvPr id="3" name="Text Placeholder 2">
            <a:extLst>
              <a:ext uri="{FF2B5EF4-FFF2-40B4-BE49-F238E27FC236}">
                <a16:creationId xmlns:a16="http://schemas.microsoft.com/office/drawing/2014/main" id="{07DA9AA9-500D-6BC1-E4EC-5ED71F02BA6A}"/>
              </a:ext>
            </a:extLst>
          </p:cNvPr>
          <p:cNvSpPr>
            <a:spLocks noGrp="1"/>
          </p:cNvSpPr>
          <p:nvPr>
            <p:ph type="body" sz="quarter" idx="13"/>
          </p:nvPr>
        </p:nvSpPr>
        <p:spPr/>
        <p:txBody>
          <a:bodyPr/>
          <a:lstStyle/>
          <a:p>
            <a:r>
              <a:rPr lang="en-US" dirty="0"/>
              <a:t>Results</a:t>
            </a:r>
            <a:endParaRPr lang="en-IE" dirty="0"/>
          </a:p>
        </p:txBody>
      </p:sp>
      <p:sp>
        <p:nvSpPr>
          <p:cNvPr id="6" name="Text Placeholder 5">
            <a:extLst>
              <a:ext uri="{FF2B5EF4-FFF2-40B4-BE49-F238E27FC236}">
                <a16:creationId xmlns:a16="http://schemas.microsoft.com/office/drawing/2014/main" id="{7611D1BE-0BD3-CA1B-C693-BCD6530BD1F7}"/>
              </a:ext>
            </a:extLst>
          </p:cNvPr>
          <p:cNvSpPr txBox="1">
            <a:spLocks/>
          </p:cNvSpPr>
          <p:nvPr/>
        </p:nvSpPr>
        <p:spPr>
          <a:xfrm>
            <a:off x="6166361" y="2393090"/>
            <a:ext cx="5304811" cy="2571749"/>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t>Some decrease in phenols content</a:t>
            </a:r>
          </a:p>
          <a:p>
            <a:pPr marL="342900" indent="-342900">
              <a:buFont typeface="Arial" panose="020B0604020202020204" pitchFamily="34" charset="0"/>
              <a:buChar char="•"/>
            </a:pPr>
            <a:r>
              <a:rPr lang="en-US" dirty="0"/>
              <a:t>Pending proper quantification and changes in all functional groups due to problems in the GC-MS. </a:t>
            </a:r>
            <a:endParaRPr lang="en-US" sz="2000" dirty="0"/>
          </a:p>
        </p:txBody>
      </p:sp>
      <p:graphicFrame>
        <p:nvGraphicFramePr>
          <p:cNvPr id="4" name="Chart 3">
            <a:extLst>
              <a:ext uri="{FF2B5EF4-FFF2-40B4-BE49-F238E27FC236}">
                <a16:creationId xmlns:a16="http://schemas.microsoft.com/office/drawing/2014/main" id="{28337038-3299-8766-5F12-BBCB750077DE}"/>
              </a:ext>
            </a:extLst>
          </p:cNvPr>
          <p:cNvGraphicFramePr>
            <a:graphicFrameLocks/>
          </p:cNvGraphicFramePr>
          <p:nvPr>
            <p:extLst>
              <p:ext uri="{D42A27DB-BD31-4B8C-83A1-F6EECF244321}">
                <p14:modId xmlns:p14="http://schemas.microsoft.com/office/powerpoint/2010/main" val="3979144177"/>
              </p:ext>
            </p:extLst>
          </p:nvPr>
        </p:nvGraphicFramePr>
        <p:xfrm>
          <a:off x="409574" y="1638300"/>
          <a:ext cx="5756787" cy="38671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3524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61CBD-1E36-18AF-F508-9F5BB856D9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CAB2C19-F0C0-484F-70D4-5889C722110F}"/>
              </a:ext>
            </a:extLst>
          </p:cNvPr>
          <p:cNvSpPr>
            <a:spLocks noGrp="1"/>
          </p:cNvSpPr>
          <p:nvPr>
            <p:ph type="body" sz="quarter" idx="11"/>
          </p:nvPr>
        </p:nvSpPr>
        <p:spPr/>
        <p:txBody>
          <a:bodyPr/>
          <a:lstStyle/>
          <a:p>
            <a:r>
              <a:rPr lang="en-US" dirty="0"/>
              <a:t>Potential avenues</a:t>
            </a:r>
            <a:endParaRPr lang="en-IE" dirty="0"/>
          </a:p>
        </p:txBody>
      </p:sp>
      <p:sp>
        <p:nvSpPr>
          <p:cNvPr id="3" name="Text Placeholder 2">
            <a:extLst>
              <a:ext uri="{FF2B5EF4-FFF2-40B4-BE49-F238E27FC236}">
                <a16:creationId xmlns:a16="http://schemas.microsoft.com/office/drawing/2014/main" id="{86989A24-78E4-04DE-A4BF-5E1DBCF29934}"/>
              </a:ext>
            </a:extLst>
          </p:cNvPr>
          <p:cNvSpPr>
            <a:spLocks noGrp="1"/>
          </p:cNvSpPr>
          <p:nvPr>
            <p:ph type="body" sz="quarter" idx="13"/>
          </p:nvPr>
        </p:nvSpPr>
        <p:spPr/>
        <p:txBody>
          <a:bodyPr/>
          <a:lstStyle/>
          <a:p>
            <a:r>
              <a:rPr lang="en-US" dirty="0"/>
              <a:t>Future work</a:t>
            </a:r>
            <a:endParaRPr lang="en-IE" dirty="0"/>
          </a:p>
        </p:txBody>
      </p:sp>
      <p:sp>
        <p:nvSpPr>
          <p:cNvPr id="6" name="Text Placeholder 5">
            <a:extLst>
              <a:ext uri="{FF2B5EF4-FFF2-40B4-BE49-F238E27FC236}">
                <a16:creationId xmlns:a16="http://schemas.microsoft.com/office/drawing/2014/main" id="{864DB531-FA1C-93A2-5933-62744E441C04}"/>
              </a:ext>
            </a:extLst>
          </p:cNvPr>
          <p:cNvSpPr txBox="1">
            <a:spLocks/>
          </p:cNvSpPr>
          <p:nvPr/>
        </p:nvSpPr>
        <p:spPr>
          <a:xfrm>
            <a:off x="565661" y="1689457"/>
            <a:ext cx="10483339" cy="3815993"/>
          </a:xfrm>
          <a:prstGeom prst="rect">
            <a:avLst/>
          </a:prstGeom>
        </p:spPr>
        <p:txBody>
          <a:bodyPr/>
          <a:lstStyle>
            <a:lvl1pPr marL="0" indent="0" algn="l" defTabSz="914400" rtl="0" eaLnBrk="1" latinLnBrk="0" hangingPunct="1">
              <a:lnSpc>
                <a:spcPct val="90000"/>
              </a:lnSpc>
              <a:spcBef>
                <a:spcPts val="1000"/>
              </a:spcBef>
              <a:buFont typeface="Arial"/>
              <a:buNone/>
              <a:defRPr sz="2000" b="0" kern="1200" baseline="0">
                <a:solidFill>
                  <a:schemeClr val="tx1"/>
                </a:solidFill>
                <a:latin typeface="Arial" panose="020B0604020202020204" pitchFamily="34" charset="0"/>
                <a:ea typeface="Arial Narrow" charset="0"/>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General conclusion: water stripping does not work to reduce measurable acid content using standard measurement techniques (ASTM667) </a:t>
            </a:r>
          </a:p>
          <a:p>
            <a:pPr marL="342900" indent="-342900">
              <a:buFont typeface="Arial" panose="020B0604020202020204" pitchFamily="34" charset="0"/>
              <a:buChar char="•"/>
            </a:pPr>
            <a:r>
              <a:rPr lang="en-US" dirty="0"/>
              <a:t>Wrap up GC-MS results, potentially explore other ways to frame the results to be non-negative. </a:t>
            </a:r>
          </a:p>
          <a:p>
            <a:pPr marL="1028700" lvl="1" indent="-342900">
              <a:buFont typeface="Arial" panose="020B0604020202020204" pitchFamily="34" charset="0"/>
              <a:buChar char="•"/>
            </a:pPr>
            <a:r>
              <a:rPr lang="en-US" sz="2000" dirty="0"/>
              <a:t>A better C-H atomic balance, fuel combustion properties as phenol is notoriously hard to burn</a:t>
            </a:r>
          </a:p>
          <a:p>
            <a:pPr marL="342900" indent="-342900">
              <a:buFont typeface="Arial" panose="020B0604020202020204" pitchFamily="34" charset="0"/>
              <a:buChar char="•"/>
            </a:pPr>
            <a:r>
              <a:rPr lang="en-US" dirty="0"/>
              <a:t>Other potential avenues: </a:t>
            </a:r>
          </a:p>
          <a:p>
            <a:pPr marL="1028700" lvl="1" indent="-342900">
              <a:buFont typeface="Arial" panose="020B0604020202020204" pitchFamily="34" charset="0"/>
              <a:buChar char="•"/>
            </a:pPr>
            <a:r>
              <a:rPr lang="en-US" sz="2000" dirty="0"/>
              <a:t>Alcoholic esterification (explore various alcohols, catalysts, water removal techniques, acetalization techniques)</a:t>
            </a:r>
          </a:p>
          <a:p>
            <a:pPr marL="1028700" lvl="1" indent="-342900">
              <a:buFont typeface="Arial" panose="020B0604020202020204" pitchFamily="34" charset="0"/>
              <a:buChar char="•"/>
            </a:pPr>
            <a:r>
              <a:rPr lang="en-US" sz="2000" dirty="0"/>
              <a:t>Phenyl esterification (explore various catalysts, very new field)</a:t>
            </a:r>
          </a:p>
        </p:txBody>
      </p:sp>
    </p:spTree>
    <p:extLst>
      <p:ext uri="{BB962C8B-B14F-4D97-AF65-F5344CB8AC3E}">
        <p14:creationId xmlns:p14="http://schemas.microsoft.com/office/powerpoint/2010/main" val="2556408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7387-8759-CA42-F317-3BEF487315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BE28F9-FE1E-DB0A-E5E7-B35BBA98E44E}"/>
              </a:ext>
            </a:extLst>
          </p:cNvPr>
          <p:cNvSpPr>
            <a:spLocks noGrp="1"/>
          </p:cNvSpPr>
          <p:nvPr>
            <p:ph type="body" sz="quarter" idx="11"/>
          </p:nvPr>
        </p:nvSpPr>
        <p:spPr>
          <a:xfrm>
            <a:off x="379112" y="4046363"/>
            <a:ext cx="6012163" cy="678126"/>
          </a:xfrm>
        </p:spPr>
        <p:txBody>
          <a:bodyPr/>
          <a:lstStyle/>
          <a:p>
            <a:r>
              <a:rPr lang="en-AU" dirty="0"/>
              <a:t>Kong Yue Xuan</a:t>
            </a:r>
          </a:p>
        </p:txBody>
      </p:sp>
      <p:sp>
        <p:nvSpPr>
          <p:cNvPr id="3" name="Text Placeholder 2">
            <a:extLst>
              <a:ext uri="{FF2B5EF4-FFF2-40B4-BE49-F238E27FC236}">
                <a16:creationId xmlns:a16="http://schemas.microsoft.com/office/drawing/2014/main" id="{853E66A9-5896-4568-3909-B44A7FD6CDD3}"/>
              </a:ext>
            </a:extLst>
          </p:cNvPr>
          <p:cNvSpPr>
            <a:spLocks noGrp="1"/>
          </p:cNvSpPr>
          <p:nvPr>
            <p:ph type="body" sz="quarter" idx="12"/>
          </p:nvPr>
        </p:nvSpPr>
        <p:spPr/>
        <p:txBody>
          <a:bodyPr/>
          <a:lstStyle/>
          <a:p>
            <a:r>
              <a:rPr lang="en-AU" dirty="0"/>
              <a:t>8 Oct 2026</a:t>
            </a:r>
          </a:p>
        </p:txBody>
      </p:sp>
      <p:sp>
        <p:nvSpPr>
          <p:cNvPr id="4" name="Text Placeholder 3">
            <a:extLst>
              <a:ext uri="{FF2B5EF4-FFF2-40B4-BE49-F238E27FC236}">
                <a16:creationId xmlns:a16="http://schemas.microsoft.com/office/drawing/2014/main" id="{AFD22D7C-8A6C-A372-0A9A-EC9D8152D736}"/>
              </a:ext>
            </a:extLst>
          </p:cNvPr>
          <p:cNvSpPr>
            <a:spLocks noGrp="1"/>
          </p:cNvSpPr>
          <p:nvPr>
            <p:ph type="body" sz="quarter" idx="13"/>
          </p:nvPr>
        </p:nvSpPr>
        <p:spPr/>
        <p:txBody>
          <a:bodyPr/>
          <a:lstStyle/>
          <a:p>
            <a:r>
              <a:rPr lang="en-AU" dirty="0" err="1"/>
              <a:t>Valorization</a:t>
            </a:r>
            <a:r>
              <a:rPr lang="en-AU" dirty="0"/>
              <a:t> of pyrolysis oil towards Marine Fuel Oil and Wood Vinegar</a:t>
            </a:r>
          </a:p>
        </p:txBody>
      </p:sp>
      <p:sp>
        <p:nvSpPr>
          <p:cNvPr id="5" name="Text Placeholder 4">
            <a:extLst>
              <a:ext uri="{FF2B5EF4-FFF2-40B4-BE49-F238E27FC236}">
                <a16:creationId xmlns:a16="http://schemas.microsoft.com/office/drawing/2014/main" id="{EABC048E-5E49-7FB8-C0E2-5DE78D0FEAE6}"/>
              </a:ext>
            </a:extLst>
          </p:cNvPr>
          <p:cNvSpPr>
            <a:spLocks noGrp="1"/>
          </p:cNvSpPr>
          <p:nvPr>
            <p:ph type="body" sz="quarter" idx="14"/>
          </p:nvPr>
        </p:nvSpPr>
        <p:spPr/>
        <p:txBody>
          <a:bodyPr/>
          <a:lstStyle/>
          <a:p>
            <a:r>
              <a:rPr lang="en-AU"/>
              <a:t>5537 and 5414</a:t>
            </a:r>
          </a:p>
        </p:txBody>
      </p:sp>
      <p:sp>
        <p:nvSpPr>
          <p:cNvPr id="6" name="Slide Number Placeholder 3">
            <a:extLst>
              <a:ext uri="{FF2B5EF4-FFF2-40B4-BE49-F238E27FC236}">
                <a16:creationId xmlns:a16="http://schemas.microsoft.com/office/drawing/2014/main" id="{6F09FFDA-8660-0035-F5C9-EB3403337CC1}"/>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36</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7FA9959A-4F18-9981-F58B-4F4E16844912}"/>
              </a:ext>
            </a:extLst>
          </p:cNvPr>
          <p:cNvGrpSpPr/>
          <p:nvPr/>
        </p:nvGrpSpPr>
        <p:grpSpPr>
          <a:xfrm>
            <a:off x="2983078" y="352517"/>
            <a:ext cx="1796393" cy="774699"/>
            <a:chOff x="5342217" y="1473060"/>
            <a:chExt cx="3054298" cy="1317173"/>
          </a:xfrm>
        </p:grpSpPr>
        <p:pic>
          <p:nvPicPr>
            <p:cNvPr id="8" name="Picture 7">
              <a:extLst>
                <a:ext uri="{FF2B5EF4-FFF2-40B4-BE49-F238E27FC236}">
                  <a16:creationId xmlns:a16="http://schemas.microsoft.com/office/drawing/2014/main" id="{F043E721-1DB0-DB6A-57AF-6C4A00D6B842}"/>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9" name="Straight Connector 8">
              <a:extLst>
                <a:ext uri="{FF2B5EF4-FFF2-40B4-BE49-F238E27FC236}">
                  <a16:creationId xmlns:a16="http://schemas.microsoft.com/office/drawing/2014/main" id="{DF305D4E-E08C-E185-D9A1-EB99D17637E1}"/>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515598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C6B69-AF79-794C-F9EF-5469729DDA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B38367-DBB4-DBC6-0F01-8A79D8862AFB}"/>
              </a:ext>
            </a:extLst>
          </p:cNvPr>
          <p:cNvSpPr>
            <a:spLocks noGrp="1"/>
          </p:cNvSpPr>
          <p:nvPr>
            <p:ph type="body" sz="quarter" idx="11"/>
          </p:nvPr>
        </p:nvSpPr>
        <p:spPr/>
        <p:txBody>
          <a:bodyPr/>
          <a:lstStyle/>
          <a:p>
            <a:r>
              <a:rPr lang="en-AU" dirty="0"/>
              <a:t>Reconciliating internal measurements with external labs</a:t>
            </a:r>
          </a:p>
        </p:txBody>
      </p:sp>
      <p:sp>
        <p:nvSpPr>
          <p:cNvPr id="3" name="Text Placeholder 2">
            <a:extLst>
              <a:ext uri="{FF2B5EF4-FFF2-40B4-BE49-F238E27FC236}">
                <a16:creationId xmlns:a16="http://schemas.microsoft.com/office/drawing/2014/main" id="{37A7FEF3-4F5C-0FA1-7660-457AFE6204EF}"/>
              </a:ext>
            </a:extLst>
          </p:cNvPr>
          <p:cNvSpPr>
            <a:spLocks noGrp="1"/>
          </p:cNvSpPr>
          <p:nvPr>
            <p:ph type="body" sz="quarter" idx="13"/>
          </p:nvPr>
        </p:nvSpPr>
        <p:spPr>
          <a:xfrm>
            <a:off x="306060" y="326309"/>
            <a:ext cx="9221398" cy="736956"/>
          </a:xfrm>
        </p:spPr>
        <p:txBody>
          <a:bodyPr/>
          <a:lstStyle/>
          <a:p>
            <a:r>
              <a:rPr lang="en-AU" dirty="0"/>
              <a:t>The effects of water stripping to acidity</a:t>
            </a:r>
          </a:p>
        </p:txBody>
      </p:sp>
      <p:sp>
        <p:nvSpPr>
          <p:cNvPr id="6" name="Slide Number Placeholder 3">
            <a:extLst>
              <a:ext uri="{FF2B5EF4-FFF2-40B4-BE49-F238E27FC236}">
                <a16:creationId xmlns:a16="http://schemas.microsoft.com/office/drawing/2014/main" id="{5D28A93D-3FFB-B9CD-BED7-1713903B2889}"/>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37</a:t>
            </a:fld>
            <a:endParaRPr lang="en-MY" sz="1600" dirty="0">
              <a:latin typeface="Arial Narrow" panose="020B0606020202030204" pitchFamily="34" charset="0"/>
            </a:endParaRPr>
          </a:p>
        </p:txBody>
      </p:sp>
      <p:graphicFrame>
        <p:nvGraphicFramePr>
          <p:cNvPr id="7" name="Table 6">
            <a:extLst>
              <a:ext uri="{FF2B5EF4-FFF2-40B4-BE49-F238E27FC236}">
                <a16:creationId xmlns:a16="http://schemas.microsoft.com/office/drawing/2014/main" id="{37B53F45-6067-AC10-A5E1-D74ADC13BD5A}"/>
              </a:ext>
            </a:extLst>
          </p:cNvPr>
          <p:cNvGraphicFramePr>
            <a:graphicFrameLocks noGrp="1"/>
          </p:cNvGraphicFramePr>
          <p:nvPr>
            <p:extLst>
              <p:ext uri="{D42A27DB-BD31-4B8C-83A1-F6EECF244321}">
                <p14:modId xmlns:p14="http://schemas.microsoft.com/office/powerpoint/2010/main" val="862857218"/>
              </p:ext>
            </p:extLst>
          </p:nvPr>
        </p:nvGraphicFramePr>
        <p:xfrm>
          <a:off x="999612" y="1484767"/>
          <a:ext cx="9304592" cy="2225040"/>
        </p:xfrm>
        <a:graphic>
          <a:graphicData uri="http://schemas.openxmlformats.org/drawingml/2006/table">
            <a:tbl>
              <a:tblPr firstRow="1" bandRow="1">
                <a:tableStyleId>{5C22544A-7EE6-4342-B048-85BDC9FD1C3A}</a:tableStyleId>
              </a:tblPr>
              <a:tblGrid>
                <a:gridCol w="4398298">
                  <a:extLst>
                    <a:ext uri="{9D8B030D-6E8A-4147-A177-3AD203B41FA5}">
                      <a16:colId xmlns:a16="http://schemas.microsoft.com/office/drawing/2014/main" val="3631773521"/>
                    </a:ext>
                  </a:extLst>
                </a:gridCol>
                <a:gridCol w="1956619">
                  <a:extLst>
                    <a:ext uri="{9D8B030D-6E8A-4147-A177-3AD203B41FA5}">
                      <a16:colId xmlns:a16="http://schemas.microsoft.com/office/drawing/2014/main" val="4017700087"/>
                    </a:ext>
                  </a:extLst>
                </a:gridCol>
                <a:gridCol w="1406013">
                  <a:extLst>
                    <a:ext uri="{9D8B030D-6E8A-4147-A177-3AD203B41FA5}">
                      <a16:colId xmlns:a16="http://schemas.microsoft.com/office/drawing/2014/main" val="4088454170"/>
                    </a:ext>
                  </a:extLst>
                </a:gridCol>
                <a:gridCol w="1543662">
                  <a:extLst>
                    <a:ext uri="{9D8B030D-6E8A-4147-A177-3AD203B41FA5}">
                      <a16:colId xmlns:a16="http://schemas.microsoft.com/office/drawing/2014/main" val="1402556689"/>
                    </a:ext>
                  </a:extLst>
                </a:gridCol>
              </a:tblGrid>
              <a:tr h="370840">
                <a:tc>
                  <a:txBody>
                    <a:bodyPr/>
                    <a:lstStyle/>
                    <a:p>
                      <a:r>
                        <a:rPr lang="en-US" dirty="0"/>
                        <a:t>Water Loading (</a:t>
                      </a:r>
                      <a:r>
                        <a:rPr lang="en-US" dirty="0" err="1"/>
                        <a:t>wt</a:t>
                      </a:r>
                      <a:r>
                        <a:rPr lang="en-US" dirty="0"/>
                        <a:t>% </a:t>
                      </a:r>
                      <a:r>
                        <a:rPr lang="en-US" dirty="0" err="1"/>
                        <a:t>wrt</a:t>
                      </a:r>
                      <a:r>
                        <a:rPr lang="en-US" dirty="0"/>
                        <a:t> oil)</a:t>
                      </a:r>
                      <a:endParaRPr lang="en-IE" dirty="0"/>
                    </a:p>
                  </a:txBody>
                  <a:tcPr/>
                </a:tc>
                <a:tc>
                  <a:txBody>
                    <a:bodyPr/>
                    <a:lstStyle/>
                    <a:p>
                      <a:r>
                        <a:rPr lang="en-US" dirty="0"/>
                        <a:t>TAN (internal)</a:t>
                      </a:r>
                      <a:endParaRPr lang="en-IE" dirty="0"/>
                    </a:p>
                  </a:txBody>
                  <a:tcPr/>
                </a:tc>
                <a:tc>
                  <a:txBody>
                    <a:bodyPr/>
                    <a:lstStyle/>
                    <a:p>
                      <a:r>
                        <a:rPr lang="en-US" dirty="0"/>
                        <a:t>TAN (SGS)</a:t>
                      </a:r>
                      <a:endParaRPr lang="en-IE" dirty="0"/>
                    </a:p>
                  </a:txBody>
                  <a:tcPr/>
                </a:tc>
                <a:tc>
                  <a:txBody>
                    <a:bodyPr/>
                    <a:lstStyle/>
                    <a:p>
                      <a:r>
                        <a:rPr lang="en-US" dirty="0"/>
                        <a:t>Yield</a:t>
                      </a:r>
                      <a:endParaRPr lang="en-IE" dirty="0"/>
                    </a:p>
                  </a:txBody>
                  <a:tcPr/>
                </a:tc>
                <a:extLst>
                  <a:ext uri="{0D108BD9-81ED-4DB2-BD59-A6C34878D82A}">
                    <a16:rowId xmlns:a16="http://schemas.microsoft.com/office/drawing/2014/main" val="1128292259"/>
                  </a:ext>
                </a:extLst>
              </a:tr>
              <a:tr h="370840">
                <a:tc>
                  <a:txBody>
                    <a:bodyPr/>
                    <a:lstStyle/>
                    <a:p>
                      <a:r>
                        <a:rPr lang="en-US" dirty="0"/>
                        <a:t>30 (28/07/2026)</a:t>
                      </a:r>
                      <a:endParaRPr lang="en-IE" dirty="0"/>
                    </a:p>
                  </a:txBody>
                  <a:tcPr/>
                </a:tc>
                <a:tc>
                  <a:txBody>
                    <a:bodyPr/>
                    <a:lstStyle/>
                    <a:p>
                      <a:r>
                        <a:rPr lang="en-IE" dirty="0"/>
                        <a:t>59.4772</a:t>
                      </a:r>
                    </a:p>
                  </a:txBody>
                  <a:tcPr/>
                </a:tc>
                <a:tc>
                  <a:txBody>
                    <a:bodyPr/>
                    <a:lstStyle/>
                    <a:p>
                      <a:r>
                        <a:rPr lang="en-US" dirty="0"/>
                        <a:t>56</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0.81</a:t>
                      </a:r>
                      <a:endParaRPr lang="en-IE" dirty="0"/>
                    </a:p>
                  </a:txBody>
                  <a:tcPr/>
                </a:tc>
                <a:extLst>
                  <a:ext uri="{0D108BD9-81ED-4DB2-BD59-A6C34878D82A}">
                    <a16:rowId xmlns:a16="http://schemas.microsoft.com/office/drawing/2014/main" val="1616027906"/>
                  </a:ext>
                </a:extLst>
              </a:tr>
              <a:tr h="370840">
                <a:tc>
                  <a:txBody>
                    <a:bodyPr/>
                    <a:lstStyle/>
                    <a:p>
                      <a:r>
                        <a:rPr lang="en-US" dirty="0"/>
                        <a:t>50 (13/8/2026)</a:t>
                      </a:r>
                      <a:endParaRPr lang="en-IE" dirty="0"/>
                    </a:p>
                  </a:txBody>
                  <a:tcPr/>
                </a:tc>
                <a:tc>
                  <a:txBody>
                    <a:bodyPr/>
                    <a:lstStyle/>
                    <a:p>
                      <a:r>
                        <a:rPr lang="en-IE" dirty="0"/>
                        <a:t>64.0967</a:t>
                      </a:r>
                    </a:p>
                  </a:txBody>
                  <a:tcPr/>
                </a:tc>
                <a:tc>
                  <a:txBody>
                    <a:bodyPr/>
                    <a:lstStyle/>
                    <a:p>
                      <a:r>
                        <a:rPr lang="en-US" dirty="0"/>
                        <a:t>&gt;90</a:t>
                      </a:r>
                      <a:endParaRPr lang="en-IE" dirty="0"/>
                    </a:p>
                  </a:txBody>
                  <a:tcPr/>
                </a:tc>
                <a:tc>
                  <a:txBody>
                    <a:bodyPr/>
                    <a:lstStyle/>
                    <a:p>
                      <a:r>
                        <a:rPr lang="en-US" dirty="0"/>
                        <a:t>0.81</a:t>
                      </a:r>
                      <a:endParaRPr lang="en-IE" dirty="0"/>
                    </a:p>
                  </a:txBody>
                  <a:tcPr/>
                </a:tc>
                <a:extLst>
                  <a:ext uri="{0D108BD9-81ED-4DB2-BD59-A6C34878D82A}">
                    <a16:rowId xmlns:a16="http://schemas.microsoft.com/office/drawing/2014/main" val="3039029043"/>
                  </a:ext>
                </a:extLst>
              </a:tr>
              <a:tr h="370840">
                <a:tc>
                  <a:txBody>
                    <a:bodyPr/>
                    <a:lstStyle/>
                    <a:p>
                      <a:r>
                        <a:rPr lang="en-US" dirty="0"/>
                        <a:t>100 (21/9/2026)</a:t>
                      </a:r>
                      <a:endParaRPr lang="en-IE" dirty="0"/>
                    </a:p>
                  </a:txBody>
                  <a:tcPr/>
                </a:tc>
                <a:tc>
                  <a:txBody>
                    <a:bodyPr/>
                    <a:lstStyle/>
                    <a:p>
                      <a:r>
                        <a:rPr lang="en-IE" dirty="0"/>
                        <a:t>70.4767</a:t>
                      </a:r>
                    </a:p>
                  </a:txBody>
                  <a:tcPr/>
                </a:tc>
                <a:tc>
                  <a:txBody>
                    <a:bodyPr/>
                    <a:lstStyle/>
                    <a:p>
                      <a:r>
                        <a:rPr lang="en-US" dirty="0"/>
                        <a:t>56</a:t>
                      </a:r>
                      <a:endParaRPr lang="en-IE" dirty="0"/>
                    </a:p>
                  </a:txBody>
                  <a:tcPr/>
                </a:tc>
                <a:tc>
                  <a:txBody>
                    <a:bodyPr/>
                    <a:lstStyle/>
                    <a:p>
                      <a:r>
                        <a:rPr lang="en-US" dirty="0"/>
                        <a:t>0.80</a:t>
                      </a:r>
                      <a:endParaRPr lang="en-IE" dirty="0"/>
                    </a:p>
                  </a:txBody>
                  <a:tcPr/>
                </a:tc>
                <a:extLst>
                  <a:ext uri="{0D108BD9-81ED-4DB2-BD59-A6C34878D82A}">
                    <a16:rowId xmlns:a16="http://schemas.microsoft.com/office/drawing/2014/main" val="366697607"/>
                  </a:ext>
                </a:extLst>
              </a:tr>
              <a:tr h="370840">
                <a:tc>
                  <a:txBody>
                    <a:bodyPr/>
                    <a:lstStyle/>
                    <a:p>
                      <a:r>
                        <a:rPr lang="en-US" dirty="0"/>
                        <a:t>200 (25/9/2026)</a:t>
                      </a:r>
                      <a:endParaRPr lang="en-IE" dirty="0"/>
                    </a:p>
                  </a:txBody>
                  <a:tcPr/>
                </a:tc>
                <a:tc>
                  <a:txBody>
                    <a:bodyPr/>
                    <a:lstStyle/>
                    <a:p>
                      <a:r>
                        <a:rPr lang="en-IE" dirty="0"/>
                        <a:t>59.4235</a:t>
                      </a:r>
                    </a:p>
                  </a:txBody>
                  <a:tcPr/>
                </a:tc>
                <a:tc>
                  <a:txBody>
                    <a:bodyPr/>
                    <a:lstStyle/>
                    <a:p>
                      <a:r>
                        <a:rPr lang="en-US" dirty="0"/>
                        <a:t>48</a:t>
                      </a:r>
                      <a:endParaRPr lang="en-IE" dirty="0"/>
                    </a:p>
                  </a:txBody>
                  <a:tcPr/>
                </a:tc>
                <a:tc>
                  <a:txBody>
                    <a:bodyPr/>
                    <a:lstStyle/>
                    <a:p>
                      <a:r>
                        <a:rPr lang="en-US" dirty="0"/>
                        <a:t>0.75</a:t>
                      </a:r>
                      <a:endParaRPr lang="en-IE" dirty="0"/>
                    </a:p>
                  </a:txBody>
                  <a:tcPr/>
                </a:tc>
                <a:extLst>
                  <a:ext uri="{0D108BD9-81ED-4DB2-BD59-A6C34878D82A}">
                    <a16:rowId xmlns:a16="http://schemas.microsoft.com/office/drawing/2014/main" val="2440685115"/>
                  </a:ext>
                </a:extLst>
              </a:tr>
              <a:tr h="370840">
                <a:tc>
                  <a:txBody>
                    <a:bodyPr/>
                    <a:lstStyle/>
                    <a:p>
                      <a:r>
                        <a:rPr lang="en-US" dirty="0"/>
                        <a:t>Pure MFO sample</a:t>
                      </a:r>
                      <a:endParaRPr lang="en-IE" dirty="0"/>
                    </a:p>
                  </a:txBody>
                  <a:tcPr/>
                </a:tc>
                <a:tc>
                  <a:txBody>
                    <a:bodyPr/>
                    <a:lstStyle/>
                    <a:p>
                      <a:r>
                        <a:rPr lang="en-US" dirty="0"/>
                        <a:t>1.82</a:t>
                      </a:r>
                      <a:endParaRPr lang="en-IE" dirty="0"/>
                    </a:p>
                  </a:txBody>
                  <a:tcPr/>
                </a:tc>
                <a:tc>
                  <a:txBody>
                    <a:bodyPr/>
                    <a:lstStyle/>
                    <a:p>
                      <a:r>
                        <a:rPr lang="en-US" dirty="0"/>
                        <a:t>3.3</a:t>
                      </a:r>
                      <a:endParaRPr lang="en-IE" dirty="0"/>
                    </a:p>
                  </a:txBody>
                  <a:tcPr/>
                </a:tc>
                <a:tc>
                  <a:txBody>
                    <a:bodyPr/>
                    <a:lstStyle/>
                    <a:p>
                      <a:endParaRPr lang="en-IE" dirty="0"/>
                    </a:p>
                  </a:txBody>
                  <a:tcPr/>
                </a:tc>
                <a:extLst>
                  <a:ext uri="{0D108BD9-81ED-4DB2-BD59-A6C34878D82A}">
                    <a16:rowId xmlns:a16="http://schemas.microsoft.com/office/drawing/2014/main" val="397402320"/>
                  </a:ext>
                </a:extLst>
              </a:tr>
            </a:tbl>
          </a:graphicData>
        </a:graphic>
      </p:graphicFrame>
      <p:sp>
        <p:nvSpPr>
          <p:cNvPr id="8" name="TextBox 7">
            <a:extLst>
              <a:ext uri="{FF2B5EF4-FFF2-40B4-BE49-F238E27FC236}">
                <a16:creationId xmlns:a16="http://schemas.microsoft.com/office/drawing/2014/main" id="{210AB710-8A83-7E56-F085-3356191559D7}"/>
              </a:ext>
            </a:extLst>
          </p:cNvPr>
          <p:cNvSpPr txBox="1"/>
          <p:nvPr/>
        </p:nvSpPr>
        <p:spPr>
          <a:xfrm>
            <a:off x="1523999" y="3739304"/>
            <a:ext cx="9389807" cy="2585323"/>
          </a:xfrm>
          <a:prstGeom prst="rect">
            <a:avLst/>
          </a:prstGeom>
          <a:noFill/>
        </p:spPr>
        <p:txBody>
          <a:bodyPr wrap="square" rtlCol="0">
            <a:spAutoFit/>
          </a:bodyPr>
          <a:lstStyle/>
          <a:p>
            <a:pPr marL="285750" indent="-285750">
              <a:buFontTx/>
              <a:buChar char="-"/>
            </a:pPr>
            <a:r>
              <a:rPr lang="en-US" dirty="0"/>
              <a:t>Samples are measured on 3</a:t>
            </a:r>
            <a:r>
              <a:rPr lang="en-US" baseline="30000" dirty="0"/>
              <a:t>rd</a:t>
            </a:r>
            <a:r>
              <a:rPr lang="en-US" dirty="0"/>
              <a:t> Oct by SGS and 25</a:t>
            </a:r>
            <a:r>
              <a:rPr lang="en-US" baseline="30000" dirty="0"/>
              <a:t>th</a:t>
            </a:r>
            <a:r>
              <a:rPr lang="en-US" dirty="0"/>
              <a:t> Sept internally. </a:t>
            </a:r>
          </a:p>
          <a:p>
            <a:pPr marL="285750" indent="-285750">
              <a:buFontTx/>
              <a:buChar char="-"/>
            </a:pPr>
            <a:r>
              <a:rPr lang="en-US" dirty="0"/>
              <a:t>Sample preparation dates are listed. </a:t>
            </a:r>
          </a:p>
          <a:p>
            <a:pPr marL="285750" indent="-285750">
              <a:buFontTx/>
              <a:buChar char="-"/>
            </a:pPr>
            <a:r>
              <a:rPr lang="en-US" dirty="0"/>
              <a:t>50% has largest deviation, unclear why </a:t>
            </a:r>
            <a:r>
              <a:rPr lang="en-US" dirty="0" err="1"/>
              <a:t>sgs</a:t>
            </a:r>
            <a:r>
              <a:rPr lang="en-US" dirty="0"/>
              <a:t> managed to measure &gt;90. </a:t>
            </a:r>
          </a:p>
          <a:p>
            <a:pPr marL="285750" indent="-285750">
              <a:buFontTx/>
              <a:buChar char="-"/>
            </a:pPr>
            <a:r>
              <a:rPr lang="en-US" dirty="0"/>
              <a:t>The 100 and 200% samples have largest deviation, suspected is due to the difference in measurement times. </a:t>
            </a:r>
          </a:p>
          <a:p>
            <a:pPr marL="285750" indent="-285750">
              <a:buFontTx/>
              <a:buChar char="-"/>
            </a:pPr>
            <a:r>
              <a:rPr lang="en-US" dirty="0"/>
              <a:t>SGS measurement of pure MFO is higher than allowable standard (3.3 mg KOH/g oil). </a:t>
            </a:r>
          </a:p>
          <a:p>
            <a:pPr marL="285750" indent="-285750">
              <a:buFontTx/>
              <a:buChar char="-"/>
            </a:pPr>
            <a:r>
              <a:rPr lang="en-US" dirty="0"/>
              <a:t>SGS results would suggest that no significant difference in acidity was observed when the samples are aged after a few weeks time. </a:t>
            </a:r>
          </a:p>
          <a:p>
            <a:pPr marL="285750" indent="-285750">
              <a:buFontTx/>
              <a:buChar char="-"/>
            </a:pPr>
            <a:endParaRPr lang="en-IE" dirty="0"/>
          </a:p>
        </p:txBody>
      </p:sp>
    </p:spTree>
    <p:extLst>
      <p:ext uri="{BB962C8B-B14F-4D97-AF65-F5344CB8AC3E}">
        <p14:creationId xmlns:p14="http://schemas.microsoft.com/office/powerpoint/2010/main" val="3932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8605F-B15C-75A9-A206-C30C1154A6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704801-A527-29C4-04C0-FDB4981F853D}"/>
              </a:ext>
            </a:extLst>
          </p:cNvPr>
          <p:cNvSpPr>
            <a:spLocks noGrp="1"/>
          </p:cNvSpPr>
          <p:nvPr>
            <p:ph type="body" sz="quarter" idx="11"/>
          </p:nvPr>
        </p:nvSpPr>
        <p:spPr/>
        <p:txBody>
          <a:bodyPr/>
          <a:lstStyle/>
          <a:p>
            <a:r>
              <a:rPr lang="en-AU" dirty="0"/>
              <a:t>Reconciliating internal measurements with external labs</a:t>
            </a:r>
          </a:p>
        </p:txBody>
      </p:sp>
      <p:sp>
        <p:nvSpPr>
          <p:cNvPr id="3" name="Text Placeholder 2">
            <a:extLst>
              <a:ext uri="{FF2B5EF4-FFF2-40B4-BE49-F238E27FC236}">
                <a16:creationId xmlns:a16="http://schemas.microsoft.com/office/drawing/2014/main" id="{BF77D2F6-52B0-37CA-C991-7D30A8BC83D8}"/>
              </a:ext>
            </a:extLst>
          </p:cNvPr>
          <p:cNvSpPr>
            <a:spLocks noGrp="1"/>
          </p:cNvSpPr>
          <p:nvPr>
            <p:ph type="body" sz="quarter" idx="13"/>
          </p:nvPr>
        </p:nvSpPr>
        <p:spPr>
          <a:xfrm>
            <a:off x="306060" y="326309"/>
            <a:ext cx="9221398" cy="736956"/>
          </a:xfrm>
        </p:spPr>
        <p:txBody>
          <a:bodyPr/>
          <a:lstStyle/>
          <a:p>
            <a:r>
              <a:rPr lang="en-AU" dirty="0"/>
              <a:t>The effects of water stripping to acidity</a:t>
            </a:r>
          </a:p>
        </p:txBody>
      </p:sp>
      <p:sp>
        <p:nvSpPr>
          <p:cNvPr id="6" name="Slide Number Placeholder 3">
            <a:extLst>
              <a:ext uri="{FF2B5EF4-FFF2-40B4-BE49-F238E27FC236}">
                <a16:creationId xmlns:a16="http://schemas.microsoft.com/office/drawing/2014/main" id="{D2B75974-D562-4172-C2AC-2EDC4218D6F5}"/>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38</a:t>
            </a:fld>
            <a:endParaRPr lang="en-MY" sz="1600" dirty="0">
              <a:latin typeface="Arial Narrow" panose="020B0606020202030204" pitchFamily="34" charset="0"/>
            </a:endParaRPr>
          </a:p>
        </p:txBody>
      </p:sp>
      <p:sp>
        <p:nvSpPr>
          <p:cNvPr id="8" name="TextBox 7">
            <a:extLst>
              <a:ext uri="{FF2B5EF4-FFF2-40B4-BE49-F238E27FC236}">
                <a16:creationId xmlns:a16="http://schemas.microsoft.com/office/drawing/2014/main" id="{DDBF00AE-EDC0-FF05-240D-3EB5CAE6EA12}"/>
              </a:ext>
            </a:extLst>
          </p:cNvPr>
          <p:cNvSpPr txBox="1"/>
          <p:nvPr/>
        </p:nvSpPr>
        <p:spPr>
          <a:xfrm>
            <a:off x="811484" y="2136898"/>
            <a:ext cx="10112155" cy="2308324"/>
          </a:xfrm>
          <a:prstGeom prst="rect">
            <a:avLst/>
          </a:prstGeom>
          <a:noFill/>
        </p:spPr>
        <p:txBody>
          <a:bodyPr wrap="square" rtlCol="0">
            <a:spAutoFit/>
          </a:bodyPr>
          <a:lstStyle/>
          <a:p>
            <a:pPr marL="285750" indent="-285750">
              <a:buFontTx/>
              <a:buChar char="-"/>
            </a:pPr>
            <a:r>
              <a:rPr lang="en-US" dirty="0"/>
              <a:t>Water stripping may be removing substances that will polymerize eventually anyways after heating. </a:t>
            </a:r>
            <a:r>
              <a:rPr lang="en-US" dirty="0" err="1"/>
              <a:t>Pyoil</a:t>
            </a:r>
            <a:r>
              <a:rPr lang="en-US" dirty="0"/>
              <a:t> is unstable at high temperatures and will continue to react even after cooling down. </a:t>
            </a:r>
          </a:p>
          <a:p>
            <a:pPr marL="285750" indent="-285750">
              <a:buFontTx/>
              <a:buChar char="-"/>
            </a:pPr>
            <a:r>
              <a:rPr lang="en-US" dirty="0"/>
              <a:t>Expected TAN to go down over time, viscosity go up, due to distillation removing water, </a:t>
            </a:r>
            <a:r>
              <a:rPr lang="en-US" dirty="0" err="1"/>
              <a:t>favouring</a:t>
            </a:r>
            <a:r>
              <a:rPr lang="en-US" dirty="0"/>
              <a:t> polymerization. </a:t>
            </a:r>
          </a:p>
          <a:p>
            <a:pPr marL="285750" indent="-285750">
              <a:buFontTx/>
              <a:buChar char="-"/>
            </a:pPr>
            <a:r>
              <a:rPr lang="en-US" dirty="0"/>
              <a:t>Previous results that suggest that TAN goes up due to aging can be explained due to systemic experimental error, notably low titrant/large error at calibrations. </a:t>
            </a:r>
          </a:p>
          <a:p>
            <a:pPr marL="285750" indent="-285750">
              <a:buFontTx/>
              <a:buChar char="-"/>
            </a:pPr>
            <a:endParaRPr lang="en-IE" dirty="0"/>
          </a:p>
        </p:txBody>
      </p:sp>
    </p:spTree>
    <p:extLst>
      <p:ext uri="{BB962C8B-B14F-4D97-AF65-F5344CB8AC3E}">
        <p14:creationId xmlns:p14="http://schemas.microsoft.com/office/powerpoint/2010/main" val="2283303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10494-A6C3-AA11-0135-58C147956C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084198-AB53-2A40-30EE-60E0AACBEC61}"/>
              </a:ext>
            </a:extLst>
          </p:cNvPr>
          <p:cNvSpPr>
            <a:spLocks noGrp="1"/>
          </p:cNvSpPr>
          <p:nvPr>
            <p:ph type="body" sz="quarter" idx="11"/>
          </p:nvPr>
        </p:nvSpPr>
        <p:spPr/>
        <p:txBody>
          <a:bodyPr/>
          <a:lstStyle/>
          <a:p>
            <a:r>
              <a:rPr lang="en-AU" dirty="0"/>
              <a:t>Future plans</a:t>
            </a:r>
          </a:p>
        </p:txBody>
      </p:sp>
      <p:sp>
        <p:nvSpPr>
          <p:cNvPr id="3" name="Text Placeholder 2">
            <a:extLst>
              <a:ext uri="{FF2B5EF4-FFF2-40B4-BE49-F238E27FC236}">
                <a16:creationId xmlns:a16="http://schemas.microsoft.com/office/drawing/2014/main" id="{560580BE-FDDB-CE03-DE67-169BB15149E1}"/>
              </a:ext>
            </a:extLst>
          </p:cNvPr>
          <p:cNvSpPr>
            <a:spLocks noGrp="1"/>
          </p:cNvSpPr>
          <p:nvPr>
            <p:ph type="body" sz="quarter" idx="13"/>
          </p:nvPr>
        </p:nvSpPr>
        <p:spPr>
          <a:xfrm>
            <a:off x="306060" y="326309"/>
            <a:ext cx="9221398" cy="736956"/>
          </a:xfrm>
        </p:spPr>
        <p:txBody>
          <a:bodyPr/>
          <a:lstStyle/>
          <a:p>
            <a:r>
              <a:rPr lang="en-AU" dirty="0"/>
              <a:t>The effects of water stripping to acidity</a:t>
            </a:r>
          </a:p>
        </p:txBody>
      </p:sp>
      <p:sp>
        <p:nvSpPr>
          <p:cNvPr id="6" name="Slide Number Placeholder 3">
            <a:extLst>
              <a:ext uri="{FF2B5EF4-FFF2-40B4-BE49-F238E27FC236}">
                <a16:creationId xmlns:a16="http://schemas.microsoft.com/office/drawing/2014/main" id="{6FDB560A-E21A-FDC8-49A3-EC0748A4EA5F}"/>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39</a:t>
            </a:fld>
            <a:endParaRPr lang="en-MY" sz="1600" dirty="0">
              <a:latin typeface="Arial Narrow" panose="020B0606020202030204" pitchFamily="34" charset="0"/>
            </a:endParaRPr>
          </a:p>
        </p:txBody>
      </p:sp>
      <p:sp>
        <p:nvSpPr>
          <p:cNvPr id="8" name="TextBox 7">
            <a:extLst>
              <a:ext uri="{FF2B5EF4-FFF2-40B4-BE49-F238E27FC236}">
                <a16:creationId xmlns:a16="http://schemas.microsoft.com/office/drawing/2014/main" id="{7FF28BB8-DADA-31F1-0EA8-F281647C77F5}"/>
              </a:ext>
            </a:extLst>
          </p:cNvPr>
          <p:cNvSpPr txBox="1"/>
          <p:nvPr/>
        </p:nvSpPr>
        <p:spPr>
          <a:xfrm>
            <a:off x="457916" y="1582340"/>
            <a:ext cx="10112155" cy="3416320"/>
          </a:xfrm>
          <a:prstGeom prst="rect">
            <a:avLst/>
          </a:prstGeom>
          <a:noFill/>
        </p:spPr>
        <p:txBody>
          <a:bodyPr wrap="square" rtlCol="0">
            <a:spAutoFit/>
          </a:bodyPr>
          <a:lstStyle/>
          <a:p>
            <a:pPr marL="285750" indent="-285750">
              <a:buFontTx/>
              <a:buChar char="-"/>
            </a:pPr>
            <a:r>
              <a:rPr lang="en-US" dirty="0"/>
              <a:t>If we want to proceed with this, need to shift focus to maybe compounds extraction via water stripping? </a:t>
            </a:r>
          </a:p>
          <a:p>
            <a:pPr marL="742950" lvl="1" indent="-285750">
              <a:buFontTx/>
              <a:buChar char="-"/>
            </a:pPr>
            <a:r>
              <a:rPr lang="en-US" dirty="0"/>
              <a:t>Basically a GC-MS paper. </a:t>
            </a:r>
          </a:p>
          <a:p>
            <a:pPr marL="285750" indent="-285750">
              <a:buFontTx/>
              <a:buChar char="-"/>
            </a:pPr>
            <a:r>
              <a:rPr lang="en-US" dirty="0"/>
              <a:t>If want to proceed with this, timed and scheduled experiments will be required. </a:t>
            </a:r>
          </a:p>
          <a:p>
            <a:pPr marL="742950" lvl="1" indent="-285750">
              <a:buFontTx/>
              <a:buChar char="-"/>
            </a:pPr>
            <a:r>
              <a:rPr lang="en-US" dirty="0"/>
              <a:t>Basically full aging study, then focus on what GC-MS says we extracted from the oil. </a:t>
            </a:r>
          </a:p>
          <a:p>
            <a:pPr marL="742950" lvl="1" indent="-285750">
              <a:buFontTx/>
              <a:buChar char="-"/>
            </a:pPr>
            <a:r>
              <a:rPr lang="en-US" dirty="0"/>
              <a:t>Main competition is with water extraction, can say that this produces a cleaner product than direct LLE with water. </a:t>
            </a:r>
          </a:p>
          <a:p>
            <a:pPr marL="285750" indent="-285750">
              <a:buFontTx/>
              <a:buChar char="-"/>
            </a:pPr>
            <a:r>
              <a:rPr lang="en-US" dirty="0"/>
              <a:t>To write a paper on this: </a:t>
            </a:r>
          </a:p>
          <a:p>
            <a:pPr marL="742950" lvl="1" indent="-285750">
              <a:buFontTx/>
              <a:buChar char="-"/>
            </a:pPr>
            <a:r>
              <a:rPr lang="en-US" dirty="0"/>
              <a:t>TAN, water content, GC-MS (main deal), aging of BOTH distillate and bottom phase. </a:t>
            </a:r>
          </a:p>
          <a:p>
            <a:pPr marL="742950" lvl="1" indent="-285750">
              <a:buFontTx/>
              <a:buChar char="-"/>
            </a:pPr>
            <a:r>
              <a:rPr lang="en-US" dirty="0"/>
              <a:t>Main bottleneck currently: the GC-MS is refusing to detect acetic acid. Other papers use the same column and same </a:t>
            </a:r>
            <a:r>
              <a:rPr lang="en-US" dirty="0" err="1"/>
              <a:t>agilent</a:t>
            </a:r>
            <a:r>
              <a:rPr lang="en-US" dirty="0"/>
              <a:t> GC-MS and can detect. </a:t>
            </a:r>
          </a:p>
          <a:p>
            <a:pPr marL="285750" indent="-285750">
              <a:buFontTx/>
              <a:buChar char="-"/>
            </a:pPr>
            <a:endParaRPr lang="en-IE" dirty="0"/>
          </a:p>
        </p:txBody>
      </p:sp>
    </p:spTree>
    <p:extLst>
      <p:ext uri="{BB962C8B-B14F-4D97-AF65-F5344CB8AC3E}">
        <p14:creationId xmlns:p14="http://schemas.microsoft.com/office/powerpoint/2010/main" val="344627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AF609-39DB-3CC1-6059-D02EDFDF70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C16773-8ED2-AD67-6CAD-752C0FCCAED9}"/>
              </a:ext>
            </a:extLst>
          </p:cNvPr>
          <p:cNvSpPr>
            <a:spLocks noGrp="1"/>
          </p:cNvSpPr>
          <p:nvPr>
            <p:ph type="body" sz="quarter" idx="11"/>
          </p:nvPr>
        </p:nvSpPr>
        <p:spPr/>
        <p:txBody>
          <a:bodyPr/>
          <a:lstStyle/>
          <a:p>
            <a:r>
              <a:rPr lang="en-AU" dirty="0"/>
              <a:t>How to continue the Phase 1 study</a:t>
            </a:r>
          </a:p>
        </p:txBody>
      </p:sp>
      <p:sp>
        <p:nvSpPr>
          <p:cNvPr id="3" name="Text Placeholder 2">
            <a:extLst>
              <a:ext uri="{FF2B5EF4-FFF2-40B4-BE49-F238E27FC236}">
                <a16:creationId xmlns:a16="http://schemas.microsoft.com/office/drawing/2014/main" id="{995F5328-5B47-A50E-DEC1-8C69364C6BED}"/>
              </a:ext>
            </a:extLst>
          </p:cNvPr>
          <p:cNvSpPr>
            <a:spLocks noGrp="1"/>
          </p:cNvSpPr>
          <p:nvPr>
            <p:ph type="body" sz="quarter" idx="13"/>
          </p:nvPr>
        </p:nvSpPr>
        <p:spPr>
          <a:xfrm>
            <a:off x="306060" y="326309"/>
            <a:ext cx="9221398" cy="736956"/>
          </a:xfrm>
        </p:spPr>
        <p:txBody>
          <a:bodyPr/>
          <a:lstStyle/>
          <a:p>
            <a:r>
              <a:rPr lang="en-AU" dirty="0"/>
              <a:t>The storyline</a:t>
            </a:r>
          </a:p>
        </p:txBody>
      </p:sp>
      <p:sp>
        <p:nvSpPr>
          <p:cNvPr id="6" name="Slide Number Placeholder 3">
            <a:extLst>
              <a:ext uri="{FF2B5EF4-FFF2-40B4-BE49-F238E27FC236}">
                <a16:creationId xmlns:a16="http://schemas.microsoft.com/office/drawing/2014/main" id="{62F58D1B-228D-FF39-00B1-E7755F801389}"/>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40</a:t>
            </a:fld>
            <a:endParaRPr lang="en-MY" sz="1600" dirty="0">
              <a:latin typeface="Arial Narrow" panose="020B0606020202030204" pitchFamily="34" charset="0"/>
            </a:endParaRPr>
          </a:p>
        </p:txBody>
      </p:sp>
      <p:sp>
        <p:nvSpPr>
          <p:cNvPr id="8" name="TextBox 7">
            <a:extLst>
              <a:ext uri="{FF2B5EF4-FFF2-40B4-BE49-F238E27FC236}">
                <a16:creationId xmlns:a16="http://schemas.microsoft.com/office/drawing/2014/main" id="{DEB4C311-7405-23CE-40F2-E08F0FCC7B6D}"/>
              </a:ext>
            </a:extLst>
          </p:cNvPr>
          <p:cNvSpPr txBox="1"/>
          <p:nvPr/>
        </p:nvSpPr>
        <p:spPr>
          <a:xfrm>
            <a:off x="722993" y="1445229"/>
            <a:ext cx="10112155" cy="2862322"/>
          </a:xfrm>
          <a:prstGeom prst="rect">
            <a:avLst/>
          </a:prstGeom>
          <a:noFill/>
        </p:spPr>
        <p:txBody>
          <a:bodyPr wrap="square" rtlCol="0">
            <a:spAutoFit/>
          </a:bodyPr>
          <a:lstStyle/>
          <a:p>
            <a:pPr marL="285750" indent="-285750">
              <a:buFontTx/>
              <a:buChar char="-"/>
            </a:pPr>
            <a:r>
              <a:rPr lang="en-US" dirty="0"/>
              <a:t>We don’t say that water stripping fail, we say that it didn’t address the acidity problem but we extract value-added compounds from the oil? </a:t>
            </a:r>
          </a:p>
          <a:p>
            <a:pPr marL="285750" indent="-285750">
              <a:buFontTx/>
              <a:buChar char="-"/>
            </a:pPr>
            <a:r>
              <a:rPr lang="en-US" dirty="0"/>
              <a:t>Follow up by saying that we think another way (water extraction, vacuum dry and age) might still work out, given that we can still get value added distillate. Still focus on GC-MS as the primary tool to see what we can pull out. </a:t>
            </a:r>
          </a:p>
          <a:p>
            <a:pPr marL="285750" indent="-285750">
              <a:buFontTx/>
              <a:buChar char="-"/>
            </a:pPr>
            <a:r>
              <a:rPr lang="en-US" dirty="0"/>
              <a:t>So the story goes like this: before we use whatever bottoms we have left as MFO, we try to extract useful stuff from it first. 	</a:t>
            </a:r>
          </a:p>
          <a:p>
            <a:pPr marL="285750" indent="-285750">
              <a:buFontTx/>
              <a:buChar char="-"/>
            </a:pPr>
            <a:endParaRPr lang="en-US" dirty="0"/>
          </a:p>
          <a:p>
            <a:pPr marL="285750" indent="-285750">
              <a:buFontTx/>
              <a:buChar char="-"/>
            </a:pPr>
            <a:endParaRPr lang="en-US" dirty="0"/>
          </a:p>
          <a:p>
            <a:pPr marL="285750" indent="-285750">
              <a:buFontTx/>
              <a:buChar char="-"/>
            </a:pPr>
            <a:endParaRPr lang="en-IE" dirty="0"/>
          </a:p>
        </p:txBody>
      </p:sp>
    </p:spTree>
    <p:extLst>
      <p:ext uri="{BB962C8B-B14F-4D97-AF65-F5344CB8AC3E}">
        <p14:creationId xmlns:p14="http://schemas.microsoft.com/office/powerpoint/2010/main" val="2097500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C7C3-B0C5-5A46-779B-0ABBC64E718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A0D43F-7DC1-8082-8F5D-A22CEAF13941}"/>
              </a:ext>
            </a:extLst>
          </p:cNvPr>
          <p:cNvSpPr>
            <a:spLocks noGrp="1"/>
          </p:cNvSpPr>
          <p:nvPr>
            <p:ph type="body" sz="quarter" idx="11"/>
          </p:nvPr>
        </p:nvSpPr>
        <p:spPr/>
        <p:txBody>
          <a:bodyPr/>
          <a:lstStyle/>
          <a:p>
            <a:r>
              <a:rPr lang="en-AU" dirty="0"/>
              <a:t>Miscellaneous Content</a:t>
            </a:r>
          </a:p>
        </p:txBody>
      </p:sp>
      <p:sp>
        <p:nvSpPr>
          <p:cNvPr id="3" name="Text Placeholder 2">
            <a:extLst>
              <a:ext uri="{FF2B5EF4-FFF2-40B4-BE49-F238E27FC236}">
                <a16:creationId xmlns:a16="http://schemas.microsoft.com/office/drawing/2014/main" id="{309D4857-2BBB-037A-B508-F67BD46E10AC}"/>
              </a:ext>
            </a:extLst>
          </p:cNvPr>
          <p:cNvSpPr>
            <a:spLocks noGrp="1"/>
          </p:cNvSpPr>
          <p:nvPr>
            <p:ph type="body" sz="quarter" idx="13"/>
          </p:nvPr>
        </p:nvSpPr>
        <p:spPr>
          <a:xfrm>
            <a:off x="306060" y="326309"/>
            <a:ext cx="9221398" cy="736956"/>
          </a:xfrm>
        </p:spPr>
        <p:txBody>
          <a:bodyPr/>
          <a:lstStyle/>
          <a:p>
            <a:r>
              <a:rPr lang="en-AU" dirty="0"/>
              <a:t>The effects of water stripping to acidity</a:t>
            </a:r>
          </a:p>
        </p:txBody>
      </p:sp>
      <p:sp>
        <p:nvSpPr>
          <p:cNvPr id="6" name="Slide Number Placeholder 3">
            <a:extLst>
              <a:ext uri="{FF2B5EF4-FFF2-40B4-BE49-F238E27FC236}">
                <a16:creationId xmlns:a16="http://schemas.microsoft.com/office/drawing/2014/main" id="{D639CFB7-B775-EDEA-8BFD-DE4E03E52E62}"/>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41</a:t>
            </a:fld>
            <a:endParaRPr lang="en-MY" sz="1600" dirty="0">
              <a:latin typeface="Arial Narrow" panose="020B0606020202030204" pitchFamily="34" charset="0"/>
            </a:endParaRPr>
          </a:p>
        </p:txBody>
      </p:sp>
      <p:sp>
        <p:nvSpPr>
          <p:cNvPr id="8" name="TextBox 7">
            <a:extLst>
              <a:ext uri="{FF2B5EF4-FFF2-40B4-BE49-F238E27FC236}">
                <a16:creationId xmlns:a16="http://schemas.microsoft.com/office/drawing/2014/main" id="{CB8DCD50-AE7A-6F3F-29DC-DC9D2BDA932E}"/>
              </a:ext>
            </a:extLst>
          </p:cNvPr>
          <p:cNvSpPr txBox="1"/>
          <p:nvPr/>
        </p:nvSpPr>
        <p:spPr>
          <a:xfrm>
            <a:off x="722993" y="1445229"/>
            <a:ext cx="10112155" cy="4247317"/>
          </a:xfrm>
          <a:prstGeom prst="rect">
            <a:avLst/>
          </a:prstGeom>
          <a:noFill/>
        </p:spPr>
        <p:txBody>
          <a:bodyPr wrap="square" rtlCol="0">
            <a:spAutoFit/>
          </a:bodyPr>
          <a:lstStyle/>
          <a:p>
            <a:pPr marL="285750" indent="-285750">
              <a:buFontTx/>
              <a:buChar char="-"/>
            </a:pPr>
            <a:r>
              <a:rPr lang="en-US" dirty="0"/>
              <a:t>Investigating other pathways to reduce the TAN: </a:t>
            </a:r>
          </a:p>
          <a:p>
            <a:pPr marL="742950" lvl="1" indent="-285750">
              <a:buFontTx/>
              <a:buChar char="-"/>
            </a:pPr>
            <a:r>
              <a:rPr lang="en-US" dirty="0"/>
              <a:t>Alcoholic Esterification: FYP, attempt uses of other entrainers (one potential is </a:t>
            </a:r>
            <a:r>
              <a:rPr lang="en-US" dirty="0" err="1"/>
              <a:t>diethylether</a:t>
            </a:r>
            <a:r>
              <a:rPr lang="en-US" dirty="0"/>
              <a:t>, although there’s some safety concerns) </a:t>
            </a:r>
          </a:p>
          <a:p>
            <a:pPr marL="742950" lvl="1" indent="-285750">
              <a:buFontTx/>
              <a:buChar char="-"/>
            </a:pPr>
            <a:r>
              <a:rPr lang="en-US" dirty="0"/>
              <a:t>Phenyl Esterification </a:t>
            </a:r>
          </a:p>
          <a:p>
            <a:pPr marL="742950" lvl="1" indent="-285750">
              <a:buFontTx/>
              <a:buChar char="-"/>
            </a:pPr>
            <a:r>
              <a:rPr lang="en-US" dirty="0"/>
              <a:t>Water Extraction, neutralization: not research-grade worthy unless maybe we investigate aging after a series of extractions? </a:t>
            </a:r>
          </a:p>
          <a:p>
            <a:pPr marL="285750" indent="-285750">
              <a:buFontTx/>
              <a:buChar char="-"/>
            </a:pPr>
            <a:r>
              <a:rPr lang="en-US" dirty="0"/>
              <a:t>Analysis methodologies</a:t>
            </a:r>
          </a:p>
          <a:p>
            <a:pPr marL="742950" lvl="1" indent="-285750">
              <a:buFontTx/>
              <a:buChar char="-"/>
            </a:pPr>
            <a:r>
              <a:rPr lang="en-US" dirty="0"/>
              <a:t>GC-MS: can load 3 vials at a time, cannot detect acetic acid, try new more polar column (DB-WAX instead of HP-5) </a:t>
            </a:r>
          </a:p>
          <a:p>
            <a:pPr marL="742950" lvl="1" indent="-285750">
              <a:buFontTx/>
              <a:buChar char="-"/>
            </a:pPr>
            <a:r>
              <a:rPr lang="en-US" dirty="0"/>
              <a:t>KF: Our current method seems to overestimate the water content of </a:t>
            </a:r>
            <a:r>
              <a:rPr lang="en-US" dirty="0" err="1"/>
              <a:t>pyoil</a:t>
            </a:r>
            <a:r>
              <a:rPr lang="en-US" dirty="0"/>
              <a:t> by 4x compared to SGS. </a:t>
            </a:r>
          </a:p>
          <a:p>
            <a:pPr marL="285750" indent="-285750">
              <a:buFontTx/>
              <a:buChar char="-"/>
            </a:pPr>
            <a:r>
              <a:rPr lang="en-US" dirty="0"/>
              <a:t>Miscibility and homogeneity: Blending </a:t>
            </a:r>
            <a:r>
              <a:rPr lang="en-US" dirty="0" err="1"/>
              <a:t>pyoil</a:t>
            </a:r>
            <a:r>
              <a:rPr lang="en-US" dirty="0"/>
              <a:t> with MFO has miscibility problems, evidenced by blend in tube -&gt; sample -&gt; measure vs blend in beaker -&gt; measure. Latter matches up with TAN modelling</a:t>
            </a:r>
          </a:p>
          <a:p>
            <a:pPr marL="285750" indent="-285750">
              <a:buFontTx/>
              <a:buChar char="-"/>
            </a:pPr>
            <a:endParaRPr lang="en-IE" dirty="0"/>
          </a:p>
        </p:txBody>
      </p:sp>
    </p:spTree>
    <p:extLst>
      <p:ext uri="{BB962C8B-B14F-4D97-AF65-F5344CB8AC3E}">
        <p14:creationId xmlns:p14="http://schemas.microsoft.com/office/powerpoint/2010/main" val="2132185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endParaRPr lang="en-AU" dirty="0"/>
          </a:p>
        </p:txBody>
      </p:sp>
      <p:sp>
        <p:nvSpPr>
          <p:cNvPr id="3" name="Text Placeholder 2"/>
          <p:cNvSpPr>
            <a:spLocks noGrp="1"/>
          </p:cNvSpPr>
          <p:nvPr>
            <p:ph type="body" sz="quarter" idx="13"/>
          </p:nvPr>
        </p:nvSpPr>
        <p:spPr/>
        <p:txBody>
          <a:bodyPr/>
          <a:lstStyle/>
          <a:p>
            <a:endParaRPr lang="en-AU"/>
          </a:p>
        </p:txBody>
      </p:sp>
      <p:sp>
        <p:nvSpPr>
          <p:cNvPr id="4" name="Text Placeholder 3"/>
          <p:cNvSpPr>
            <a:spLocks noGrp="1"/>
          </p:cNvSpPr>
          <p:nvPr>
            <p:ph type="body" sz="quarter" idx="14"/>
          </p:nvPr>
        </p:nvSpPr>
        <p:spPr/>
        <p:txBody>
          <a:bodyPr/>
          <a:lstStyle/>
          <a:p>
            <a:endParaRPr lang="en-AU"/>
          </a:p>
        </p:txBody>
      </p:sp>
      <p:sp>
        <p:nvSpPr>
          <p:cNvPr id="5" name="Text Placeholder 4"/>
          <p:cNvSpPr>
            <a:spLocks noGrp="1"/>
          </p:cNvSpPr>
          <p:nvPr>
            <p:ph type="body" sz="quarter" idx="16"/>
          </p:nvPr>
        </p:nvSpPr>
        <p:spPr/>
        <p:txBody>
          <a:bodyPr/>
          <a:lstStyle/>
          <a:p>
            <a:endParaRPr lang="en-AU" dirty="0"/>
          </a:p>
        </p:txBody>
      </p:sp>
      <p:sp>
        <p:nvSpPr>
          <p:cNvPr id="6" name="Slide Number Placeholder 3">
            <a:extLst>
              <a:ext uri="{FF2B5EF4-FFF2-40B4-BE49-F238E27FC236}">
                <a16:creationId xmlns:a16="http://schemas.microsoft.com/office/drawing/2014/main" id="{5E27F27A-921D-32EC-6D95-CEBD16E41A92}"/>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42</a:t>
            </a:fld>
            <a:endParaRPr lang="en-MY" sz="1600" dirty="0">
              <a:latin typeface="Arial Narrow" panose="020B0606020202030204" pitchFamily="34" charset="0"/>
            </a:endParaRPr>
          </a:p>
        </p:txBody>
      </p:sp>
    </p:spTree>
    <p:extLst>
      <p:ext uri="{BB962C8B-B14F-4D97-AF65-F5344CB8AC3E}">
        <p14:creationId xmlns:p14="http://schemas.microsoft.com/office/powerpoint/2010/main" val="3290419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42E9-E1CE-43D7-3C66-8EBE8CB9E9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846F8C-B979-19EA-01A1-D6B67AD28623}"/>
              </a:ext>
            </a:extLst>
          </p:cNvPr>
          <p:cNvSpPr>
            <a:spLocks noGrp="1"/>
          </p:cNvSpPr>
          <p:nvPr>
            <p:ph type="body" sz="quarter" idx="11"/>
          </p:nvPr>
        </p:nvSpPr>
        <p:spPr/>
        <p:txBody>
          <a:bodyPr/>
          <a:lstStyle/>
          <a:p>
            <a:endParaRPr lang="en-AU"/>
          </a:p>
        </p:txBody>
      </p:sp>
      <p:sp>
        <p:nvSpPr>
          <p:cNvPr id="3" name="Text Placeholder 2">
            <a:extLst>
              <a:ext uri="{FF2B5EF4-FFF2-40B4-BE49-F238E27FC236}">
                <a16:creationId xmlns:a16="http://schemas.microsoft.com/office/drawing/2014/main" id="{5A7EF71B-82E4-C041-C7EF-FE3C2EF03FBC}"/>
              </a:ext>
            </a:extLst>
          </p:cNvPr>
          <p:cNvSpPr>
            <a:spLocks noGrp="1"/>
          </p:cNvSpPr>
          <p:nvPr>
            <p:ph type="body" sz="quarter" idx="12"/>
          </p:nvPr>
        </p:nvSpPr>
        <p:spPr/>
        <p:txBody>
          <a:bodyPr/>
          <a:lstStyle/>
          <a:p>
            <a:endParaRPr lang="en-AU"/>
          </a:p>
        </p:txBody>
      </p:sp>
      <p:sp>
        <p:nvSpPr>
          <p:cNvPr id="4" name="Text Placeholder 3">
            <a:extLst>
              <a:ext uri="{FF2B5EF4-FFF2-40B4-BE49-F238E27FC236}">
                <a16:creationId xmlns:a16="http://schemas.microsoft.com/office/drawing/2014/main" id="{4C685F34-B07E-7335-3F40-6BB4C1D24F77}"/>
              </a:ext>
            </a:extLst>
          </p:cNvPr>
          <p:cNvSpPr>
            <a:spLocks noGrp="1"/>
          </p:cNvSpPr>
          <p:nvPr>
            <p:ph type="body" sz="quarter" idx="13"/>
          </p:nvPr>
        </p:nvSpPr>
        <p:spPr/>
        <p:txBody>
          <a:bodyPr/>
          <a:lstStyle/>
          <a:p>
            <a:endParaRPr lang="en-AU"/>
          </a:p>
        </p:txBody>
      </p:sp>
      <p:sp>
        <p:nvSpPr>
          <p:cNvPr id="5" name="Text Placeholder 4">
            <a:extLst>
              <a:ext uri="{FF2B5EF4-FFF2-40B4-BE49-F238E27FC236}">
                <a16:creationId xmlns:a16="http://schemas.microsoft.com/office/drawing/2014/main" id="{DD7B339D-8EC2-00FE-846A-023C3D00450E}"/>
              </a:ext>
            </a:extLst>
          </p:cNvPr>
          <p:cNvSpPr>
            <a:spLocks noGrp="1"/>
          </p:cNvSpPr>
          <p:nvPr>
            <p:ph type="body" sz="quarter" idx="14"/>
          </p:nvPr>
        </p:nvSpPr>
        <p:spPr/>
        <p:txBody>
          <a:bodyPr/>
          <a:lstStyle/>
          <a:p>
            <a:endParaRPr lang="en-AU"/>
          </a:p>
        </p:txBody>
      </p:sp>
      <p:sp>
        <p:nvSpPr>
          <p:cNvPr id="6" name="Slide Number Placeholder 3">
            <a:extLst>
              <a:ext uri="{FF2B5EF4-FFF2-40B4-BE49-F238E27FC236}">
                <a16:creationId xmlns:a16="http://schemas.microsoft.com/office/drawing/2014/main" id="{391F6850-040C-40FB-6757-D3347E11452E}"/>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43</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47B7096F-E8FD-46B9-5D23-9B7FB8B500FD}"/>
              </a:ext>
            </a:extLst>
          </p:cNvPr>
          <p:cNvGrpSpPr/>
          <p:nvPr/>
        </p:nvGrpSpPr>
        <p:grpSpPr>
          <a:xfrm>
            <a:off x="2983078" y="352517"/>
            <a:ext cx="1796393" cy="774699"/>
            <a:chOff x="5342217" y="1473060"/>
            <a:chExt cx="3054298" cy="1317173"/>
          </a:xfrm>
        </p:grpSpPr>
        <p:pic>
          <p:nvPicPr>
            <p:cNvPr id="8" name="Picture 7">
              <a:extLst>
                <a:ext uri="{FF2B5EF4-FFF2-40B4-BE49-F238E27FC236}">
                  <a16:creationId xmlns:a16="http://schemas.microsoft.com/office/drawing/2014/main" id="{D0307E26-17E7-68DB-CDD3-81CE31BBFD21}"/>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9" name="Straight Connector 8">
              <a:extLst>
                <a:ext uri="{FF2B5EF4-FFF2-40B4-BE49-F238E27FC236}">
                  <a16:creationId xmlns:a16="http://schemas.microsoft.com/office/drawing/2014/main" id="{506EA86C-616F-3329-AA28-5C9A2BB1ABAE}"/>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52612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endParaRPr lang="en-AU"/>
          </a:p>
        </p:txBody>
      </p:sp>
      <p:sp>
        <p:nvSpPr>
          <p:cNvPr id="3" name="Text Placeholder 2"/>
          <p:cNvSpPr>
            <a:spLocks noGrp="1"/>
          </p:cNvSpPr>
          <p:nvPr>
            <p:ph type="body" sz="quarter" idx="12"/>
          </p:nvPr>
        </p:nvSpPr>
        <p:spPr/>
        <p:txBody>
          <a:bodyPr/>
          <a:lstStyle/>
          <a:p>
            <a:endParaRPr lang="en-AU"/>
          </a:p>
        </p:txBody>
      </p:sp>
      <p:sp>
        <p:nvSpPr>
          <p:cNvPr id="4" name="Text Placeholder 3"/>
          <p:cNvSpPr>
            <a:spLocks noGrp="1"/>
          </p:cNvSpPr>
          <p:nvPr>
            <p:ph type="body" sz="quarter" idx="13"/>
          </p:nvPr>
        </p:nvSpPr>
        <p:spPr/>
        <p:txBody>
          <a:bodyPr/>
          <a:lstStyle/>
          <a:p>
            <a:endParaRPr lang="en-AU"/>
          </a:p>
        </p:txBody>
      </p:sp>
      <p:sp>
        <p:nvSpPr>
          <p:cNvPr id="5" name="Text Placeholder 4"/>
          <p:cNvSpPr>
            <a:spLocks noGrp="1"/>
          </p:cNvSpPr>
          <p:nvPr>
            <p:ph type="body" sz="quarter" idx="14"/>
          </p:nvPr>
        </p:nvSpPr>
        <p:spPr/>
        <p:txBody>
          <a:bodyPr/>
          <a:lstStyle/>
          <a:p>
            <a:endParaRPr lang="en-AU"/>
          </a:p>
        </p:txBody>
      </p:sp>
      <p:sp>
        <p:nvSpPr>
          <p:cNvPr id="6" name="Slide Number Placeholder 3">
            <a:extLst>
              <a:ext uri="{FF2B5EF4-FFF2-40B4-BE49-F238E27FC236}">
                <a16:creationId xmlns:a16="http://schemas.microsoft.com/office/drawing/2014/main" id="{2A6D6279-24DF-527A-0835-294CC4B27E70}"/>
              </a:ext>
            </a:extLst>
          </p:cNvPr>
          <p:cNvSpPr txBox="1">
            <a:spLocks/>
          </p:cNvSpPr>
          <p:nvPr/>
        </p:nvSpPr>
        <p:spPr>
          <a:xfrm>
            <a:off x="9198471" y="6356350"/>
            <a:ext cx="2743200" cy="365125"/>
          </a:xfrm>
          <a:prstGeom prst="rect">
            <a:avLst/>
          </a:prstGeom>
        </p:spPr>
        <p:txBody>
          <a:bodyPr/>
          <a:lstStyle>
            <a:lvl1pPr marL="0" indent="0" algn="l" defTabSz="914400" rtl="0" eaLnBrk="1" latinLnBrk="0" hangingPunct="1">
              <a:lnSpc>
                <a:spcPct val="90000"/>
              </a:lnSpc>
              <a:spcBef>
                <a:spcPts val="1000"/>
              </a:spcBef>
              <a:buFont typeface="Arial"/>
              <a:buNone/>
              <a:defRPr sz="2000" kern="1200" baseline="0">
                <a:solidFill>
                  <a:schemeClr val="tx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fld id="{D6F3F2CD-5211-4806-929C-55608A2A98CC}" type="slidenum">
              <a:rPr lang="en-MY" sz="1600" smtClean="0">
                <a:latin typeface="Arial Narrow" panose="020B0606020202030204" pitchFamily="34" charset="0"/>
              </a:rPr>
              <a:pPr algn="r"/>
              <a:t>44</a:t>
            </a:fld>
            <a:endParaRPr lang="en-MY" sz="1600" dirty="0">
              <a:latin typeface="Arial Narrow" panose="020B0606020202030204" pitchFamily="34" charset="0"/>
            </a:endParaRPr>
          </a:p>
        </p:txBody>
      </p:sp>
      <p:grpSp>
        <p:nvGrpSpPr>
          <p:cNvPr id="7" name="Group 6">
            <a:extLst>
              <a:ext uri="{FF2B5EF4-FFF2-40B4-BE49-F238E27FC236}">
                <a16:creationId xmlns:a16="http://schemas.microsoft.com/office/drawing/2014/main" id="{106A301D-1162-D7B6-26B8-C6D2C7467DEB}"/>
              </a:ext>
            </a:extLst>
          </p:cNvPr>
          <p:cNvGrpSpPr/>
          <p:nvPr/>
        </p:nvGrpSpPr>
        <p:grpSpPr>
          <a:xfrm>
            <a:off x="2983078" y="352517"/>
            <a:ext cx="1796393" cy="774699"/>
            <a:chOff x="5342217" y="1473060"/>
            <a:chExt cx="3054298" cy="1317173"/>
          </a:xfrm>
        </p:grpSpPr>
        <p:pic>
          <p:nvPicPr>
            <p:cNvPr id="8" name="Picture 7">
              <a:extLst>
                <a:ext uri="{FF2B5EF4-FFF2-40B4-BE49-F238E27FC236}">
                  <a16:creationId xmlns:a16="http://schemas.microsoft.com/office/drawing/2014/main" id="{7994AC05-26EA-30D8-4A97-EF01C2DDCE83}"/>
                </a:ext>
              </a:extLst>
            </p:cNvPr>
            <p:cNvPicPr>
              <a:picLocks noChangeAspect="1"/>
            </p:cNvPicPr>
            <p:nvPr/>
          </p:nvPicPr>
          <p:blipFill rotWithShape="1">
            <a:blip r:embed="rId3"/>
            <a:srcRect l="14901" t="32358" r="15890" b="28755"/>
            <a:stretch/>
          </p:blipFill>
          <p:spPr>
            <a:xfrm>
              <a:off x="5466198" y="1473060"/>
              <a:ext cx="2930317" cy="1317173"/>
            </a:xfrm>
            <a:prstGeom prst="rect">
              <a:avLst/>
            </a:prstGeom>
          </p:spPr>
        </p:pic>
        <p:cxnSp>
          <p:nvCxnSpPr>
            <p:cNvPr id="9" name="Straight Connector 8">
              <a:extLst>
                <a:ext uri="{FF2B5EF4-FFF2-40B4-BE49-F238E27FC236}">
                  <a16:creationId xmlns:a16="http://schemas.microsoft.com/office/drawing/2014/main" id="{2165CE3B-A4C9-7BF1-0941-27333483282A}"/>
                </a:ext>
              </a:extLst>
            </p:cNvPr>
            <p:cNvCxnSpPr>
              <a:cxnSpLocks/>
            </p:cNvCxnSpPr>
            <p:nvPr/>
          </p:nvCxnSpPr>
          <p:spPr>
            <a:xfrm>
              <a:off x="5342217" y="1578324"/>
              <a:ext cx="0" cy="1156288"/>
            </a:xfrm>
            <a:prstGeom prst="line">
              <a:avLst/>
            </a:prstGeom>
            <a:ln w="254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66330506"/>
      </p:ext>
    </p:extLst>
  </p:cSld>
  <p:clrMapOvr>
    <a:masterClrMapping/>
  </p:clrMapOvr>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dirty="0" smtClean="0">
            <a:solidFill>
              <a:sysClr val="windowText" lastClr="000000"/>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45945</TotalTime>
  <Words>4132</Words>
  <Application>Microsoft Office PowerPoint</Application>
  <PresentationFormat>Widescreen</PresentationFormat>
  <Paragraphs>871</Paragraphs>
  <Slides>44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Arial Narrow</vt:lpstr>
      <vt:lpstr>Calibri</vt:lpstr>
      <vt:lpstr>Image 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Burnett</dc:creator>
  <cp:lastModifiedBy>Yue Kong</cp:lastModifiedBy>
  <cp:revision>457</cp:revision>
  <cp:lastPrinted>2017-06-07T05:21:52Z</cp:lastPrinted>
  <dcterms:created xsi:type="dcterms:W3CDTF">2017-05-31T01:24:04Z</dcterms:created>
  <dcterms:modified xsi:type="dcterms:W3CDTF">2026-10-06T17:23:40Z</dcterms:modified>
</cp:coreProperties>
</file>