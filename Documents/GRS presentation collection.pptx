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7"/>
  </p:notesMasterIdLst>
  <p:handoutMasterIdLst>
    <p:handoutMasterId r:id="rId48"/>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83" r:id="rId37"/>
    <p:sldId id="484" r:id="rId38"/>
    <p:sldId id="485" r:id="rId39"/>
    <p:sldId id="486" r:id="rId40"/>
    <p:sldId id="489" r:id="rId41"/>
    <p:sldId id="488" r:id="rId42"/>
    <p:sldId id="487" r:id="rId43"/>
    <p:sldId id="451" r:id="rId44"/>
    <p:sldId id="473" r:id="rId45"/>
    <p:sldId id="448"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6093"/>
  </p:normalViewPr>
  <p:slideViewPr>
    <p:cSldViewPr snapToGrid="0" snapToObjects="1" showGuides="1">
      <p:cViewPr>
        <p:scale>
          <a:sx n="100" d="100"/>
          <a:sy n="100" d="100"/>
        </p:scale>
        <p:origin x="58" y="-470"/>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8/10/2026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2E7F4-C608-84A0-B9A3-C79345C529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A1C3C-36E1-CB84-8E45-BCE7F871C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EEC0D-5882-D259-A94E-C4313D78194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352A4ED-53BC-D4D4-58F0-F524FFAE0623}"/>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1493560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44</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45</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7387-8759-CA42-F317-3BEF487315A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BE28F9-FE1E-DB0A-E5E7-B35BBA98E44E}"/>
              </a:ext>
            </a:extLst>
          </p:cNvPr>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853E66A9-5896-4568-3909-B44A7FD6CDD3}"/>
              </a:ext>
            </a:extLst>
          </p:cNvPr>
          <p:cNvSpPr>
            <a:spLocks noGrp="1"/>
          </p:cNvSpPr>
          <p:nvPr>
            <p:ph type="body" sz="quarter" idx="12"/>
          </p:nvPr>
        </p:nvSpPr>
        <p:spPr/>
        <p:txBody>
          <a:bodyPr/>
          <a:lstStyle/>
          <a:p>
            <a:r>
              <a:rPr lang="en-AU" dirty="0"/>
              <a:t>8 Oct 2026</a:t>
            </a:r>
          </a:p>
        </p:txBody>
      </p:sp>
      <p:sp>
        <p:nvSpPr>
          <p:cNvPr id="4" name="Text Placeholder 3">
            <a:extLst>
              <a:ext uri="{FF2B5EF4-FFF2-40B4-BE49-F238E27FC236}">
                <a16:creationId xmlns:a16="http://schemas.microsoft.com/office/drawing/2014/main" id="{AFD22D7C-8A6C-A372-0A9A-EC9D8152D736}"/>
              </a:ext>
            </a:extLst>
          </p:cNvPr>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a:extLst>
              <a:ext uri="{FF2B5EF4-FFF2-40B4-BE49-F238E27FC236}">
                <a16:creationId xmlns:a16="http://schemas.microsoft.com/office/drawing/2014/main" id="{EABC048E-5E49-7FB8-C0E2-5DE78D0FEAE6}"/>
              </a:ext>
            </a:extLst>
          </p:cNvPr>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6F09FFDA-8660-0035-F5C9-EB3403337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7FA9959A-4F18-9981-F58B-4F4E16844912}"/>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043E721-1DB0-DB6A-57AF-6C4A00D6B842}"/>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DF305D4E-E08C-E185-D9A1-EB99D17637E1}"/>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515598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6B69-AF79-794C-F9EF-5469729DDA4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4B38367-DBB4-DBC6-0F01-8A79D8862AFB}"/>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37A7FEF3-4F5C-0FA1-7660-457AFE6204EF}"/>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5D28A93D-3FFB-B9CD-BED7-1713903B28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37B53F45-6067-AC10-A5E1-D74ADC13BD5A}"/>
              </a:ext>
            </a:extLst>
          </p:cNvPr>
          <p:cNvGraphicFramePr>
            <a:graphicFrameLocks noGrp="1"/>
          </p:cNvGraphicFramePr>
          <p:nvPr>
            <p:extLst>
              <p:ext uri="{D42A27DB-BD31-4B8C-83A1-F6EECF244321}">
                <p14:modId xmlns:p14="http://schemas.microsoft.com/office/powerpoint/2010/main" val="1529317325"/>
              </p:ext>
            </p:extLst>
          </p:nvPr>
        </p:nvGraphicFramePr>
        <p:xfrm>
          <a:off x="226141" y="1484767"/>
          <a:ext cx="11631562" cy="2225040"/>
        </p:xfrm>
        <a:graphic>
          <a:graphicData uri="http://schemas.openxmlformats.org/drawingml/2006/table">
            <a:tbl>
              <a:tblPr firstRow="1" bandRow="1">
                <a:tableStyleId>{5C22544A-7EE6-4342-B048-85BDC9FD1C3A}</a:tableStyleId>
              </a:tblPr>
              <a:tblGrid>
                <a:gridCol w="3184296">
                  <a:extLst>
                    <a:ext uri="{9D8B030D-6E8A-4147-A177-3AD203B41FA5}">
                      <a16:colId xmlns:a16="http://schemas.microsoft.com/office/drawing/2014/main" val="3631773521"/>
                    </a:ext>
                  </a:extLst>
                </a:gridCol>
                <a:gridCol w="2941202">
                  <a:extLst>
                    <a:ext uri="{9D8B030D-6E8A-4147-A177-3AD203B41FA5}">
                      <a16:colId xmlns:a16="http://schemas.microsoft.com/office/drawing/2014/main" val="4017700087"/>
                    </a:ext>
                  </a:extLst>
                </a:gridCol>
                <a:gridCol w="1376516">
                  <a:extLst>
                    <a:ext uri="{9D8B030D-6E8A-4147-A177-3AD203B41FA5}">
                      <a16:colId xmlns:a16="http://schemas.microsoft.com/office/drawing/2014/main" val="4088454170"/>
                    </a:ext>
                  </a:extLst>
                </a:gridCol>
                <a:gridCol w="816077">
                  <a:extLst>
                    <a:ext uri="{9D8B030D-6E8A-4147-A177-3AD203B41FA5}">
                      <a16:colId xmlns:a16="http://schemas.microsoft.com/office/drawing/2014/main" val="1402556689"/>
                    </a:ext>
                  </a:extLst>
                </a:gridCol>
                <a:gridCol w="3313471">
                  <a:extLst>
                    <a:ext uri="{9D8B030D-6E8A-4147-A177-3AD203B41FA5}">
                      <a16:colId xmlns:a16="http://schemas.microsoft.com/office/drawing/2014/main" val="4042138048"/>
                    </a:ext>
                  </a:extLst>
                </a:gridCol>
              </a:tblGrid>
              <a:tr h="370840">
                <a:tc>
                  <a:txBody>
                    <a:bodyPr/>
                    <a:lstStyle/>
                    <a:p>
                      <a:r>
                        <a:rPr lang="en-US" dirty="0"/>
                        <a:t>Water Loading (</a:t>
                      </a:r>
                      <a:r>
                        <a:rPr lang="en-US" dirty="0" err="1"/>
                        <a:t>wt</a:t>
                      </a:r>
                      <a:r>
                        <a:rPr lang="en-US" dirty="0"/>
                        <a:t>% </a:t>
                      </a:r>
                      <a:r>
                        <a:rPr lang="en-US" dirty="0" err="1"/>
                        <a:t>wrt</a:t>
                      </a:r>
                      <a:r>
                        <a:rPr lang="en-US" dirty="0"/>
                        <a:t> oil)</a:t>
                      </a:r>
                      <a:endParaRPr lang="en-IE" dirty="0"/>
                    </a:p>
                  </a:txBody>
                  <a:tcPr/>
                </a:tc>
                <a:tc>
                  <a:txBody>
                    <a:bodyPr/>
                    <a:lstStyle/>
                    <a:p>
                      <a:r>
                        <a:rPr lang="en-US" dirty="0"/>
                        <a:t>TAN (internal)[25/9/2026]</a:t>
                      </a:r>
                      <a:endParaRPr lang="en-IE" dirty="0"/>
                    </a:p>
                  </a:txBody>
                  <a:tcPr/>
                </a:tc>
                <a:tc>
                  <a:txBody>
                    <a:bodyPr/>
                    <a:lstStyle/>
                    <a:p>
                      <a:r>
                        <a:rPr lang="en-US" dirty="0"/>
                        <a:t>TAN (SGS)</a:t>
                      </a:r>
                      <a:endParaRPr lang="en-IE" dirty="0"/>
                    </a:p>
                  </a:txBody>
                  <a:tcPr/>
                </a:tc>
                <a:tc>
                  <a:txBody>
                    <a:bodyPr/>
                    <a:lstStyle/>
                    <a:p>
                      <a:r>
                        <a:rPr lang="en-US" dirty="0"/>
                        <a:t>Yield</a:t>
                      </a:r>
                      <a:endParaRPr lang="en-IE" dirty="0"/>
                    </a:p>
                  </a:txBody>
                  <a:tcPr/>
                </a:tc>
                <a:tc>
                  <a:txBody>
                    <a:bodyPr/>
                    <a:lstStyle/>
                    <a:p>
                      <a:r>
                        <a:rPr lang="en-US" dirty="0"/>
                        <a:t>TAN (internal)[7/10/2026]</a:t>
                      </a:r>
                      <a:endParaRPr lang="en-IE" dirty="0"/>
                    </a:p>
                  </a:txBody>
                  <a:tcPr/>
                </a:tc>
                <a:extLst>
                  <a:ext uri="{0D108BD9-81ED-4DB2-BD59-A6C34878D82A}">
                    <a16:rowId xmlns:a16="http://schemas.microsoft.com/office/drawing/2014/main" val="1128292259"/>
                  </a:ext>
                </a:extLst>
              </a:tr>
              <a:tr h="370840">
                <a:tc>
                  <a:txBody>
                    <a:bodyPr/>
                    <a:lstStyle/>
                    <a:p>
                      <a:r>
                        <a:rPr lang="en-US" dirty="0"/>
                        <a:t>30 (28/07/2026)</a:t>
                      </a:r>
                      <a:endParaRPr lang="en-IE" dirty="0"/>
                    </a:p>
                  </a:txBody>
                  <a:tcPr/>
                </a:tc>
                <a:tc>
                  <a:txBody>
                    <a:bodyPr/>
                    <a:lstStyle/>
                    <a:p>
                      <a:r>
                        <a:rPr lang="en-IE" dirty="0"/>
                        <a:t>59.4772</a:t>
                      </a:r>
                    </a:p>
                  </a:txBody>
                  <a:tcPr/>
                </a:tc>
                <a:tc>
                  <a:txBody>
                    <a:bodyPr/>
                    <a:lstStyle/>
                    <a:p>
                      <a:r>
                        <a:rPr lang="en-US" dirty="0"/>
                        <a:t>56</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0.81</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73.75</a:t>
                      </a:r>
                      <a:endParaRPr lang="en-IE" dirty="0"/>
                    </a:p>
                  </a:txBody>
                  <a:tcPr/>
                </a:tc>
                <a:extLst>
                  <a:ext uri="{0D108BD9-81ED-4DB2-BD59-A6C34878D82A}">
                    <a16:rowId xmlns:a16="http://schemas.microsoft.com/office/drawing/2014/main" val="1616027906"/>
                  </a:ext>
                </a:extLst>
              </a:tr>
              <a:tr h="370840">
                <a:tc>
                  <a:txBody>
                    <a:bodyPr/>
                    <a:lstStyle/>
                    <a:p>
                      <a:r>
                        <a:rPr lang="en-US" dirty="0"/>
                        <a:t>50 (13/8/2026)</a:t>
                      </a:r>
                      <a:endParaRPr lang="en-IE" dirty="0"/>
                    </a:p>
                  </a:txBody>
                  <a:tcPr/>
                </a:tc>
                <a:tc>
                  <a:txBody>
                    <a:bodyPr/>
                    <a:lstStyle/>
                    <a:p>
                      <a:r>
                        <a:rPr lang="en-IE" dirty="0"/>
                        <a:t>64.0967</a:t>
                      </a:r>
                    </a:p>
                  </a:txBody>
                  <a:tcPr/>
                </a:tc>
                <a:tc>
                  <a:txBody>
                    <a:bodyPr/>
                    <a:lstStyle/>
                    <a:p>
                      <a:r>
                        <a:rPr lang="en-US" dirty="0"/>
                        <a:t>&gt;90</a:t>
                      </a:r>
                      <a:endParaRPr lang="en-IE" dirty="0"/>
                    </a:p>
                  </a:txBody>
                  <a:tcPr/>
                </a:tc>
                <a:tc>
                  <a:txBody>
                    <a:bodyPr/>
                    <a:lstStyle/>
                    <a:p>
                      <a:r>
                        <a:rPr lang="en-US" dirty="0"/>
                        <a:t>0.81</a:t>
                      </a:r>
                      <a:endParaRPr lang="en-IE" dirty="0"/>
                    </a:p>
                  </a:txBody>
                  <a:tcPr/>
                </a:tc>
                <a:tc>
                  <a:txBody>
                    <a:bodyPr/>
                    <a:lstStyle/>
                    <a:p>
                      <a:r>
                        <a:rPr lang="en-US" dirty="0"/>
                        <a:t>69.71</a:t>
                      </a:r>
                      <a:endParaRPr lang="en-IE" dirty="0"/>
                    </a:p>
                  </a:txBody>
                  <a:tcPr/>
                </a:tc>
                <a:extLst>
                  <a:ext uri="{0D108BD9-81ED-4DB2-BD59-A6C34878D82A}">
                    <a16:rowId xmlns:a16="http://schemas.microsoft.com/office/drawing/2014/main" val="3039029043"/>
                  </a:ext>
                </a:extLst>
              </a:tr>
              <a:tr h="370840">
                <a:tc>
                  <a:txBody>
                    <a:bodyPr/>
                    <a:lstStyle/>
                    <a:p>
                      <a:r>
                        <a:rPr lang="en-US" dirty="0"/>
                        <a:t>100 (21/9/2026)</a:t>
                      </a:r>
                      <a:endParaRPr lang="en-IE" dirty="0"/>
                    </a:p>
                  </a:txBody>
                  <a:tcPr/>
                </a:tc>
                <a:tc>
                  <a:txBody>
                    <a:bodyPr/>
                    <a:lstStyle/>
                    <a:p>
                      <a:r>
                        <a:rPr lang="en-IE" dirty="0"/>
                        <a:t>70.4767</a:t>
                      </a:r>
                    </a:p>
                  </a:txBody>
                  <a:tcPr/>
                </a:tc>
                <a:tc>
                  <a:txBody>
                    <a:bodyPr/>
                    <a:lstStyle/>
                    <a:p>
                      <a:r>
                        <a:rPr lang="en-US" dirty="0"/>
                        <a:t>56</a:t>
                      </a:r>
                      <a:endParaRPr lang="en-IE" dirty="0"/>
                    </a:p>
                  </a:txBody>
                  <a:tcPr/>
                </a:tc>
                <a:tc>
                  <a:txBody>
                    <a:bodyPr/>
                    <a:lstStyle/>
                    <a:p>
                      <a:r>
                        <a:rPr lang="en-US" dirty="0"/>
                        <a:t>0.80</a:t>
                      </a:r>
                      <a:endParaRPr lang="en-IE" dirty="0"/>
                    </a:p>
                  </a:txBody>
                  <a:tcPr/>
                </a:tc>
                <a:tc>
                  <a:txBody>
                    <a:bodyPr/>
                    <a:lstStyle/>
                    <a:p>
                      <a:r>
                        <a:rPr lang="en-US" dirty="0"/>
                        <a:t>81.468</a:t>
                      </a:r>
                      <a:endParaRPr lang="en-IE" dirty="0"/>
                    </a:p>
                  </a:txBody>
                  <a:tcPr/>
                </a:tc>
                <a:extLst>
                  <a:ext uri="{0D108BD9-81ED-4DB2-BD59-A6C34878D82A}">
                    <a16:rowId xmlns:a16="http://schemas.microsoft.com/office/drawing/2014/main" val="366697607"/>
                  </a:ext>
                </a:extLst>
              </a:tr>
              <a:tr h="370840">
                <a:tc>
                  <a:txBody>
                    <a:bodyPr/>
                    <a:lstStyle/>
                    <a:p>
                      <a:r>
                        <a:rPr lang="en-US" dirty="0"/>
                        <a:t>200 (25/9/2026)</a:t>
                      </a:r>
                      <a:endParaRPr lang="en-IE" dirty="0"/>
                    </a:p>
                  </a:txBody>
                  <a:tcPr/>
                </a:tc>
                <a:tc>
                  <a:txBody>
                    <a:bodyPr/>
                    <a:lstStyle/>
                    <a:p>
                      <a:r>
                        <a:rPr lang="en-IE" dirty="0"/>
                        <a:t>59.4235</a:t>
                      </a:r>
                    </a:p>
                  </a:txBody>
                  <a:tcPr/>
                </a:tc>
                <a:tc>
                  <a:txBody>
                    <a:bodyPr/>
                    <a:lstStyle/>
                    <a:p>
                      <a:r>
                        <a:rPr lang="en-US" dirty="0"/>
                        <a:t>48</a:t>
                      </a:r>
                      <a:endParaRPr lang="en-IE" dirty="0"/>
                    </a:p>
                  </a:txBody>
                  <a:tcPr/>
                </a:tc>
                <a:tc>
                  <a:txBody>
                    <a:bodyPr/>
                    <a:lstStyle/>
                    <a:p>
                      <a:r>
                        <a:rPr lang="en-US" dirty="0"/>
                        <a:t>0.75</a:t>
                      </a:r>
                      <a:endParaRPr lang="en-IE" dirty="0"/>
                    </a:p>
                  </a:txBody>
                  <a:tcPr/>
                </a:tc>
                <a:tc>
                  <a:txBody>
                    <a:bodyPr/>
                    <a:lstStyle/>
                    <a:p>
                      <a:r>
                        <a:rPr lang="en-US" dirty="0"/>
                        <a:t>75.8</a:t>
                      </a:r>
                      <a:endParaRPr lang="en-IE" dirty="0"/>
                    </a:p>
                  </a:txBody>
                  <a:tcPr/>
                </a:tc>
                <a:extLst>
                  <a:ext uri="{0D108BD9-81ED-4DB2-BD59-A6C34878D82A}">
                    <a16:rowId xmlns:a16="http://schemas.microsoft.com/office/drawing/2014/main" val="2440685115"/>
                  </a:ext>
                </a:extLst>
              </a:tr>
              <a:tr h="370840">
                <a:tc>
                  <a:txBody>
                    <a:bodyPr/>
                    <a:lstStyle/>
                    <a:p>
                      <a:r>
                        <a:rPr lang="en-US" dirty="0"/>
                        <a:t>Pure MFO sample</a:t>
                      </a:r>
                      <a:endParaRPr lang="en-IE" dirty="0"/>
                    </a:p>
                  </a:txBody>
                  <a:tcPr/>
                </a:tc>
                <a:tc>
                  <a:txBody>
                    <a:bodyPr/>
                    <a:lstStyle/>
                    <a:p>
                      <a:r>
                        <a:rPr lang="en-US" dirty="0"/>
                        <a:t>1.82</a:t>
                      </a:r>
                      <a:endParaRPr lang="en-IE" dirty="0"/>
                    </a:p>
                  </a:txBody>
                  <a:tcPr/>
                </a:tc>
                <a:tc>
                  <a:txBody>
                    <a:bodyPr/>
                    <a:lstStyle/>
                    <a:p>
                      <a:r>
                        <a:rPr lang="en-US" dirty="0"/>
                        <a:t>3.3</a:t>
                      </a:r>
                      <a:endParaRPr lang="en-IE" dirty="0"/>
                    </a:p>
                  </a:txBody>
                  <a:tcPr/>
                </a:tc>
                <a:tc>
                  <a:txBody>
                    <a:bodyPr/>
                    <a:lstStyle/>
                    <a:p>
                      <a:endParaRPr lang="en-IE" dirty="0"/>
                    </a:p>
                  </a:txBody>
                  <a:tcPr/>
                </a:tc>
                <a:tc>
                  <a:txBody>
                    <a:bodyPr/>
                    <a:lstStyle/>
                    <a:p>
                      <a:endParaRPr lang="en-IE" dirty="0"/>
                    </a:p>
                  </a:txBody>
                  <a:tcPr/>
                </a:tc>
                <a:extLst>
                  <a:ext uri="{0D108BD9-81ED-4DB2-BD59-A6C34878D82A}">
                    <a16:rowId xmlns:a16="http://schemas.microsoft.com/office/drawing/2014/main" val="397402320"/>
                  </a:ext>
                </a:extLst>
              </a:tr>
            </a:tbl>
          </a:graphicData>
        </a:graphic>
      </p:graphicFrame>
      <p:sp>
        <p:nvSpPr>
          <p:cNvPr id="8" name="TextBox 7">
            <a:extLst>
              <a:ext uri="{FF2B5EF4-FFF2-40B4-BE49-F238E27FC236}">
                <a16:creationId xmlns:a16="http://schemas.microsoft.com/office/drawing/2014/main" id="{210AB710-8A83-7E56-F085-3356191559D7}"/>
              </a:ext>
            </a:extLst>
          </p:cNvPr>
          <p:cNvSpPr txBox="1"/>
          <p:nvPr/>
        </p:nvSpPr>
        <p:spPr>
          <a:xfrm>
            <a:off x="1523999" y="3739304"/>
            <a:ext cx="9389807" cy="2585323"/>
          </a:xfrm>
          <a:prstGeom prst="rect">
            <a:avLst/>
          </a:prstGeom>
          <a:noFill/>
        </p:spPr>
        <p:txBody>
          <a:bodyPr wrap="square" rtlCol="0">
            <a:spAutoFit/>
          </a:bodyPr>
          <a:lstStyle/>
          <a:p>
            <a:pPr marL="285750" indent="-285750">
              <a:buFontTx/>
              <a:buChar char="-"/>
            </a:pPr>
            <a:r>
              <a:rPr lang="en-US" dirty="0"/>
              <a:t>Samples are measured on 3</a:t>
            </a:r>
            <a:r>
              <a:rPr lang="en-US" baseline="30000" dirty="0"/>
              <a:t>rd</a:t>
            </a:r>
            <a:r>
              <a:rPr lang="en-US" dirty="0"/>
              <a:t> Oct by SGS. </a:t>
            </a:r>
          </a:p>
          <a:p>
            <a:pPr marL="285750" indent="-285750">
              <a:buFontTx/>
              <a:buChar char="-"/>
            </a:pPr>
            <a:r>
              <a:rPr lang="en-US" dirty="0"/>
              <a:t>Sample preparation dates are listed. </a:t>
            </a:r>
          </a:p>
          <a:p>
            <a:pPr marL="285750" indent="-285750">
              <a:buFontTx/>
              <a:buChar char="-"/>
            </a:pPr>
            <a:r>
              <a:rPr lang="en-US" dirty="0"/>
              <a:t>50% has largest deviation, unclear why </a:t>
            </a:r>
            <a:r>
              <a:rPr lang="en-US" dirty="0" err="1"/>
              <a:t>sgs</a:t>
            </a:r>
            <a:r>
              <a:rPr lang="en-US" dirty="0"/>
              <a:t> managed to measure &gt;90. </a:t>
            </a:r>
          </a:p>
          <a:p>
            <a:pPr marL="285750" indent="-285750">
              <a:buFontTx/>
              <a:buChar char="-"/>
            </a:pPr>
            <a:r>
              <a:rPr lang="en-US" dirty="0"/>
              <a:t>The 100 and 200% samples have largest deviation, suspected is due to the difference in measurement times. </a:t>
            </a:r>
          </a:p>
          <a:p>
            <a:pPr marL="285750" indent="-285750">
              <a:buFontTx/>
              <a:buChar char="-"/>
            </a:pPr>
            <a:r>
              <a:rPr lang="en-US" dirty="0"/>
              <a:t>SGS measurement of pure MFO is higher than allowable standard (3.3 mg KOH/g oil). </a:t>
            </a:r>
          </a:p>
          <a:p>
            <a:pPr marL="285750" indent="-285750">
              <a:buFontTx/>
              <a:buChar char="-"/>
            </a:pPr>
            <a:r>
              <a:rPr lang="en-US" dirty="0"/>
              <a:t>SGS results would suggest that no significant difference in acidity was observed when the samples are aged after a few weeks time. </a:t>
            </a:r>
          </a:p>
          <a:p>
            <a:pPr marL="285750" indent="-285750">
              <a:buFontTx/>
              <a:buChar char="-"/>
            </a:pPr>
            <a:endParaRPr lang="en-IE" dirty="0"/>
          </a:p>
        </p:txBody>
      </p:sp>
    </p:spTree>
    <p:extLst>
      <p:ext uri="{BB962C8B-B14F-4D97-AF65-F5344CB8AC3E}">
        <p14:creationId xmlns:p14="http://schemas.microsoft.com/office/powerpoint/2010/main" val="3932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8605F-B15C-75A9-A206-C30C1154A6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04801-A527-29C4-04C0-FDB4981F853D}"/>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BF77D2F6-52B0-37CA-C991-7D30A8BC83D8}"/>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2B75974-D562-4172-C2AC-2EDC4218D6F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DBF00AE-EDC0-FF05-240D-3EB5CAE6EA12}"/>
              </a:ext>
            </a:extLst>
          </p:cNvPr>
          <p:cNvSpPr txBox="1"/>
          <p:nvPr/>
        </p:nvSpPr>
        <p:spPr>
          <a:xfrm>
            <a:off x="693496" y="2136898"/>
            <a:ext cx="10112155" cy="2308324"/>
          </a:xfrm>
          <a:prstGeom prst="rect">
            <a:avLst/>
          </a:prstGeom>
          <a:noFill/>
        </p:spPr>
        <p:txBody>
          <a:bodyPr wrap="square" rtlCol="0">
            <a:spAutoFit/>
          </a:bodyPr>
          <a:lstStyle/>
          <a:p>
            <a:pPr marL="285750" indent="-285750">
              <a:buFontTx/>
              <a:buChar char="-"/>
            </a:pPr>
            <a:r>
              <a:rPr lang="en-US" dirty="0"/>
              <a:t>Water stripping may be removing substances that will polymerize eventually anyways after heating. </a:t>
            </a:r>
            <a:r>
              <a:rPr lang="en-US" dirty="0" err="1"/>
              <a:t>Pyoil</a:t>
            </a:r>
            <a:r>
              <a:rPr lang="en-US" dirty="0"/>
              <a:t> is unstable at high temperatures and will continue to react even after cooling down. </a:t>
            </a:r>
          </a:p>
          <a:p>
            <a:pPr marL="285750" indent="-285750">
              <a:buFontTx/>
              <a:buChar char="-"/>
            </a:pPr>
            <a:r>
              <a:rPr lang="en-US" dirty="0"/>
              <a:t>Expected TAN to go down over time, viscosity go up, due to distillation removing water, </a:t>
            </a:r>
            <a:r>
              <a:rPr lang="en-US" dirty="0" err="1"/>
              <a:t>favouring</a:t>
            </a:r>
            <a:r>
              <a:rPr lang="en-US" dirty="0"/>
              <a:t> polymerization. </a:t>
            </a:r>
          </a:p>
          <a:p>
            <a:pPr marL="285750" indent="-285750">
              <a:buFontTx/>
              <a:buChar char="-"/>
            </a:pPr>
            <a:r>
              <a:rPr lang="en-US" dirty="0"/>
              <a:t>Previous results that suggest that TAN goes up due to aging can be explained due to systemic experimental error, notably low titrant/large error at calibrations. </a:t>
            </a:r>
          </a:p>
          <a:p>
            <a:pPr marL="285750" indent="-285750">
              <a:buFontTx/>
              <a:buChar char="-"/>
            </a:pPr>
            <a:endParaRPr lang="en-IE" dirty="0"/>
          </a:p>
        </p:txBody>
      </p:sp>
    </p:spTree>
    <p:extLst>
      <p:ext uri="{BB962C8B-B14F-4D97-AF65-F5344CB8AC3E}">
        <p14:creationId xmlns:p14="http://schemas.microsoft.com/office/powerpoint/2010/main" val="22833031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0494-A6C3-AA11-0135-58C147956C0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7084198-AB53-2A40-30EE-60E0AACBEC61}"/>
              </a:ext>
            </a:extLst>
          </p:cNvPr>
          <p:cNvSpPr>
            <a:spLocks noGrp="1"/>
          </p:cNvSpPr>
          <p:nvPr>
            <p:ph type="body" sz="quarter" idx="11"/>
          </p:nvPr>
        </p:nvSpPr>
        <p:spPr/>
        <p:txBody>
          <a:bodyPr/>
          <a:lstStyle/>
          <a:p>
            <a:r>
              <a:rPr lang="en-AU" dirty="0"/>
              <a:t>Future plans</a:t>
            </a:r>
          </a:p>
        </p:txBody>
      </p:sp>
      <p:sp>
        <p:nvSpPr>
          <p:cNvPr id="3" name="Text Placeholder 2">
            <a:extLst>
              <a:ext uri="{FF2B5EF4-FFF2-40B4-BE49-F238E27FC236}">
                <a16:creationId xmlns:a16="http://schemas.microsoft.com/office/drawing/2014/main" id="{560580BE-FDDB-CE03-DE67-169BB15149E1}"/>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6FDB560A-E21A-FDC8-49A3-EC0748A4EA5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39</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7FF28BB8-DADA-31F1-0EA8-F281647C77F5}"/>
              </a:ext>
            </a:extLst>
          </p:cNvPr>
          <p:cNvSpPr txBox="1"/>
          <p:nvPr/>
        </p:nvSpPr>
        <p:spPr>
          <a:xfrm>
            <a:off x="457916" y="1582340"/>
            <a:ext cx="10112155" cy="3416320"/>
          </a:xfrm>
          <a:prstGeom prst="rect">
            <a:avLst/>
          </a:prstGeom>
          <a:noFill/>
        </p:spPr>
        <p:txBody>
          <a:bodyPr wrap="square" rtlCol="0">
            <a:spAutoFit/>
          </a:bodyPr>
          <a:lstStyle/>
          <a:p>
            <a:pPr marL="285750" indent="-285750">
              <a:buFontTx/>
              <a:buChar char="-"/>
            </a:pPr>
            <a:r>
              <a:rPr lang="en-US" dirty="0"/>
              <a:t>If we want to proceed with this, need to shift focus to maybe compounds extraction via water stripping? </a:t>
            </a:r>
          </a:p>
          <a:p>
            <a:pPr marL="742950" lvl="1" indent="-285750">
              <a:buFontTx/>
              <a:buChar char="-"/>
            </a:pPr>
            <a:r>
              <a:rPr lang="en-US" dirty="0"/>
              <a:t>Basically a GC-MS paper. </a:t>
            </a:r>
          </a:p>
          <a:p>
            <a:pPr marL="285750" indent="-285750">
              <a:buFontTx/>
              <a:buChar char="-"/>
            </a:pPr>
            <a:r>
              <a:rPr lang="en-US" dirty="0"/>
              <a:t>If want to proceed with this, timed and scheduled experiments will be required. </a:t>
            </a:r>
          </a:p>
          <a:p>
            <a:pPr marL="742950" lvl="1" indent="-285750">
              <a:buFontTx/>
              <a:buChar char="-"/>
            </a:pPr>
            <a:r>
              <a:rPr lang="en-US" dirty="0"/>
              <a:t>Basically full aging study, then focus on what GC-MS says we extracted from the oil. </a:t>
            </a:r>
          </a:p>
          <a:p>
            <a:pPr marL="742950" lvl="1" indent="-285750">
              <a:buFontTx/>
              <a:buChar char="-"/>
            </a:pPr>
            <a:r>
              <a:rPr lang="en-US" dirty="0"/>
              <a:t>Main competition is with water extraction, can say that this produces a cleaner product than direct LLE with water. </a:t>
            </a:r>
          </a:p>
          <a:p>
            <a:pPr marL="285750" indent="-285750">
              <a:buFontTx/>
              <a:buChar char="-"/>
            </a:pPr>
            <a:r>
              <a:rPr lang="en-US" dirty="0"/>
              <a:t>To write a paper on this: </a:t>
            </a:r>
          </a:p>
          <a:p>
            <a:pPr marL="742950" lvl="1" indent="-285750">
              <a:buFontTx/>
              <a:buChar char="-"/>
            </a:pPr>
            <a:r>
              <a:rPr lang="en-US" dirty="0"/>
              <a:t>TAN, water content, GC-MS (main deal), aging of BOTH distillate and bottom phase. </a:t>
            </a:r>
          </a:p>
          <a:p>
            <a:pPr marL="742950" lvl="1" indent="-285750">
              <a:buFontTx/>
              <a:buChar char="-"/>
            </a:pPr>
            <a:r>
              <a:rPr lang="en-US" dirty="0"/>
              <a:t>Main bottleneck currently: the GC-MS is refusing to detect acetic acid. Other papers use the same column and same </a:t>
            </a:r>
            <a:r>
              <a:rPr lang="en-US" dirty="0" err="1"/>
              <a:t>agilent</a:t>
            </a:r>
            <a:r>
              <a:rPr lang="en-US" dirty="0"/>
              <a:t> GC-MS and can detect. </a:t>
            </a:r>
          </a:p>
          <a:p>
            <a:pPr marL="285750" indent="-285750">
              <a:buFontTx/>
              <a:buChar char="-"/>
            </a:pPr>
            <a:endParaRPr lang="en-IE" dirty="0"/>
          </a:p>
        </p:txBody>
      </p:sp>
    </p:spTree>
    <p:extLst>
      <p:ext uri="{BB962C8B-B14F-4D97-AF65-F5344CB8AC3E}">
        <p14:creationId xmlns:p14="http://schemas.microsoft.com/office/powerpoint/2010/main" val="3446270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8C18C1C-F4E1-D0B2-0E08-4DD85E593B8D}"/>
              </a:ext>
            </a:extLst>
          </p:cNvPr>
          <p:cNvSpPr>
            <a:spLocks noGrp="1"/>
          </p:cNvSpPr>
          <p:nvPr>
            <p:ph type="body" sz="quarter" idx="11"/>
          </p:nvPr>
        </p:nvSpPr>
        <p:spPr/>
        <p:txBody>
          <a:bodyPr/>
          <a:lstStyle/>
          <a:p>
            <a:r>
              <a:rPr lang="en-US" dirty="0"/>
              <a:t>Raw </a:t>
            </a:r>
            <a:r>
              <a:rPr lang="en-US" dirty="0" err="1"/>
              <a:t>Pyoil</a:t>
            </a:r>
            <a:endParaRPr lang="en-IE" dirty="0"/>
          </a:p>
        </p:txBody>
      </p:sp>
      <p:sp>
        <p:nvSpPr>
          <p:cNvPr id="3" name="Text Placeholder 2">
            <a:extLst>
              <a:ext uri="{FF2B5EF4-FFF2-40B4-BE49-F238E27FC236}">
                <a16:creationId xmlns:a16="http://schemas.microsoft.com/office/drawing/2014/main" id="{4D47AE67-BA94-37B6-AC6D-7D5B52CB41DB}"/>
              </a:ext>
            </a:extLst>
          </p:cNvPr>
          <p:cNvSpPr>
            <a:spLocks noGrp="1"/>
          </p:cNvSpPr>
          <p:nvPr>
            <p:ph type="body" sz="quarter" idx="13"/>
          </p:nvPr>
        </p:nvSpPr>
        <p:spPr/>
        <p:txBody>
          <a:bodyPr/>
          <a:lstStyle/>
          <a:p>
            <a:r>
              <a:rPr lang="en-US" dirty="0"/>
              <a:t>GC-MS</a:t>
            </a:r>
            <a:endParaRPr lang="en-IE" dirty="0"/>
          </a:p>
        </p:txBody>
      </p:sp>
      <p:pic>
        <p:nvPicPr>
          <p:cNvPr id="7" name="Picture 6">
            <a:extLst>
              <a:ext uri="{FF2B5EF4-FFF2-40B4-BE49-F238E27FC236}">
                <a16:creationId xmlns:a16="http://schemas.microsoft.com/office/drawing/2014/main" id="{077E0C77-AED0-EAE4-1BAF-33425DA71A90}"/>
              </a:ext>
            </a:extLst>
          </p:cNvPr>
          <p:cNvPicPr>
            <a:picLocks noChangeAspect="1"/>
          </p:cNvPicPr>
          <p:nvPr/>
        </p:nvPicPr>
        <p:blipFill>
          <a:blip r:embed="rId2"/>
          <a:stretch>
            <a:fillRect/>
          </a:stretch>
        </p:blipFill>
        <p:spPr>
          <a:xfrm>
            <a:off x="1478438" y="1850356"/>
            <a:ext cx="9235124" cy="4214867"/>
          </a:xfrm>
          <a:prstGeom prst="rect">
            <a:avLst/>
          </a:prstGeom>
        </p:spPr>
      </p:pic>
      <p:sp>
        <p:nvSpPr>
          <p:cNvPr id="16" name="TextBox 15">
            <a:extLst>
              <a:ext uri="{FF2B5EF4-FFF2-40B4-BE49-F238E27FC236}">
                <a16:creationId xmlns:a16="http://schemas.microsoft.com/office/drawing/2014/main" id="{89BB0913-8989-522E-FE93-3168C2A37914}"/>
              </a:ext>
            </a:extLst>
          </p:cNvPr>
          <p:cNvSpPr txBox="1"/>
          <p:nvPr/>
        </p:nvSpPr>
        <p:spPr>
          <a:xfrm rot="16200000">
            <a:off x="3724427" y="1561828"/>
            <a:ext cx="721672" cy="307777"/>
          </a:xfrm>
          <a:prstGeom prst="rect">
            <a:avLst/>
          </a:prstGeom>
          <a:noFill/>
        </p:spPr>
        <p:txBody>
          <a:bodyPr wrap="none" rtlCol="0">
            <a:spAutoFit/>
          </a:bodyPr>
          <a:lstStyle/>
          <a:p>
            <a:r>
              <a:rPr lang="en-US" sz="1400" dirty="0"/>
              <a:t>phenol</a:t>
            </a:r>
            <a:endParaRPr lang="en-IE" sz="1400" dirty="0"/>
          </a:p>
        </p:txBody>
      </p:sp>
      <p:sp>
        <p:nvSpPr>
          <p:cNvPr id="25" name="TextBox 24">
            <a:extLst>
              <a:ext uri="{FF2B5EF4-FFF2-40B4-BE49-F238E27FC236}">
                <a16:creationId xmlns:a16="http://schemas.microsoft.com/office/drawing/2014/main" id="{244682E3-1A7C-1482-F556-C7CD79A06A91}"/>
              </a:ext>
            </a:extLst>
          </p:cNvPr>
          <p:cNvSpPr txBox="1"/>
          <p:nvPr/>
        </p:nvSpPr>
        <p:spPr>
          <a:xfrm rot="16200000">
            <a:off x="3756436" y="3931648"/>
            <a:ext cx="1587294" cy="307777"/>
          </a:xfrm>
          <a:prstGeom prst="rect">
            <a:avLst/>
          </a:prstGeom>
          <a:noFill/>
        </p:spPr>
        <p:txBody>
          <a:bodyPr wrap="none" rtlCol="0">
            <a:spAutoFit/>
          </a:bodyPr>
          <a:lstStyle/>
          <a:p>
            <a:r>
              <a:rPr lang="en-IE" sz="1400" dirty="0"/>
              <a:t>Phenol, 2-methyl-</a:t>
            </a:r>
          </a:p>
        </p:txBody>
      </p:sp>
      <p:sp>
        <p:nvSpPr>
          <p:cNvPr id="27" name="TextBox 26">
            <a:extLst>
              <a:ext uri="{FF2B5EF4-FFF2-40B4-BE49-F238E27FC236}">
                <a16:creationId xmlns:a16="http://schemas.microsoft.com/office/drawing/2014/main" id="{7D7A487F-7C93-EBEE-D6E4-E163D6D2C0C2}"/>
              </a:ext>
            </a:extLst>
          </p:cNvPr>
          <p:cNvSpPr txBox="1"/>
          <p:nvPr/>
        </p:nvSpPr>
        <p:spPr>
          <a:xfrm rot="16200000">
            <a:off x="4278202" y="1836022"/>
            <a:ext cx="821059" cy="307777"/>
          </a:xfrm>
          <a:prstGeom prst="rect">
            <a:avLst/>
          </a:prstGeom>
          <a:noFill/>
        </p:spPr>
        <p:txBody>
          <a:bodyPr wrap="none" rtlCol="0">
            <a:spAutoFit/>
          </a:bodyPr>
          <a:lstStyle/>
          <a:p>
            <a:r>
              <a:rPr lang="en-US" sz="1400" dirty="0"/>
              <a:t>p-cresol</a:t>
            </a:r>
            <a:endParaRPr lang="en-IE" sz="1400" dirty="0"/>
          </a:p>
        </p:txBody>
      </p:sp>
      <p:cxnSp>
        <p:nvCxnSpPr>
          <p:cNvPr id="29" name="Straight Connector 28">
            <a:extLst>
              <a:ext uri="{FF2B5EF4-FFF2-40B4-BE49-F238E27FC236}">
                <a16:creationId xmlns:a16="http://schemas.microsoft.com/office/drawing/2014/main" id="{7A7E36FA-BF00-A6A0-F25A-464C4C5FBF3A}"/>
              </a:ext>
            </a:extLst>
          </p:cNvPr>
          <p:cNvCxnSpPr>
            <a:cxnSpLocks/>
            <a:endCxn id="27" idx="1"/>
          </p:cNvCxnSpPr>
          <p:nvPr/>
        </p:nvCxnSpPr>
        <p:spPr>
          <a:xfrm flipV="1">
            <a:off x="4688732" y="2400440"/>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2" name="TextBox 31">
            <a:extLst>
              <a:ext uri="{FF2B5EF4-FFF2-40B4-BE49-F238E27FC236}">
                <a16:creationId xmlns:a16="http://schemas.microsoft.com/office/drawing/2014/main" id="{ED4DCDAD-5F4F-C6BC-BCB7-853C44D1F088}"/>
              </a:ext>
            </a:extLst>
          </p:cNvPr>
          <p:cNvSpPr txBox="1"/>
          <p:nvPr/>
        </p:nvSpPr>
        <p:spPr>
          <a:xfrm rot="16200000">
            <a:off x="3955493" y="4078943"/>
            <a:ext cx="1736373" cy="307777"/>
          </a:xfrm>
          <a:prstGeom prst="rect">
            <a:avLst/>
          </a:prstGeom>
          <a:noFill/>
        </p:spPr>
        <p:txBody>
          <a:bodyPr wrap="none" rtlCol="0">
            <a:spAutoFit/>
          </a:bodyPr>
          <a:lstStyle/>
          <a:p>
            <a:r>
              <a:rPr lang="en-IE" sz="1400" dirty="0"/>
              <a:t>Phenol, 2-methoxy-</a:t>
            </a:r>
          </a:p>
        </p:txBody>
      </p:sp>
      <p:sp>
        <p:nvSpPr>
          <p:cNvPr id="34" name="TextBox 33">
            <a:extLst>
              <a:ext uri="{FF2B5EF4-FFF2-40B4-BE49-F238E27FC236}">
                <a16:creationId xmlns:a16="http://schemas.microsoft.com/office/drawing/2014/main" id="{01079973-BA70-19EA-4B85-8B98ACF9D2E2}"/>
              </a:ext>
            </a:extLst>
          </p:cNvPr>
          <p:cNvSpPr txBox="1"/>
          <p:nvPr/>
        </p:nvSpPr>
        <p:spPr>
          <a:xfrm rot="16200000">
            <a:off x="4412350" y="4300777"/>
            <a:ext cx="1438214" cy="307777"/>
          </a:xfrm>
          <a:prstGeom prst="rect">
            <a:avLst/>
          </a:prstGeom>
          <a:noFill/>
        </p:spPr>
        <p:txBody>
          <a:bodyPr wrap="none" rtlCol="0">
            <a:spAutoFit/>
          </a:bodyPr>
          <a:lstStyle/>
          <a:p>
            <a:r>
              <a:rPr lang="en-US" sz="1400" dirty="0"/>
              <a:t>Phenol, 2-ethyl-</a:t>
            </a:r>
            <a:endParaRPr lang="en-IE" sz="1400" dirty="0"/>
          </a:p>
        </p:txBody>
      </p:sp>
      <p:sp>
        <p:nvSpPr>
          <p:cNvPr id="36" name="TextBox 35">
            <a:extLst>
              <a:ext uri="{FF2B5EF4-FFF2-40B4-BE49-F238E27FC236}">
                <a16:creationId xmlns:a16="http://schemas.microsoft.com/office/drawing/2014/main" id="{4D89394A-782D-A3BB-F9CB-493C1A24C799}"/>
              </a:ext>
            </a:extLst>
          </p:cNvPr>
          <p:cNvSpPr txBox="1"/>
          <p:nvPr/>
        </p:nvSpPr>
        <p:spPr>
          <a:xfrm rot="16200000">
            <a:off x="4967139" y="4258786"/>
            <a:ext cx="891591" cy="307777"/>
          </a:xfrm>
          <a:prstGeom prst="rect">
            <a:avLst/>
          </a:prstGeom>
          <a:noFill/>
        </p:spPr>
        <p:txBody>
          <a:bodyPr wrap="none" rtlCol="0">
            <a:spAutoFit/>
          </a:bodyPr>
          <a:lstStyle/>
          <a:p>
            <a:r>
              <a:rPr lang="en-US" sz="1400" dirty="0"/>
              <a:t>Catechol</a:t>
            </a:r>
            <a:endParaRPr lang="en-IE" sz="1400" dirty="0"/>
          </a:p>
        </p:txBody>
      </p:sp>
      <p:sp>
        <p:nvSpPr>
          <p:cNvPr id="38" name="TextBox 37">
            <a:extLst>
              <a:ext uri="{FF2B5EF4-FFF2-40B4-BE49-F238E27FC236}">
                <a16:creationId xmlns:a16="http://schemas.microsoft.com/office/drawing/2014/main" id="{564E4D24-89E2-EB0A-13ED-D98C97334654}"/>
              </a:ext>
            </a:extLst>
          </p:cNvPr>
          <p:cNvSpPr txBox="1"/>
          <p:nvPr/>
        </p:nvSpPr>
        <p:spPr>
          <a:xfrm rot="16200000">
            <a:off x="4396488" y="3931647"/>
            <a:ext cx="2481770" cy="307777"/>
          </a:xfrm>
          <a:prstGeom prst="rect">
            <a:avLst/>
          </a:prstGeom>
          <a:noFill/>
        </p:spPr>
        <p:txBody>
          <a:bodyPr wrap="none" rtlCol="0">
            <a:spAutoFit/>
          </a:bodyPr>
          <a:lstStyle/>
          <a:p>
            <a:r>
              <a:rPr lang="en-IE" sz="1400" dirty="0"/>
              <a:t>Benzene, 1-ethyl-4-methoxy-</a:t>
            </a:r>
          </a:p>
        </p:txBody>
      </p:sp>
      <p:sp>
        <p:nvSpPr>
          <p:cNvPr id="40" name="TextBox 39">
            <a:extLst>
              <a:ext uri="{FF2B5EF4-FFF2-40B4-BE49-F238E27FC236}">
                <a16:creationId xmlns:a16="http://schemas.microsoft.com/office/drawing/2014/main" id="{813D52C6-0330-9AEA-603B-29677121F801}"/>
              </a:ext>
            </a:extLst>
          </p:cNvPr>
          <p:cNvSpPr txBox="1"/>
          <p:nvPr/>
        </p:nvSpPr>
        <p:spPr>
          <a:xfrm rot="16200000">
            <a:off x="4629727" y="1493904"/>
            <a:ext cx="2323072" cy="307777"/>
          </a:xfrm>
          <a:prstGeom prst="rect">
            <a:avLst/>
          </a:prstGeom>
          <a:noFill/>
        </p:spPr>
        <p:txBody>
          <a:bodyPr wrap="none" rtlCol="0">
            <a:spAutoFit/>
          </a:bodyPr>
          <a:lstStyle/>
          <a:p>
            <a:r>
              <a:rPr lang="en-IE" sz="1400" dirty="0"/>
              <a:t>1,2-Benzenediol, 3-methyl-</a:t>
            </a:r>
          </a:p>
        </p:txBody>
      </p:sp>
      <p:cxnSp>
        <p:nvCxnSpPr>
          <p:cNvPr id="41" name="Straight Connector 40">
            <a:extLst>
              <a:ext uri="{FF2B5EF4-FFF2-40B4-BE49-F238E27FC236}">
                <a16:creationId xmlns:a16="http://schemas.microsoft.com/office/drawing/2014/main" id="{2710A8E0-E24A-1B7B-6584-2675C330FFEA}"/>
              </a:ext>
            </a:extLst>
          </p:cNvPr>
          <p:cNvCxnSpPr>
            <a:cxnSpLocks/>
          </p:cNvCxnSpPr>
          <p:nvPr/>
        </p:nvCxnSpPr>
        <p:spPr>
          <a:xfrm flipV="1">
            <a:off x="5791262" y="2751001"/>
            <a:ext cx="0" cy="257542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43" name="TextBox 42">
            <a:extLst>
              <a:ext uri="{FF2B5EF4-FFF2-40B4-BE49-F238E27FC236}">
                <a16:creationId xmlns:a16="http://schemas.microsoft.com/office/drawing/2014/main" id="{C1EF3E86-CB44-F419-CC16-4C0381C5F5BC}"/>
              </a:ext>
            </a:extLst>
          </p:cNvPr>
          <p:cNvSpPr txBox="1"/>
          <p:nvPr/>
        </p:nvSpPr>
        <p:spPr>
          <a:xfrm rot="16200000">
            <a:off x="4775767" y="3853539"/>
            <a:ext cx="2332690" cy="307777"/>
          </a:xfrm>
          <a:prstGeom prst="rect">
            <a:avLst/>
          </a:prstGeom>
          <a:noFill/>
        </p:spPr>
        <p:txBody>
          <a:bodyPr wrap="none" rtlCol="0">
            <a:spAutoFit/>
          </a:bodyPr>
          <a:lstStyle/>
          <a:p>
            <a:r>
              <a:rPr lang="en-US" sz="1400" dirty="0"/>
              <a:t>Phenol, 4-ethyl-2-methoxy-</a:t>
            </a:r>
            <a:endParaRPr lang="en-IE" sz="1400" dirty="0"/>
          </a:p>
        </p:txBody>
      </p:sp>
    </p:spTree>
    <p:extLst>
      <p:ext uri="{BB962C8B-B14F-4D97-AF65-F5344CB8AC3E}">
        <p14:creationId xmlns:p14="http://schemas.microsoft.com/office/powerpoint/2010/main" val="21336248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AF609-39DB-3CC1-6059-D02EDFDF70C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BC16773-8ED2-AD67-6CAD-752C0FCCAED9}"/>
              </a:ext>
            </a:extLst>
          </p:cNvPr>
          <p:cNvSpPr>
            <a:spLocks noGrp="1"/>
          </p:cNvSpPr>
          <p:nvPr>
            <p:ph type="body" sz="quarter" idx="11"/>
          </p:nvPr>
        </p:nvSpPr>
        <p:spPr/>
        <p:txBody>
          <a:bodyPr/>
          <a:lstStyle/>
          <a:p>
            <a:r>
              <a:rPr lang="en-AU" dirty="0"/>
              <a:t>How to continue the Phase 1 study</a:t>
            </a:r>
          </a:p>
        </p:txBody>
      </p:sp>
      <p:sp>
        <p:nvSpPr>
          <p:cNvPr id="3" name="Text Placeholder 2">
            <a:extLst>
              <a:ext uri="{FF2B5EF4-FFF2-40B4-BE49-F238E27FC236}">
                <a16:creationId xmlns:a16="http://schemas.microsoft.com/office/drawing/2014/main" id="{995F5328-5B47-A50E-DEC1-8C69364C6BED}"/>
              </a:ext>
            </a:extLst>
          </p:cNvPr>
          <p:cNvSpPr>
            <a:spLocks noGrp="1"/>
          </p:cNvSpPr>
          <p:nvPr>
            <p:ph type="body" sz="quarter" idx="13"/>
          </p:nvPr>
        </p:nvSpPr>
        <p:spPr>
          <a:xfrm>
            <a:off x="306060" y="326309"/>
            <a:ext cx="9221398" cy="736956"/>
          </a:xfrm>
        </p:spPr>
        <p:txBody>
          <a:bodyPr/>
          <a:lstStyle/>
          <a:p>
            <a:r>
              <a:rPr lang="en-AU" dirty="0"/>
              <a:t>The storyline</a:t>
            </a:r>
          </a:p>
        </p:txBody>
      </p:sp>
      <p:sp>
        <p:nvSpPr>
          <p:cNvPr id="6" name="Slide Number Placeholder 3">
            <a:extLst>
              <a:ext uri="{FF2B5EF4-FFF2-40B4-BE49-F238E27FC236}">
                <a16:creationId xmlns:a16="http://schemas.microsoft.com/office/drawing/2014/main" id="{62F58D1B-228D-FF39-00B1-E7755F8013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41</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EB4C311-7405-23CE-40F2-E08F0FCC7B6D}"/>
              </a:ext>
            </a:extLst>
          </p:cNvPr>
          <p:cNvSpPr txBox="1"/>
          <p:nvPr/>
        </p:nvSpPr>
        <p:spPr>
          <a:xfrm>
            <a:off x="722993" y="1445229"/>
            <a:ext cx="10112155" cy="2862322"/>
          </a:xfrm>
          <a:prstGeom prst="rect">
            <a:avLst/>
          </a:prstGeom>
          <a:noFill/>
        </p:spPr>
        <p:txBody>
          <a:bodyPr wrap="square" rtlCol="0">
            <a:spAutoFit/>
          </a:bodyPr>
          <a:lstStyle/>
          <a:p>
            <a:pPr marL="285750" indent="-285750">
              <a:buFontTx/>
              <a:buChar char="-"/>
            </a:pPr>
            <a:r>
              <a:rPr lang="en-US" dirty="0"/>
              <a:t>We don’t say that water stripping fail, we say that it didn’t address the acidity problem but we extract value-added compounds from the oil? </a:t>
            </a:r>
          </a:p>
          <a:p>
            <a:pPr marL="285750" indent="-285750">
              <a:buFontTx/>
              <a:buChar char="-"/>
            </a:pPr>
            <a:r>
              <a:rPr lang="en-US" dirty="0"/>
              <a:t>Follow up by saying that we think another way (water extraction, vacuum dry and age) might still work out, given that we can still get value added distillate. Still focus on GC-MS as the primary tool to see what we can pull out. </a:t>
            </a:r>
          </a:p>
          <a:p>
            <a:pPr marL="285750" indent="-285750">
              <a:buFontTx/>
              <a:buChar char="-"/>
            </a:pPr>
            <a:r>
              <a:rPr lang="en-US" dirty="0"/>
              <a:t>So the story goes like this: before we use whatever bottoms we have left as MFO, we try to extract useful stuff from it first. 	</a:t>
            </a:r>
          </a:p>
          <a:p>
            <a:pPr marL="285750" indent="-285750">
              <a:buFontTx/>
              <a:buChar char="-"/>
            </a:pPr>
            <a:endParaRPr lang="en-US" dirty="0"/>
          </a:p>
          <a:p>
            <a:pPr marL="285750" indent="-285750">
              <a:buFontTx/>
              <a:buChar char="-"/>
            </a:pPr>
            <a:endParaRPr lang="en-US" dirty="0"/>
          </a:p>
          <a:p>
            <a:pPr marL="285750" indent="-285750">
              <a:buFontTx/>
              <a:buChar char="-"/>
            </a:pPr>
            <a:endParaRPr lang="en-IE" dirty="0"/>
          </a:p>
        </p:txBody>
      </p:sp>
    </p:spTree>
    <p:extLst>
      <p:ext uri="{BB962C8B-B14F-4D97-AF65-F5344CB8AC3E}">
        <p14:creationId xmlns:p14="http://schemas.microsoft.com/office/powerpoint/2010/main" val="20975002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C7C3-B0C5-5A46-779B-0ABBC64E718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A0D43F-7DC1-8082-8F5D-A22CEAF13941}"/>
              </a:ext>
            </a:extLst>
          </p:cNvPr>
          <p:cNvSpPr>
            <a:spLocks noGrp="1"/>
          </p:cNvSpPr>
          <p:nvPr>
            <p:ph type="body" sz="quarter" idx="11"/>
          </p:nvPr>
        </p:nvSpPr>
        <p:spPr/>
        <p:txBody>
          <a:bodyPr/>
          <a:lstStyle/>
          <a:p>
            <a:r>
              <a:rPr lang="en-AU" dirty="0"/>
              <a:t>Miscellaneous Content</a:t>
            </a:r>
          </a:p>
        </p:txBody>
      </p:sp>
      <p:sp>
        <p:nvSpPr>
          <p:cNvPr id="3" name="Text Placeholder 2">
            <a:extLst>
              <a:ext uri="{FF2B5EF4-FFF2-40B4-BE49-F238E27FC236}">
                <a16:creationId xmlns:a16="http://schemas.microsoft.com/office/drawing/2014/main" id="{309D4857-2BBB-037A-B508-F67BD46E10AC}"/>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639CFB7-B775-EDEA-8BFD-DE4E03E52E6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42</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CB8DCD50-AE7A-6F3F-29DC-DC9D2BDA932E}"/>
              </a:ext>
            </a:extLst>
          </p:cNvPr>
          <p:cNvSpPr txBox="1"/>
          <p:nvPr/>
        </p:nvSpPr>
        <p:spPr>
          <a:xfrm>
            <a:off x="722993" y="1445229"/>
            <a:ext cx="10112155" cy="4247317"/>
          </a:xfrm>
          <a:prstGeom prst="rect">
            <a:avLst/>
          </a:prstGeom>
          <a:noFill/>
        </p:spPr>
        <p:txBody>
          <a:bodyPr wrap="square" rtlCol="0">
            <a:spAutoFit/>
          </a:bodyPr>
          <a:lstStyle/>
          <a:p>
            <a:pPr marL="285750" indent="-285750">
              <a:buFontTx/>
              <a:buChar char="-"/>
            </a:pPr>
            <a:r>
              <a:rPr lang="en-US" dirty="0"/>
              <a:t>Investigating other pathways to reduce the TAN: </a:t>
            </a:r>
          </a:p>
          <a:p>
            <a:pPr marL="742950" lvl="1" indent="-285750">
              <a:buFontTx/>
              <a:buChar char="-"/>
            </a:pPr>
            <a:r>
              <a:rPr lang="en-US" dirty="0"/>
              <a:t>Alcoholic Esterification: FYP, attempt uses of other entrainers (one potential is </a:t>
            </a:r>
            <a:r>
              <a:rPr lang="en-US" dirty="0" err="1"/>
              <a:t>diethylether</a:t>
            </a:r>
            <a:r>
              <a:rPr lang="en-US" dirty="0"/>
              <a:t>, although there’s some safety concerns) </a:t>
            </a:r>
          </a:p>
          <a:p>
            <a:pPr marL="742950" lvl="1" indent="-285750">
              <a:buFontTx/>
              <a:buChar char="-"/>
            </a:pPr>
            <a:r>
              <a:rPr lang="en-US" dirty="0"/>
              <a:t>Phenyl Esterification </a:t>
            </a:r>
          </a:p>
          <a:p>
            <a:pPr marL="742950" lvl="1" indent="-285750">
              <a:buFontTx/>
              <a:buChar char="-"/>
            </a:pPr>
            <a:r>
              <a:rPr lang="en-US" dirty="0"/>
              <a:t>Water Extraction, neutralization: not research-grade worthy unless maybe we investigate aging after a series of extractions? </a:t>
            </a:r>
          </a:p>
          <a:p>
            <a:pPr marL="285750" indent="-285750">
              <a:buFontTx/>
              <a:buChar char="-"/>
            </a:pPr>
            <a:r>
              <a:rPr lang="en-US" dirty="0"/>
              <a:t>Analysis methodologies</a:t>
            </a:r>
          </a:p>
          <a:p>
            <a:pPr marL="742950" lvl="1" indent="-285750">
              <a:buFontTx/>
              <a:buChar char="-"/>
            </a:pPr>
            <a:r>
              <a:rPr lang="en-US" dirty="0"/>
              <a:t>GC-MS: can load 3 vials at a time, cannot detect acetic acid, try new more polar column (DB-WAX instead of HP-5) </a:t>
            </a:r>
          </a:p>
          <a:p>
            <a:pPr marL="742950" lvl="1" indent="-285750">
              <a:buFontTx/>
              <a:buChar char="-"/>
            </a:pPr>
            <a:r>
              <a:rPr lang="en-US" dirty="0"/>
              <a:t>KF: Our current method seems to overestimate the water content of </a:t>
            </a:r>
            <a:r>
              <a:rPr lang="en-US" dirty="0" err="1"/>
              <a:t>pyoil</a:t>
            </a:r>
            <a:r>
              <a:rPr lang="en-US" dirty="0"/>
              <a:t> by 4x compared to SGS. </a:t>
            </a:r>
          </a:p>
          <a:p>
            <a:pPr marL="285750" indent="-285750">
              <a:buFontTx/>
              <a:buChar char="-"/>
            </a:pPr>
            <a:r>
              <a:rPr lang="en-US" dirty="0"/>
              <a:t>Miscibility and homogeneity: Blending </a:t>
            </a:r>
            <a:r>
              <a:rPr lang="en-US" dirty="0" err="1"/>
              <a:t>pyoil</a:t>
            </a:r>
            <a:r>
              <a:rPr lang="en-US" dirty="0"/>
              <a:t> with MFO has miscibility problems, evidenced by blend in tube -&gt; sample -&gt; measure vs blend in beaker -&gt; measure. Latter matches up with TAN modelling</a:t>
            </a:r>
          </a:p>
          <a:p>
            <a:pPr marL="285750" indent="-285750">
              <a:buFontTx/>
              <a:buChar char="-"/>
            </a:pPr>
            <a:endParaRPr lang="en-IE" dirty="0"/>
          </a:p>
        </p:txBody>
      </p:sp>
    </p:spTree>
    <p:extLst>
      <p:ext uri="{BB962C8B-B14F-4D97-AF65-F5344CB8AC3E}">
        <p14:creationId xmlns:p14="http://schemas.microsoft.com/office/powerpoint/2010/main" val="2132185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dirty="0"/>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43</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44</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45</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headEnd type="none" w="med" len="med"/>
          <a:tailEnd type="none" w="med" len="med"/>
        </a:ln>
      </a:spPr>
      <a:bodyPr/>
      <a:lstStyle/>
      <a:style>
        <a:lnRef idx="3">
          <a:schemeClr val="dk1"/>
        </a:lnRef>
        <a:fillRef idx="0">
          <a:schemeClr val="dk1"/>
        </a:fillRef>
        <a:effectRef idx="2">
          <a:schemeClr val="dk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45965</TotalTime>
  <Words>4164</Words>
  <Application>Microsoft Office PowerPoint</Application>
  <PresentationFormat>Widescreen</PresentationFormat>
  <Paragraphs>887</Paragraphs>
  <Slides>45</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45</vt:i4>
      </vt:variant>
    </vt:vector>
  </HeadingPairs>
  <TitlesOfParts>
    <vt:vector size="49" baseType="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459</cp:revision>
  <cp:lastPrinted>2017-06-07T05:21:52Z</cp:lastPrinted>
  <dcterms:created xsi:type="dcterms:W3CDTF">2017-05-31T01:24:04Z</dcterms:created>
  <dcterms:modified xsi:type="dcterms:W3CDTF">2026-10-07T18:12:25Z</dcterms:modified>
</cp:coreProperties>
</file>