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37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0E44F-9EAF-F62E-80A6-9E10A11DEB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2E9EA8-5E28-4444-F2BE-51C4559DEC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FC7FE0-F49A-3645-C23F-7E32B9D0D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F574D-51A9-453F-9F05-D96A5AB56938}" type="datetimeFigureOut">
              <a:rPr lang="en-IE" smtClean="0"/>
              <a:t>21/08/2026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ADB804-367C-08A8-382F-5B5548C35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A3744C-ACB2-6891-CE03-88EDBDADF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79B5F-4042-41F2-BE1B-7DBE1457D42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978333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7937B-2EFD-4157-DE4E-CFB3548DE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5F2B16-8F9D-E628-CB29-0C33AF4514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AF5637-4EBB-3B0D-AAEC-6C182793C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F574D-51A9-453F-9F05-D96A5AB56938}" type="datetimeFigureOut">
              <a:rPr lang="en-IE" smtClean="0"/>
              <a:t>21/08/2026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A9D23B-D473-79C9-DAB1-11821AA48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00A62E-B07C-1B3A-D279-AD1BFF761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79B5F-4042-41F2-BE1B-7DBE1457D42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4050996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ABF51-A442-2D2B-1931-E6748D1DF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D7370C-9E2B-D125-133E-2227CC41FD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49A8B5-5BE0-5B5C-083C-4C7794181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F574D-51A9-453F-9F05-D96A5AB56938}" type="datetimeFigureOut">
              <a:rPr lang="en-IE" smtClean="0"/>
              <a:t>21/08/2026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70F47F-3459-CD8A-AD1F-B6DD267DA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6C2215-8E5E-30C5-7835-008C3A3BE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79B5F-4042-41F2-BE1B-7DBE1457D42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1598062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18EB3-1E23-504B-7F7C-D8D08F860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1711F5-A3B7-EB8D-0A33-BA6DC6EBED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3D49FA-D567-6279-9980-CD3EE55B85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C8F883-2765-A361-E716-F89FC2BC0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F574D-51A9-453F-9F05-D96A5AB56938}" type="datetimeFigureOut">
              <a:rPr lang="en-IE" smtClean="0"/>
              <a:t>21/08/2026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2307BA-8FD9-43F0-2F8E-D3BB1E33B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AB7A24-8EE9-28D9-44B7-2070E6993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79B5F-4042-41F2-BE1B-7DBE1457D42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9676174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CB3B3-E356-870F-19EF-7BD31D76B8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420710-1001-E9CB-EE60-A01D309368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85A336-B17C-3BEF-2CFF-50BB20A89E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63FFCF-5442-7E0E-1186-F838D1E89C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287018-D367-18BF-B2D6-9796EB114F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641182-A51A-B959-AFC1-3A3F9620C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F574D-51A9-453F-9F05-D96A5AB56938}" type="datetimeFigureOut">
              <a:rPr lang="en-IE" smtClean="0"/>
              <a:t>21/08/2026</a:t>
            </a:fld>
            <a:endParaRPr lang="en-I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A745E72-4E5B-F148-C8A2-8039CD5D1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83C808-1A73-6EFB-64E9-A18695EAA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79B5F-4042-41F2-BE1B-7DBE1457D42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0867063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3B351-E91C-F829-5900-220AB84EF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B715A4-B457-D23A-8B9D-10DD4BD4E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F574D-51A9-453F-9F05-D96A5AB56938}" type="datetimeFigureOut">
              <a:rPr lang="en-IE" smtClean="0"/>
              <a:t>21/08/2026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B06000-BAB3-F716-E5F3-04C33F630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FAB1A5-080C-7455-BA24-B67ED8E2A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79B5F-4042-41F2-BE1B-7DBE1457D42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9709766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7795A8-82BC-B198-D9DE-4397A525E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F574D-51A9-453F-9F05-D96A5AB56938}" type="datetimeFigureOut">
              <a:rPr lang="en-IE" smtClean="0"/>
              <a:t>21/08/2026</a:t>
            </a:fld>
            <a:endParaRPr lang="en-I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A67C01-9C89-4598-FEBB-AD1BD69A4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02A56C-8587-50AF-CFDD-2A9FD591C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79B5F-4042-41F2-BE1B-7DBE1457D42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5587387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E619E-3263-7411-14AD-704C8A9F85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41A75E-E781-D62A-CA61-573B7267BF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6CD117-0013-F7B9-D04A-91B1CB618D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634A7D-2247-3D23-FD50-516E826CB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F574D-51A9-453F-9F05-D96A5AB56938}" type="datetimeFigureOut">
              <a:rPr lang="en-IE" smtClean="0"/>
              <a:t>21/08/2026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7240BF-68C9-AB2D-7B6D-2A16A7DA2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A9088D-D03B-0E68-4154-25A9E6537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79B5F-4042-41F2-BE1B-7DBE1457D42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2976001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89BCA-9DD5-BAB2-1D21-A68388AAE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76BE3A-07EC-1656-F100-39232C64F1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012935-BBB4-05D4-4115-9C14E2E237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245451-C32D-2CF9-380D-962926787C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F574D-51A9-453F-9F05-D96A5AB56938}" type="datetimeFigureOut">
              <a:rPr lang="en-IE" smtClean="0"/>
              <a:t>21/08/2026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1D7250-45A9-6C00-3508-278BE207A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3FEFEA-EE50-20FC-A3F6-3535998FB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79B5F-4042-41F2-BE1B-7DBE1457D42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7810380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863A7-EFB7-58DE-E14D-6F591D98B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83E244-77E9-E654-1A55-0E51C792FD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C2FA12-A0B9-9FCB-0A57-AF0520DB7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F574D-51A9-453F-9F05-D96A5AB56938}" type="datetimeFigureOut">
              <a:rPr lang="en-IE" smtClean="0"/>
              <a:t>21/08/2026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3A173B-8F81-F4DD-C534-1740CEF56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19591F-D2FC-52CE-36EA-99903F8DC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79B5F-4042-41F2-BE1B-7DBE1457D42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5566787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0516ED-7D0C-F989-EA33-C0CEF2DE55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1D8235-B8AF-E421-2272-49844FA854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D42C77-5C9F-CAB8-DB92-D2EDE1EB4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F574D-51A9-453F-9F05-D96A5AB56938}" type="datetimeFigureOut">
              <a:rPr lang="en-IE" smtClean="0"/>
              <a:t>21/08/2026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C59C7F-0FEB-8FEA-74FA-4A7DEE18F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E772A3-7807-8E91-B6D5-9ED1B5A00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79B5F-4042-41F2-BE1B-7DBE1457D42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5062942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00B808-E67F-2839-1D55-2128F7060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967FD2-3EF3-3929-754B-FAB11A5828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A7CD8-C284-CF60-23C4-1A8E2BE2EC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DF574D-51A9-453F-9F05-D96A5AB56938}" type="datetimeFigureOut">
              <a:rPr lang="en-IE" smtClean="0"/>
              <a:t>21/08/2026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F0DCB5-6F33-3592-5E8E-43B49D7524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108B0B-374B-98DE-8D87-2516D50BEA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B79B5F-4042-41F2-BE1B-7DBE1457D42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1317533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>
            <a:extLst>
              <a:ext uri="{FF2B5EF4-FFF2-40B4-BE49-F238E27FC236}">
                <a16:creationId xmlns:a16="http://schemas.microsoft.com/office/drawing/2014/main" id="{6EA5213E-2F2C-3C01-A146-50AB1B237DE6}"/>
              </a:ext>
            </a:extLst>
          </p:cNvPr>
          <p:cNvGrpSpPr/>
          <p:nvPr/>
        </p:nvGrpSpPr>
        <p:grpSpPr>
          <a:xfrm>
            <a:off x="851805" y="1602036"/>
            <a:ext cx="9747369" cy="3554983"/>
            <a:chOff x="851805" y="1602036"/>
            <a:chExt cx="9747369" cy="3554983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BC91C450-9FC9-FED6-3AC0-C4C2C5D40525}"/>
                </a:ext>
              </a:extLst>
            </p:cNvPr>
            <p:cNvGrpSpPr/>
            <p:nvPr/>
          </p:nvGrpSpPr>
          <p:grpSpPr>
            <a:xfrm>
              <a:off x="963561" y="1602036"/>
              <a:ext cx="9635613" cy="1278816"/>
              <a:chOff x="2251587" y="2840900"/>
              <a:chExt cx="9635613" cy="1278816"/>
            </a:xfrm>
          </p:grpSpPr>
          <p:sp>
            <p:nvSpPr>
              <p:cNvPr id="4" name="Flowchart: Process 3">
                <a:extLst>
                  <a:ext uri="{FF2B5EF4-FFF2-40B4-BE49-F238E27FC236}">
                    <a16:creationId xmlns:a16="http://schemas.microsoft.com/office/drawing/2014/main" id="{76F7BA0E-A4E5-86A6-DB81-436D82CF6526}"/>
                  </a:ext>
                </a:extLst>
              </p:cNvPr>
              <p:cNvSpPr/>
              <p:nvPr/>
            </p:nvSpPr>
            <p:spPr>
              <a:xfrm>
                <a:off x="4670322" y="2998838"/>
                <a:ext cx="2163097" cy="1120878"/>
              </a:xfrm>
              <a:prstGeom prst="flowChartProcess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ysClr val="windowText" lastClr="000000"/>
                    </a:solidFill>
                  </a:rPr>
                  <a:t>Distillation</a:t>
                </a:r>
                <a:endParaRPr lang="en-IE" dirty="0">
                  <a:solidFill>
                    <a:sysClr val="windowText" lastClr="000000"/>
                  </a:solidFill>
                </a:endParaRPr>
              </a:p>
            </p:txBody>
          </p:sp>
          <p:cxnSp>
            <p:nvCxnSpPr>
              <p:cNvPr id="9" name="Straight Arrow Connector 8">
                <a:extLst>
                  <a:ext uri="{FF2B5EF4-FFF2-40B4-BE49-F238E27FC236}">
                    <a16:creationId xmlns:a16="http://schemas.microsoft.com/office/drawing/2014/main" id="{5AE3044A-5479-9B34-B4E4-AAA9E4A09767}"/>
                  </a:ext>
                </a:extLst>
              </p:cNvPr>
              <p:cNvCxnSpPr/>
              <p:nvPr/>
            </p:nvCxnSpPr>
            <p:spPr>
              <a:xfrm>
                <a:off x="2251587" y="3795252"/>
                <a:ext cx="2408903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AFEF4DC-EC22-9913-0D9A-FE93C7F59907}"/>
                  </a:ext>
                </a:extLst>
              </p:cNvPr>
              <p:cNvSpPr txBox="1"/>
              <p:nvPr/>
            </p:nvSpPr>
            <p:spPr>
              <a:xfrm>
                <a:off x="2989007" y="2924474"/>
                <a:ext cx="77463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ysClr val="windowText" lastClr="000000"/>
                    </a:solidFill>
                  </a:rPr>
                  <a:t>Water</a:t>
                </a:r>
                <a:endParaRPr lang="en-IE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4C7B200-1563-12C7-2A7B-58A99D4388D1}"/>
                  </a:ext>
                </a:extLst>
              </p:cNvPr>
              <p:cNvSpPr txBox="1"/>
              <p:nvPr/>
            </p:nvSpPr>
            <p:spPr>
              <a:xfrm>
                <a:off x="2759886" y="3467083"/>
                <a:ext cx="139230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ysClr val="windowText" lastClr="000000"/>
                    </a:solidFill>
                  </a:rPr>
                  <a:t>Pyrolysis Oil</a:t>
                </a:r>
                <a:endParaRPr lang="en-IE" dirty="0">
                  <a:solidFill>
                    <a:sysClr val="windowText" lastClr="000000"/>
                  </a:solidFill>
                </a:endParaRPr>
              </a:p>
            </p:txBody>
          </p: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F7121ED3-CEC2-9E29-FA69-3CD23D32529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33419" y="3210232"/>
                <a:ext cx="2379407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Arrow Connector 17">
                <a:extLst>
                  <a:ext uri="{FF2B5EF4-FFF2-40B4-BE49-F238E27FC236}">
                    <a16:creationId xmlns:a16="http://schemas.microsoft.com/office/drawing/2014/main" id="{42AF2E17-9C1C-0303-D63F-A46F48BEC34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33419" y="3836415"/>
                <a:ext cx="2379407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CEC0389-E097-FC17-B1F5-7D99DE38DD4D}"/>
                  </a:ext>
                </a:extLst>
              </p:cNvPr>
              <p:cNvSpPr txBox="1"/>
              <p:nvPr/>
            </p:nvSpPr>
            <p:spPr>
              <a:xfrm>
                <a:off x="6957638" y="2840900"/>
                <a:ext cx="2130968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ysClr val="windowText" lastClr="000000"/>
                    </a:solidFill>
                  </a:rPr>
                  <a:t>Water-rich distillate</a:t>
                </a:r>
                <a:endParaRPr lang="en-IE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1DBD172-6F90-BA75-DB98-1327EB805401}"/>
                  </a:ext>
                </a:extLst>
              </p:cNvPr>
              <p:cNvSpPr txBox="1"/>
              <p:nvPr/>
            </p:nvSpPr>
            <p:spPr>
              <a:xfrm>
                <a:off x="7230854" y="3463102"/>
                <a:ext cx="158453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ysClr val="windowText" lastClr="000000"/>
                    </a:solidFill>
                  </a:rPr>
                  <a:t>Bottom phase</a:t>
                </a:r>
                <a:endParaRPr lang="en-IE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6" name="Flowchart: Process 25">
                <a:extLst>
                  <a:ext uri="{FF2B5EF4-FFF2-40B4-BE49-F238E27FC236}">
                    <a16:creationId xmlns:a16="http://schemas.microsoft.com/office/drawing/2014/main" id="{E6A794F0-85A1-CD1C-6C3B-CAB3FE44419E}"/>
                  </a:ext>
                </a:extLst>
              </p:cNvPr>
              <p:cNvSpPr/>
              <p:nvPr/>
            </p:nvSpPr>
            <p:spPr>
              <a:xfrm>
                <a:off x="9222657" y="2998838"/>
                <a:ext cx="2664543" cy="1120878"/>
              </a:xfrm>
              <a:prstGeom prst="flowChartProcess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ysClr val="windowText" lastClr="000000"/>
                    </a:solidFill>
                  </a:rPr>
                  <a:t>Analysis </a:t>
                </a:r>
              </a:p>
              <a:p>
                <a:pPr algn="ctr"/>
                <a:r>
                  <a:rPr lang="en-US" dirty="0">
                    <a:solidFill>
                      <a:sysClr val="windowText" lastClr="000000"/>
                    </a:solidFill>
                  </a:rPr>
                  <a:t>(TAN, Water Content, GC-MS, Cl and TNTS)</a:t>
                </a:r>
                <a:endParaRPr lang="en-IE" dirty="0">
                  <a:solidFill>
                    <a:sysClr val="windowText" lastClr="000000"/>
                  </a:solidFill>
                </a:endParaRPr>
              </a:p>
            </p:txBody>
          </p:sp>
          <p:cxnSp>
            <p:nvCxnSpPr>
              <p:cNvPr id="27" name="Straight Arrow Connector 26">
                <a:extLst>
                  <a:ext uri="{FF2B5EF4-FFF2-40B4-BE49-F238E27FC236}">
                    <a16:creationId xmlns:a16="http://schemas.microsoft.com/office/drawing/2014/main" id="{E6949160-3482-CA86-5FC5-9D262BA4CE9E}"/>
                  </a:ext>
                </a:extLst>
              </p:cNvPr>
              <p:cNvCxnSpPr/>
              <p:nvPr/>
            </p:nvCxnSpPr>
            <p:spPr>
              <a:xfrm>
                <a:off x="2261419" y="3293806"/>
                <a:ext cx="2408903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0" name="Flowchart: Process 29">
              <a:extLst>
                <a:ext uri="{FF2B5EF4-FFF2-40B4-BE49-F238E27FC236}">
                  <a16:creationId xmlns:a16="http://schemas.microsoft.com/office/drawing/2014/main" id="{72C243C4-5501-1A6B-3D72-CEFF576BE247}"/>
                </a:ext>
              </a:extLst>
            </p:cNvPr>
            <p:cNvSpPr/>
            <p:nvPr/>
          </p:nvSpPr>
          <p:spPr>
            <a:xfrm>
              <a:off x="3270540" y="4036141"/>
              <a:ext cx="2163097" cy="1120878"/>
            </a:xfrm>
            <a:prstGeom prst="flowChartProcess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Distillation</a:t>
              </a:r>
              <a:endParaRPr lang="en-IE" dirty="0">
                <a:solidFill>
                  <a:sysClr val="windowText" lastClr="000000"/>
                </a:solidFill>
              </a:endParaRP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C3945206-55C7-E9BB-EAE7-77A7EEEF8115}"/>
                </a:ext>
              </a:extLst>
            </p:cNvPr>
            <p:cNvCxnSpPr/>
            <p:nvPr/>
          </p:nvCxnSpPr>
          <p:spPr>
            <a:xfrm>
              <a:off x="851805" y="4832555"/>
              <a:ext cx="2408903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76ECAC66-150E-1F53-AA9A-2956D1B973C8}"/>
                </a:ext>
              </a:extLst>
            </p:cNvPr>
            <p:cNvSpPr txBox="1"/>
            <p:nvPr/>
          </p:nvSpPr>
          <p:spPr>
            <a:xfrm>
              <a:off x="1589225" y="3961777"/>
              <a:ext cx="1472839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ysClr val="windowText" lastClr="000000"/>
                  </a:solidFill>
                </a:rPr>
                <a:t>Cyclohexane</a:t>
              </a:r>
              <a:endParaRPr lang="en-IE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02FFC7E2-5B65-3DCF-C903-F6A5402FF492}"/>
                </a:ext>
              </a:extLst>
            </p:cNvPr>
            <p:cNvSpPr txBox="1"/>
            <p:nvPr/>
          </p:nvSpPr>
          <p:spPr>
            <a:xfrm>
              <a:off x="1360104" y="4504386"/>
              <a:ext cx="13923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ysClr val="windowText" lastClr="000000"/>
                  </a:solidFill>
                </a:rPr>
                <a:t>Pyrolysis Oil</a:t>
              </a:r>
              <a:endParaRPr lang="en-IE" dirty="0">
                <a:solidFill>
                  <a:sysClr val="windowText" lastClr="000000"/>
                </a:solidFill>
              </a:endParaRPr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8E09F860-FEB4-C4A9-F3E0-DEA995792EAA}"/>
                </a:ext>
              </a:extLst>
            </p:cNvPr>
            <p:cNvCxnSpPr>
              <a:cxnSpLocks/>
            </p:cNvCxnSpPr>
            <p:nvPr/>
          </p:nvCxnSpPr>
          <p:spPr>
            <a:xfrm>
              <a:off x="5438553" y="4146443"/>
              <a:ext cx="2379407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3270A83E-8BC6-6045-95F4-D96958BA5645}"/>
                </a:ext>
              </a:extLst>
            </p:cNvPr>
            <p:cNvCxnSpPr>
              <a:cxnSpLocks/>
            </p:cNvCxnSpPr>
            <p:nvPr/>
          </p:nvCxnSpPr>
          <p:spPr>
            <a:xfrm>
              <a:off x="5448384" y="4590416"/>
              <a:ext cx="2379407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14A3CF59-A659-37B4-DD37-60A77260CFCF}"/>
                </a:ext>
              </a:extLst>
            </p:cNvPr>
            <p:cNvSpPr txBox="1"/>
            <p:nvPr/>
          </p:nvSpPr>
          <p:spPr>
            <a:xfrm>
              <a:off x="5562772" y="3777111"/>
              <a:ext cx="2130968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ysClr val="windowText" lastClr="000000"/>
                  </a:solidFill>
                </a:rPr>
                <a:t>Water-rich distillate</a:t>
              </a:r>
              <a:endParaRPr lang="en-IE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A396816B-22B3-93C8-DD8A-C9892DBF2A39}"/>
                </a:ext>
              </a:extLst>
            </p:cNvPr>
            <p:cNvSpPr txBox="1"/>
            <p:nvPr/>
          </p:nvSpPr>
          <p:spPr>
            <a:xfrm>
              <a:off x="5545393" y="4228768"/>
              <a:ext cx="2133276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ysClr val="windowText" lastClr="000000"/>
                  </a:solidFill>
                </a:rPr>
                <a:t>Cyclohexane phase</a:t>
              </a:r>
              <a:endParaRPr lang="en-IE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8" name="Flowchart: Process 37">
              <a:extLst>
                <a:ext uri="{FF2B5EF4-FFF2-40B4-BE49-F238E27FC236}">
                  <a16:creationId xmlns:a16="http://schemas.microsoft.com/office/drawing/2014/main" id="{DDA66983-79D3-65B2-50F2-EA857FC9C08B}"/>
                </a:ext>
              </a:extLst>
            </p:cNvPr>
            <p:cNvSpPr/>
            <p:nvPr/>
          </p:nvSpPr>
          <p:spPr>
            <a:xfrm>
              <a:off x="7822875" y="4036141"/>
              <a:ext cx="2664543" cy="1120878"/>
            </a:xfrm>
            <a:prstGeom prst="flowChartProcess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Analysis </a:t>
              </a:r>
            </a:p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(TAN, Water Content, GC-MS, Cl and TNTS)</a:t>
              </a:r>
              <a:endParaRPr lang="en-IE" dirty="0">
                <a:solidFill>
                  <a:sysClr val="windowText" lastClr="000000"/>
                </a:solidFill>
              </a:endParaRPr>
            </a:p>
          </p:txBody>
        </p: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4A487241-68F6-8812-F4ED-458679CB2E1F}"/>
                </a:ext>
              </a:extLst>
            </p:cNvPr>
            <p:cNvCxnSpPr/>
            <p:nvPr/>
          </p:nvCxnSpPr>
          <p:spPr>
            <a:xfrm>
              <a:off x="861637" y="4331109"/>
              <a:ext cx="2408903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769190CD-3ABE-855B-B57E-D6AB31628A43}"/>
                </a:ext>
              </a:extLst>
            </p:cNvPr>
            <p:cNvCxnSpPr>
              <a:cxnSpLocks/>
            </p:cNvCxnSpPr>
            <p:nvPr/>
          </p:nvCxnSpPr>
          <p:spPr>
            <a:xfrm>
              <a:off x="5458214" y="5017493"/>
              <a:ext cx="2379407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C436CC5D-C551-319A-9A3B-252FE3918ECF}"/>
                </a:ext>
              </a:extLst>
            </p:cNvPr>
            <p:cNvSpPr txBox="1"/>
            <p:nvPr/>
          </p:nvSpPr>
          <p:spPr>
            <a:xfrm>
              <a:off x="5855649" y="4644180"/>
              <a:ext cx="1584536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ysClr val="windowText" lastClr="000000"/>
                  </a:solidFill>
                </a:rPr>
                <a:t>Bottom phase</a:t>
              </a:r>
              <a:endParaRPr lang="en-IE" dirty="0">
                <a:solidFill>
                  <a:sysClr val="windowText" lastClr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98284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AB0094-DAC1-057E-AA40-D128FC005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" name="Group 97">
            <a:extLst>
              <a:ext uri="{FF2B5EF4-FFF2-40B4-BE49-F238E27FC236}">
                <a16:creationId xmlns:a16="http://schemas.microsoft.com/office/drawing/2014/main" id="{6637206E-E5F0-297C-509E-29CD14949BC2}"/>
              </a:ext>
            </a:extLst>
          </p:cNvPr>
          <p:cNvGrpSpPr/>
          <p:nvPr/>
        </p:nvGrpSpPr>
        <p:grpSpPr>
          <a:xfrm>
            <a:off x="285135" y="186813"/>
            <a:ext cx="13185059" cy="5992761"/>
            <a:chOff x="285135" y="186813"/>
            <a:chExt cx="13185059" cy="5992761"/>
          </a:xfrm>
        </p:grpSpPr>
        <p:sp>
          <p:nvSpPr>
            <p:cNvPr id="13" name="Flowchart: Process 12">
              <a:extLst>
                <a:ext uri="{FF2B5EF4-FFF2-40B4-BE49-F238E27FC236}">
                  <a16:creationId xmlns:a16="http://schemas.microsoft.com/office/drawing/2014/main" id="{238131E5-3629-4F1C-DA8A-C284067B8D29}"/>
                </a:ext>
              </a:extLst>
            </p:cNvPr>
            <p:cNvSpPr/>
            <p:nvPr/>
          </p:nvSpPr>
          <p:spPr>
            <a:xfrm>
              <a:off x="688258" y="678426"/>
              <a:ext cx="2163097" cy="1120878"/>
            </a:xfrm>
            <a:prstGeom prst="flowChartProcess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Water extraction of pyrolysis </a:t>
              </a:r>
              <a:endParaRPr lang="en-IE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5" name="Flowchart: Process 14">
              <a:extLst>
                <a:ext uri="{FF2B5EF4-FFF2-40B4-BE49-F238E27FC236}">
                  <a16:creationId xmlns:a16="http://schemas.microsoft.com/office/drawing/2014/main" id="{55AA18B6-45B2-7FF3-214C-C44C59682777}"/>
                </a:ext>
              </a:extLst>
            </p:cNvPr>
            <p:cNvSpPr/>
            <p:nvPr/>
          </p:nvSpPr>
          <p:spPr>
            <a:xfrm>
              <a:off x="688258" y="2480187"/>
              <a:ext cx="2163097" cy="1120878"/>
            </a:xfrm>
            <a:prstGeom prst="flowChartProcess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Azeotropic/direct distillation of pyrolysis oil</a:t>
              </a:r>
              <a:endParaRPr lang="en-IE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9" name="Flowchart: Process 18">
              <a:extLst>
                <a:ext uri="{FF2B5EF4-FFF2-40B4-BE49-F238E27FC236}">
                  <a16:creationId xmlns:a16="http://schemas.microsoft.com/office/drawing/2014/main" id="{5C844716-F66B-3A06-C296-B92F1D89534E}"/>
                </a:ext>
              </a:extLst>
            </p:cNvPr>
            <p:cNvSpPr/>
            <p:nvPr/>
          </p:nvSpPr>
          <p:spPr>
            <a:xfrm>
              <a:off x="688258" y="4281948"/>
              <a:ext cx="2163097" cy="1120878"/>
            </a:xfrm>
            <a:prstGeom prst="flowChartProcess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Phenyl ester formation via direct esterification</a:t>
              </a:r>
              <a:endParaRPr lang="en-IE" dirty="0">
                <a:solidFill>
                  <a:sysClr val="windowText" lastClr="000000"/>
                </a:solidFill>
              </a:endParaRPr>
            </a:p>
          </p:txBody>
        </p:sp>
        <p:cxnSp>
          <p:nvCxnSpPr>
            <p:cNvPr id="51" name="Connector: Elbow 50">
              <a:extLst>
                <a:ext uri="{FF2B5EF4-FFF2-40B4-BE49-F238E27FC236}">
                  <a16:creationId xmlns:a16="http://schemas.microsoft.com/office/drawing/2014/main" id="{6FD29ACE-45CD-328F-37DA-D1629FBC8D46}"/>
                </a:ext>
              </a:extLst>
            </p:cNvPr>
            <p:cNvCxnSpPr>
              <a:cxnSpLocks/>
              <a:stCxn id="13" idx="3"/>
              <a:endCxn id="59" idx="1"/>
            </p:cNvCxnSpPr>
            <p:nvPr/>
          </p:nvCxnSpPr>
          <p:spPr>
            <a:xfrm>
              <a:off x="2851355" y="1238865"/>
              <a:ext cx="1356850" cy="860323"/>
            </a:xfrm>
            <a:prstGeom prst="bentConnector3">
              <a:avLst>
                <a:gd name="adj1" fmla="val 50000"/>
              </a:avLst>
            </a:prstGeom>
            <a:ln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2" name="Connector: Elbow 51">
              <a:extLst>
                <a:ext uri="{FF2B5EF4-FFF2-40B4-BE49-F238E27FC236}">
                  <a16:creationId xmlns:a16="http://schemas.microsoft.com/office/drawing/2014/main" id="{4DE6BE00-95FB-39CA-4EEF-6570BA17DACA}"/>
                </a:ext>
              </a:extLst>
            </p:cNvPr>
            <p:cNvCxnSpPr>
              <a:cxnSpLocks/>
              <a:endCxn id="61" idx="1"/>
            </p:cNvCxnSpPr>
            <p:nvPr/>
          </p:nvCxnSpPr>
          <p:spPr>
            <a:xfrm flipV="1">
              <a:off x="2851355" y="3972233"/>
              <a:ext cx="1356849" cy="870154"/>
            </a:xfrm>
            <a:prstGeom prst="bentConnector3">
              <a:avLst>
                <a:gd name="adj1" fmla="val 50000"/>
              </a:avLst>
            </a:prstGeom>
            <a:ln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9" name="Flowchart: Process 58">
              <a:extLst>
                <a:ext uri="{FF2B5EF4-FFF2-40B4-BE49-F238E27FC236}">
                  <a16:creationId xmlns:a16="http://schemas.microsoft.com/office/drawing/2014/main" id="{EA85F2C0-D11B-CD47-8652-4CEA43237688}"/>
                </a:ext>
              </a:extLst>
            </p:cNvPr>
            <p:cNvSpPr/>
            <p:nvPr/>
          </p:nvSpPr>
          <p:spPr>
            <a:xfrm>
              <a:off x="4208205" y="1538749"/>
              <a:ext cx="2163097" cy="1120878"/>
            </a:xfrm>
            <a:prstGeom prst="flowChartProcess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Water stripping of pyrolysis oil</a:t>
              </a:r>
              <a:endParaRPr lang="en-IE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1" name="Flowchart: Process 60">
              <a:extLst>
                <a:ext uri="{FF2B5EF4-FFF2-40B4-BE49-F238E27FC236}">
                  <a16:creationId xmlns:a16="http://schemas.microsoft.com/office/drawing/2014/main" id="{99FBB9C0-B6B6-46F3-0BD3-9CB1EE51CCFA}"/>
                </a:ext>
              </a:extLst>
            </p:cNvPr>
            <p:cNvSpPr/>
            <p:nvPr/>
          </p:nvSpPr>
          <p:spPr>
            <a:xfrm>
              <a:off x="4208204" y="3411794"/>
              <a:ext cx="2163097" cy="1120878"/>
            </a:xfrm>
            <a:prstGeom prst="flowChartProcess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Azeotropic and reactive distillation of pyrolysis oil</a:t>
              </a:r>
              <a:endParaRPr lang="en-IE" dirty="0">
                <a:solidFill>
                  <a:sysClr val="windowText" lastClr="000000"/>
                </a:solidFill>
              </a:endParaRPr>
            </a:p>
          </p:txBody>
        </p:sp>
        <p:cxnSp>
          <p:nvCxnSpPr>
            <p:cNvPr id="72" name="Connector: Elbow 71">
              <a:extLst>
                <a:ext uri="{FF2B5EF4-FFF2-40B4-BE49-F238E27FC236}">
                  <a16:creationId xmlns:a16="http://schemas.microsoft.com/office/drawing/2014/main" id="{7B6AEA8A-275B-BE96-F980-8F0B8F44A18B}"/>
                </a:ext>
              </a:extLst>
            </p:cNvPr>
            <p:cNvCxnSpPr>
              <a:cxnSpLocks/>
              <a:stCxn id="15" idx="3"/>
              <a:endCxn id="59" idx="1"/>
            </p:cNvCxnSpPr>
            <p:nvPr/>
          </p:nvCxnSpPr>
          <p:spPr>
            <a:xfrm flipV="1">
              <a:off x="2851355" y="2099188"/>
              <a:ext cx="1356850" cy="941438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5" name="Connector: Elbow 74">
              <a:extLst>
                <a:ext uri="{FF2B5EF4-FFF2-40B4-BE49-F238E27FC236}">
                  <a16:creationId xmlns:a16="http://schemas.microsoft.com/office/drawing/2014/main" id="{8B574AEF-A3C8-DCEA-DAB7-F65F8AA87EDD}"/>
                </a:ext>
              </a:extLst>
            </p:cNvPr>
            <p:cNvCxnSpPr>
              <a:cxnSpLocks/>
              <a:stCxn id="15" idx="3"/>
              <a:endCxn id="61" idx="1"/>
            </p:cNvCxnSpPr>
            <p:nvPr/>
          </p:nvCxnSpPr>
          <p:spPr>
            <a:xfrm>
              <a:off x="2851355" y="3040626"/>
              <a:ext cx="1356849" cy="931607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8" name="Connector: Elbow 77">
              <a:extLst>
                <a:ext uri="{FF2B5EF4-FFF2-40B4-BE49-F238E27FC236}">
                  <a16:creationId xmlns:a16="http://schemas.microsoft.com/office/drawing/2014/main" id="{E20654A2-CDAF-CE00-795B-039118A89406}"/>
                </a:ext>
              </a:extLst>
            </p:cNvPr>
            <p:cNvCxnSpPr>
              <a:cxnSpLocks/>
              <a:stCxn id="59" idx="3"/>
              <a:endCxn id="80" idx="1"/>
            </p:cNvCxnSpPr>
            <p:nvPr/>
          </p:nvCxnSpPr>
          <p:spPr>
            <a:xfrm>
              <a:off x="6371302" y="2099188"/>
              <a:ext cx="1204449" cy="941438"/>
            </a:xfrm>
            <a:prstGeom prst="bentConnector3">
              <a:avLst>
                <a:gd name="adj1" fmla="val 50000"/>
              </a:avLst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80" name="Flowchart: Process 79">
              <a:extLst>
                <a:ext uri="{FF2B5EF4-FFF2-40B4-BE49-F238E27FC236}">
                  <a16:creationId xmlns:a16="http://schemas.microsoft.com/office/drawing/2014/main" id="{1E21BC40-8A16-DDC5-5A98-E6B05F323BDB}"/>
                </a:ext>
              </a:extLst>
            </p:cNvPr>
            <p:cNvSpPr/>
            <p:nvPr/>
          </p:nvSpPr>
          <p:spPr>
            <a:xfrm>
              <a:off x="7575751" y="2480187"/>
              <a:ext cx="2561307" cy="1120878"/>
            </a:xfrm>
            <a:prstGeom prst="flowChartProcess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Single pot water stripping and azeotropic reactive distillation</a:t>
              </a:r>
              <a:endParaRPr lang="en-IE" dirty="0">
                <a:solidFill>
                  <a:sysClr val="windowText" lastClr="000000"/>
                </a:solidFill>
              </a:endParaRPr>
            </a:p>
          </p:txBody>
        </p:sp>
        <p:cxnSp>
          <p:nvCxnSpPr>
            <p:cNvPr id="83" name="Connector: Elbow 82">
              <a:extLst>
                <a:ext uri="{FF2B5EF4-FFF2-40B4-BE49-F238E27FC236}">
                  <a16:creationId xmlns:a16="http://schemas.microsoft.com/office/drawing/2014/main" id="{A90F24B1-37CF-1D05-5365-BA1F9E2C2A5D}"/>
                </a:ext>
              </a:extLst>
            </p:cNvPr>
            <p:cNvCxnSpPr>
              <a:cxnSpLocks/>
              <a:stCxn id="61" idx="3"/>
              <a:endCxn id="80" idx="1"/>
            </p:cNvCxnSpPr>
            <p:nvPr/>
          </p:nvCxnSpPr>
          <p:spPr>
            <a:xfrm flipV="1">
              <a:off x="6371301" y="3040626"/>
              <a:ext cx="1204450" cy="931607"/>
            </a:xfrm>
            <a:prstGeom prst="bentConnector3">
              <a:avLst>
                <a:gd name="adj1" fmla="val 50000"/>
              </a:avLst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89" name="Straight Arrow Connector 88">
              <a:extLst>
                <a:ext uri="{FF2B5EF4-FFF2-40B4-BE49-F238E27FC236}">
                  <a16:creationId xmlns:a16="http://schemas.microsoft.com/office/drawing/2014/main" id="{FF2065F6-46A4-8514-1A95-D636B2DE3333}"/>
                </a:ext>
              </a:extLst>
            </p:cNvPr>
            <p:cNvCxnSpPr>
              <a:stCxn id="80" idx="3"/>
            </p:cNvCxnSpPr>
            <p:nvPr/>
          </p:nvCxnSpPr>
          <p:spPr>
            <a:xfrm>
              <a:off x="10137058" y="3040626"/>
              <a:ext cx="678426" cy="0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91" name="Flowchart: Process 90">
              <a:extLst>
                <a:ext uri="{FF2B5EF4-FFF2-40B4-BE49-F238E27FC236}">
                  <a16:creationId xmlns:a16="http://schemas.microsoft.com/office/drawing/2014/main" id="{057100E3-A379-6482-1B50-17122B0883CE}"/>
                </a:ext>
              </a:extLst>
            </p:cNvPr>
            <p:cNvSpPr/>
            <p:nvPr/>
          </p:nvSpPr>
          <p:spPr>
            <a:xfrm>
              <a:off x="10815484" y="2480187"/>
              <a:ext cx="2163097" cy="1120878"/>
            </a:xfrm>
            <a:prstGeom prst="flowChartProcess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Marine Fuel Oil</a:t>
              </a:r>
              <a:endParaRPr lang="en-IE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92" name="Flowchart: Process 91">
              <a:extLst>
                <a:ext uri="{FF2B5EF4-FFF2-40B4-BE49-F238E27FC236}">
                  <a16:creationId xmlns:a16="http://schemas.microsoft.com/office/drawing/2014/main" id="{A073C18D-502D-ACC3-DE20-BBCAE118BA58}"/>
                </a:ext>
              </a:extLst>
            </p:cNvPr>
            <p:cNvSpPr/>
            <p:nvPr/>
          </p:nvSpPr>
          <p:spPr>
            <a:xfrm>
              <a:off x="285135" y="186813"/>
              <a:ext cx="2969342" cy="5992761"/>
            </a:xfrm>
            <a:prstGeom prst="flowChartProcess">
              <a:avLst/>
            </a:prstGeom>
            <a:noFill/>
            <a:ln>
              <a:solidFill>
                <a:schemeClr val="tx2">
                  <a:lumMod val="50000"/>
                  <a:lumOff val="50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D8672A00-8300-1180-30A9-84BE135DC7F4}"/>
                </a:ext>
              </a:extLst>
            </p:cNvPr>
            <p:cNvSpPr txBox="1"/>
            <p:nvPr/>
          </p:nvSpPr>
          <p:spPr>
            <a:xfrm>
              <a:off x="285135" y="228290"/>
              <a:ext cx="1366015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n w="3175">
                    <a:solidFill>
                      <a:schemeClr val="tx2">
                        <a:lumMod val="50000"/>
                        <a:lumOff val="50000"/>
                      </a:schemeClr>
                    </a:solidFill>
                  </a:ln>
                </a:rPr>
                <a:t>Existing Literature</a:t>
              </a:r>
              <a:endParaRPr lang="en-IE" sz="1200" dirty="0">
                <a:ln w="3175">
                  <a:solidFill>
                    <a:schemeClr val="tx2">
                      <a:lumMod val="50000"/>
                      <a:lumOff val="50000"/>
                    </a:schemeClr>
                  </a:solidFill>
                </a:ln>
              </a:endParaRPr>
            </a:p>
          </p:txBody>
        </p:sp>
        <p:sp>
          <p:nvSpPr>
            <p:cNvPr id="94" name="Flowchart: Process 93">
              <a:extLst>
                <a:ext uri="{FF2B5EF4-FFF2-40B4-BE49-F238E27FC236}">
                  <a16:creationId xmlns:a16="http://schemas.microsoft.com/office/drawing/2014/main" id="{83A89CC8-7FBF-4721-78FD-8A50629A9F78}"/>
                </a:ext>
              </a:extLst>
            </p:cNvPr>
            <p:cNvSpPr/>
            <p:nvPr/>
          </p:nvSpPr>
          <p:spPr>
            <a:xfrm>
              <a:off x="3932902" y="963561"/>
              <a:ext cx="6420465" cy="4916117"/>
            </a:xfrm>
            <a:prstGeom prst="flowChartProcess">
              <a:avLst/>
            </a:prstGeom>
            <a:noFill/>
            <a:ln w="28575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5E0DED86-E0C9-328B-7911-F7900CCDFDCD}"/>
                </a:ext>
              </a:extLst>
            </p:cNvPr>
            <p:cNvSpPr txBox="1"/>
            <p:nvPr/>
          </p:nvSpPr>
          <p:spPr>
            <a:xfrm>
              <a:off x="3935793" y="1012735"/>
              <a:ext cx="135396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solidFill>
                    <a:srgbClr val="FF0000"/>
                  </a:solidFill>
                </a:rPr>
                <a:t>Present Research</a:t>
              </a:r>
              <a:endParaRPr lang="en-IE" sz="1200" dirty="0">
                <a:solidFill>
                  <a:srgbClr val="FF0000"/>
                </a:solidFill>
              </a:endParaRPr>
            </a:p>
          </p:txBody>
        </p:sp>
        <p:sp>
          <p:nvSpPr>
            <p:cNvPr id="96" name="Flowchart: Process 95">
              <a:extLst>
                <a:ext uri="{FF2B5EF4-FFF2-40B4-BE49-F238E27FC236}">
                  <a16:creationId xmlns:a16="http://schemas.microsoft.com/office/drawing/2014/main" id="{88AB167D-CEA2-3567-C224-BA81F747F7EB}"/>
                </a:ext>
              </a:extLst>
            </p:cNvPr>
            <p:cNvSpPr/>
            <p:nvPr/>
          </p:nvSpPr>
          <p:spPr>
            <a:xfrm>
              <a:off x="10550013" y="1986116"/>
              <a:ext cx="2920181" cy="2192594"/>
            </a:xfrm>
            <a:prstGeom prst="flowChartProcess">
              <a:avLst/>
            </a:prstGeom>
            <a:noFill/>
            <a:ln>
              <a:solidFill>
                <a:srgbClr val="00B05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50559191-6100-8673-004D-292EF96B654C}"/>
                </a:ext>
              </a:extLst>
            </p:cNvPr>
            <p:cNvSpPr txBox="1"/>
            <p:nvPr/>
          </p:nvSpPr>
          <p:spPr>
            <a:xfrm>
              <a:off x="10550013" y="2015302"/>
              <a:ext cx="70846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solidFill>
                    <a:srgbClr val="00B050"/>
                  </a:solidFill>
                </a:rPr>
                <a:t>Product</a:t>
              </a:r>
              <a:endParaRPr lang="en-IE" sz="1200" dirty="0">
                <a:solidFill>
                  <a:srgbClr val="00B05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610707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F010FE-5296-F82D-D541-2494FBD95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>
            <a:extLst>
              <a:ext uri="{FF2B5EF4-FFF2-40B4-BE49-F238E27FC236}">
                <a16:creationId xmlns:a16="http://schemas.microsoft.com/office/drawing/2014/main" id="{73916E83-F89D-F15F-1DFB-1A453182C7AD}"/>
              </a:ext>
            </a:extLst>
          </p:cNvPr>
          <p:cNvGrpSpPr/>
          <p:nvPr/>
        </p:nvGrpSpPr>
        <p:grpSpPr>
          <a:xfrm>
            <a:off x="599768" y="1048660"/>
            <a:ext cx="14178938" cy="4550812"/>
            <a:chOff x="599768" y="1048660"/>
            <a:chExt cx="14178938" cy="4550812"/>
          </a:xfrm>
        </p:grpSpPr>
        <p:sp>
          <p:nvSpPr>
            <p:cNvPr id="4" name="Flowchart: Process 3">
              <a:extLst>
                <a:ext uri="{FF2B5EF4-FFF2-40B4-BE49-F238E27FC236}">
                  <a16:creationId xmlns:a16="http://schemas.microsoft.com/office/drawing/2014/main" id="{EA68727D-27C6-4771-A2D0-186EF65016C1}"/>
                </a:ext>
              </a:extLst>
            </p:cNvPr>
            <p:cNvSpPr/>
            <p:nvPr/>
          </p:nvSpPr>
          <p:spPr>
            <a:xfrm>
              <a:off x="4026306" y="2834149"/>
              <a:ext cx="3397049" cy="1442884"/>
            </a:xfrm>
            <a:prstGeom prst="flowChartProcess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Single pot water stripping and azeotropic reactive distillation</a:t>
              </a:r>
              <a:endParaRPr lang="en-IE" dirty="0">
                <a:solidFill>
                  <a:sysClr val="windowText" lastClr="000000"/>
                </a:solidFill>
              </a:endParaRP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AF5413B2-0CD3-2E26-FA81-A3F4F799CE8E}"/>
                </a:ext>
              </a:extLst>
            </p:cNvPr>
            <p:cNvCxnSpPr>
              <a:cxnSpLocks/>
              <a:endCxn id="4" idx="1"/>
            </p:cNvCxnSpPr>
            <p:nvPr/>
          </p:nvCxnSpPr>
          <p:spPr>
            <a:xfrm>
              <a:off x="599768" y="3555591"/>
              <a:ext cx="342653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14BFF75E-ECC2-9403-D550-2C3C81457C9A}"/>
                </a:ext>
              </a:extLst>
            </p:cNvPr>
            <p:cNvCxnSpPr>
              <a:cxnSpLocks/>
              <a:endCxn id="29" idx="1"/>
            </p:cNvCxnSpPr>
            <p:nvPr/>
          </p:nvCxnSpPr>
          <p:spPr>
            <a:xfrm>
              <a:off x="7423355" y="3555591"/>
              <a:ext cx="1848457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ctor: Elbow 9">
              <a:extLst>
                <a:ext uri="{FF2B5EF4-FFF2-40B4-BE49-F238E27FC236}">
                  <a16:creationId xmlns:a16="http://schemas.microsoft.com/office/drawing/2014/main" id="{8D789F30-F54D-4A12-C238-D05595AEB440}"/>
                </a:ext>
              </a:extLst>
            </p:cNvPr>
            <p:cNvCxnSpPr>
              <a:cxnSpLocks/>
              <a:stCxn id="4" idx="0"/>
            </p:cNvCxnSpPr>
            <p:nvPr/>
          </p:nvCxnSpPr>
          <p:spPr>
            <a:xfrm rot="5400000" flipH="1" flipV="1">
              <a:off x="6811370" y="403196"/>
              <a:ext cx="1344414" cy="3517492"/>
            </a:xfrm>
            <a:prstGeom prst="bentConnector2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Arc 15">
              <a:extLst>
                <a:ext uri="{FF2B5EF4-FFF2-40B4-BE49-F238E27FC236}">
                  <a16:creationId xmlns:a16="http://schemas.microsoft.com/office/drawing/2014/main" id="{05827CAD-6795-B6BE-346D-C78CA05ADE90}"/>
                </a:ext>
              </a:extLst>
            </p:cNvPr>
            <p:cNvSpPr/>
            <p:nvPr/>
          </p:nvSpPr>
          <p:spPr>
            <a:xfrm>
              <a:off x="4967746" y="4277033"/>
              <a:ext cx="1514167" cy="1322439"/>
            </a:xfrm>
            <a:prstGeom prst="arc">
              <a:avLst>
                <a:gd name="adj1" fmla="val 6903140"/>
                <a:gd name="adj2" fmla="val 3790885"/>
              </a:avLst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C587DA7-DE56-5BFF-D9A4-6A19B7CE348A}"/>
                </a:ext>
              </a:extLst>
            </p:cNvPr>
            <p:cNvSpPr txBox="1"/>
            <p:nvPr/>
          </p:nvSpPr>
          <p:spPr>
            <a:xfrm>
              <a:off x="1047139" y="3186259"/>
              <a:ext cx="27223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Raw Pyrolysis Oil  + Water</a:t>
              </a:r>
              <a:endParaRPr lang="en-IE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C1AD52F-1AA6-2925-AAF3-83FFD3F647D5}"/>
                </a:ext>
              </a:extLst>
            </p:cNvPr>
            <p:cNvSpPr txBox="1"/>
            <p:nvPr/>
          </p:nvSpPr>
          <p:spPr>
            <a:xfrm>
              <a:off x="6728575" y="1048660"/>
              <a:ext cx="15622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Wood Vinegar</a:t>
              </a:r>
              <a:endParaRPr lang="en-IE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221039E8-A1C5-A6F9-A1E3-4EA156422E47}"/>
                </a:ext>
              </a:extLst>
            </p:cNvPr>
            <p:cNvSpPr txBox="1"/>
            <p:nvPr/>
          </p:nvSpPr>
          <p:spPr>
            <a:xfrm>
              <a:off x="7452844" y="3186259"/>
              <a:ext cx="16161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Marine Biofuel</a:t>
              </a:r>
              <a:endParaRPr lang="en-IE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E5CE2324-013D-FA47-5DA8-7FD9B8CBFEC2}"/>
                </a:ext>
              </a:extLst>
            </p:cNvPr>
            <p:cNvSpPr txBox="1"/>
            <p:nvPr/>
          </p:nvSpPr>
          <p:spPr>
            <a:xfrm>
              <a:off x="3494907" y="4813809"/>
              <a:ext cx="14728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Cyclohexane</a:t>
              </a:r>
              <a:endParaRPr lang="en-IE" dirty="0"/>
            </a:p>
          </p:txBody>
        </p:sp>
        <p:sp>
          <p:nvSpPr>
            <p:cNvPr id="29" name="Flowchart: Process 28">
              <a:extLst>
                <a:ext uri="{FF2B5EF4-FFF2-40B4-BE49-F238E27FC236}">
                  <a16:creationId xmlns:a16="http://schemas.microsoft.com/office/drawing/2014/main" id="{E85191FA-E75F-2FDE-1982-4BEB2DE504F4}"/>
                </a:ext>
              </a:extLst>
            </p:cNvPr>
            <p:cNvSpPr/>
            <p:nvPr/>
          </p:nvSpPr>
          <p:spPr>
            <a:xfrm>
              <a:off x="9271812" y="2834149"/>
              <a:ext cx="1956627" cy="1442884"/>
            </a:xfrm>
            <a:prstGeom prst="flowChartProcess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Blending</a:t>
              </a:r>
              <a:endParaRPr lang="en-IE" dirty="0">
                <a:solidFill>
                  <a:sysClr val="windowText" lastClr="000000"/>
                </a:solidFill>
              </a:endParaRPr>
            </a:p>
          </p:txBody>
        </p:sp>
        <p:cxnSp>
          <p:nvCxnSpPr>
            <p:cNvPr id="31" name="Connector: Elbow 30">
              <a:extLst>
                <a:ext uri="{FF2B5EF4-FFF2-40B4-BE49-F238E27FC236}">
                  <a16:creationId xmlns:a16="http://schemas.microsoft.com/office/drawing/2014/main" id="{3B98B60C-1AEC-6736-0584-FBC7A03142BB}"/>
                </a:ext>
              </a:extLst>
            </p:cNvPr>
            <p:cNvCxnSpPr>
              <a:endCxn id="29" idx="2"/>
            </p:cNvCxnSpPr>
            <p:nvPr/>
          </p:nvCxnSpPr>
          <p:spPr>
            <a:xfrm flipV="1">
              <a:off x="8290798" y="4277033"/>
              <a:ext cx="1959328" cy="796412"/>
            </a:xfrm>
            <a:prstGeom prst="bentConnector2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00785CF7-707B-5F1B-ABE0-CBE00AEDB935}"/>
                </a:ext>
              </a:extLst>
            </p:cNvPr>
            <p:cNvSpPr txBox="1"/>
            <p:nvPr/>
          </p:nvSpPr>
          <p:spPr>
            <a:xfrm>
              <a:off x="8432508" y="4704113"/>
              <a:ext cx="16759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Marine Fuel Oil</a:t>
              </a:r>
              <a:endParaRPr lang="en-IE" dirty="0"/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5DB297BC-B2B7-7B21-D36F-173F4BD42141}"/>
                </a:ext>
              </a:extLst>
            </p:cNvPr>
            <p:cNvCxnSpPr>
              <a:cxnSpLocks/>
            </p:cNvCxnSpPr>
            <p:nvPr/>
          </p:nvCxnSpPr>
          <p:spPr>
            <a:xfrm>
              <a:off x="11228439" y="3603213"/>
              <a:ext cx="3550267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9BB841B3-6521-2716-C30E-D4E3A4C21FE5}"/>
                </a:ext>
              </a:extLst>
            </p:cNvPr>
            <p:cNvSpPr txBox="1"/>
            <p:nvPr/>
          </p:nvSpPr>
          <p:spPr>
            <a:xfrm>
              <a:off x="11228439" y="3233881"/>
              <a:ext cx="35502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Blended Fuel (Fuel EU compliant)</a:t>
              </a:r>
              <a:endParaRPr lang="en-IE" dirty="0"/>
            </a:p>
          </p:txBody>
        </p:sp>
      </p:grpSp>
    </p:spTree>
    <p:extLst>
      <p:ext uri="{BB962C8B-B14F-4D97-AF65-F5344CB8AC3E}">
        <p14:creationId xmlns:p14="http://schemas.microsoft.com/office/powerpoint/2010/main" val="37880342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1774</TotalTime>
  <Words>118</Words>
  <Application>Microsoft Office PowerPoint</Application>
  <PresentationFormat>Widescreen</PresentationFormat>
  <Paragraphs>33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Kong Yue Xuan</dc:creator>
  <cp:lastModifiedBy>Kong Yue Xuan</cp:lastModifiedBy>
  <cp:revision>2</cp:revision>
  <dcterms:created xsi:type="dcterms:W3CDTF">2026-08-19T15:54:57Z</dcterms:created>
  <dcterms:modified xsi:type="dcterms:W3CDTF">2026-08-22T16:19:54Z</dcterms:modified>
</cp:coreProperties>
</file>